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4" r:id="rId4"/>
  </p:sldMasterIdLst>
  <p:notesMasterIdLst>
    <p:notesMasterId r:id="rId46"/>
  </p:notesMasterIdLst>
  <p:handoutMasterIdLst>
    <p:handoutMasterId r:id="rId47"/>
  </p:handoutMasterIdLst>
  <p:sldIdLst>
    <p:sldId id="271" r:id="rId5"/>
    <p:sldId id="300" r:id="rId6"/>
    <p:sldId id="278" r:id="rId7"/>
    <p:sldId id="450" r:id="rId8"/>
    <p:sldId id="408" r:id="rId9"/>
    <p:sldId id="451" r:id="rId10"/>
    <p:sldId id="279" r:id="rId11"/>
    <p:sldId id="409" r:id="rId12"/>
    <p:sldId id="452" r:id="rId13"/>
    <p:sldId id="479" r:id="rId14"/>
    <p:sldId id="453" r:id="rId15"/>
    <p:sldId id="480" r:id="rId16"/>
    <p:sldId id="481" r:id="rId17"/>
    <p:sldId id="454" r:id="rId18"/>
    <p:sldId id="455" r:id="rId19"/>
    <p:sldId id="482" r:id="rId20"/>
    <p:sldId id="483" r:id="rId21"/>
    <p:sldId id="456" r:id="rId22"/>
    <p:sldId id="410" r:id="rId23"/>
    <p:sldId id="457" r:id="rId24"/>
    <p:sldId id="458" r:id="rId25"/>
    <p:sldId id="459" r:id="rId26"/>
    <p:sldId id="460" r:id="rId27"/>
    <p:sldId id="461" r:id="rId28"/>
    <p:sldId id="308" r:id="rId29"/>
    <p:sldId id="280" r:id="rId30"/>
    <p:sldId id="462" r:id="rId31"/>
    <p:sldId id="463" r:id="rId32"/>
    <p:sldId id="464" r:id="rId33"/>
    <p:sldId id="484" r:id="rId34"/>
    <p:sldId id="267" r:id="rId35"/>
    <p:sldId id="268" r:id="rId36"/>
    <p:sldId id="269" r:id="rId37"/>
    <p:sldId id="273" r:id="rId38"/>
    <p:sldId id="274" r:id="rId39"/>
    <p:sldId id="275" r:id="rId40"/>
    <p:sldId id="276" r:id="rId41"/>
    <p:sldId id="277" r:id="rId42"/>
    <p:sldId id="445" r:id="rId43"/>
    <p:sldId id="289" r:id="rId44"/>
    <p:sldId id="305" r:id="rId45"/>
  </p:sldIdLst>
  <p:sldSz cx="24382413" cy="13716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6"/>
    <p:restoredTop sz="94694"/>
  </p:normalViewPr>
  <p:slideViewPr>
    <p:cSldViewPr snapToGrid="0" snapToObjects="1" showGuides="1">
      <p:cViewPr varScale="1">
        <p:scale>
          <a:sx n="49" d="100"/>
          <a:sy n="49" d="100"/>
        </p:scale>
        <p:origin x="1086" y="276"/>
      </p:cViewPr>
      <p:guideLst>
        <p:guide orient="horz" pos="4320"/>
        <p:guide pos="7680"/>
      </p:guideLst>
    </p:cSldViewPr>
  </p:slideViewPr>
  <p:notesTextViewPr>
    <p:cViewPr>
      <p:scale>
        <a:sx n="1" d="1"/>
        <a:sy n="1" d="1"/>
      </p:scale>
      <p:origin x="0" y="0"/>
    </p:cViewPr>
  </p:notesTextViewPr>
  <p:notesViewPr>
    <p:cSldViewPr snapToGrid="0" snapToObjects="1" showGuides="1">
      <p:cViewPr varScale="1">
        <p:scale>
          <a:sx n="97" d="100"/>
          <a:sy n="97" d="100"/>
        </p:scale>
        <p:origin x="3120"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B3F030-25FA-A543-BFBF-761F02F6E6F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DD2FF95-1FB2-5A4B-9A6E-D20FD3F8895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0D85D7A-CA92-5443-B821-58789E6DAB76}" type="datetimeFigureOut">
              <a:rPr lang="en-US" smtClean="0"/>
              <a:t>10/22/2025</a:t>
            </a:fld>
            <a:endParaRPr lang="en-US"/>
          </a:p>
        </p:txBody>
      </p:sp>
      <p:sp>
        <p:nvSpPr>
          <p:cNvPr id="4" name="Footer Placeholder 3">
            <a:extLst>
              <a:ext uri="{FF2B5EF4-FFF2-40B4-BE49-F238E27FC236}">
                <a16:creationId xmlns:a16="http://schemas.microsoft.com/office/drawing/2014/main" id="{E2E767D0-AB74-6C43-A583-F67E29C6873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C3F816A-9129-4E41-8433-93B18C20AF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8C43503-5B3B-BC4A-B035-E280D65815FD}" type="slidenum">
              <a:rPr lang="en-US" smtClean="0"/>
              <a:t>‹#›</a:t>
            </a:fld>
            <a:endParaRPr lang="en-US"/>
          </a:p>
        </p:txBody>
      </p:sp>
    </p:spTree>
    <p:extLst>
      <p:ext uri="{BB962C8B-B14F-4D97-AF65-F5344CB8AC3E}">
        <p14:creationId xmlns:p14="http://schemas.microsoft.com/office/powerpoint/2010/main" val="23295409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E2952A-E45C-4CFD-B19C-8BAB0D92CAF5}" type="datetimeFigureOut">
              <a:rPr lang="LID4096" smtClean="0"/>
              <a:t>10/22/2025</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F9B0BC-D092-4379-8AA3-497AF5858718}" type="slidenum">
              <a:rPr lang="LID4096" smtClean="0"/>
              <a:t>‹#›</a:t>
            </a:fld>
            <a:endParaRPr lang="LID4096"/>
          </a:p>
        </p:txBody>
      </p:sp>
    </p:spTree>
    <p:extLst>
      <p:ext uri="{BB962C8B-B14F-4D97-AF65-F5344CB8AC3E}">
        <p14:creationId xmlns:p14="http://schemas.microsoft.com/office/powerpoint/2010/main" val="865006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developer.mozilla.org/en-US/docs/Web/CSS/:nth-child"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developer.mozilla.org/en-US/docs/Web/CSS/:first-child" TargetMode="External"/><Relationship Id="rId2" Type="http://schemas.openxmlformats.org/officeDocument/2006/relationships/slide" Target="../slides/slide34.xml"/><Relationship Id="rId1" Type="http://schemas.openxmlformats.org/officeDocument/2006/relationships/notesMaster" Target="../notesMasters/notesMaster1.xml"/><Relationship Id="rId5" Type="http://schemas.openxmlformats.org/officeDocument/2006/relationships/hyperlink" Target="https://developer.mozilla.org/en-US/docs/Web/CSS/:only-child" TargetMode="External"/><Relationship Id="rId4" Type="http://schemas.openxmlformats.org/officeDocument/2006/relationships/hyperlink" Target="https://developer.mozilla.org/en-US/docs/Web/CSS/:last-child"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err="1">
              <a:cs typeface="Calibri"/>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22A85F0-2AA3-412D-B482-1445E370E3F6}"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384375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Slide Number Placeholder 3"/>
          <p:cNvSpPr>
            <a:spLocks noGrp="1"/>
          </p:cNvSpPr>
          <p:nvPr>
            <p:ph type="sldNum" sz="quarter" idx="5"/>
          </p:nvPr>
        </p:nvSpPr>
        <p:spPr/>
        <p:txBody>
          <a:bodyPr/>
          <a:lstStyle/>
          <a:p>
            <a:fld id="{4FF9B0BC-D092-4379-8AA3-497AF5858718}" type="slidenum">
              <a:rPr lang="LID4096" smtClean="0"/>
              <a:t>3</a:t>
            </a:fld>
            <a:endParaRPr lang="LID4096"/>
          </a:p>
        </p:txBody>
      </p:sp>
    </p:spTree>
    <p:extLst>
      <p:ext uri="{BB962C8B-B14F-4D97-AF65-F5344CB8AC3E}">
        <p14:creationId xmlns:p14="http://schemas.microsoft.com/office/powerpoint/2010/main" val="236860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FF8D6-67DF-939B-C297-81E3301494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FE5604-34C5-FEB8-E85E-817EE01E53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F600F8-016F-EF34-ECE5-B6F502BBDC22}"/>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0D63E40-3210-67EB-9767-877FA0B5CB57}"/>
              </a:ext>
            </a:extLst>
          </p:cNvPr>
          <p:cNvSpPr>
            <a:spLocks noGrp="1"/>
          </p:cNvSpPr>
          <p:nvPr>
            <p:ph type="sldNum" sz="quarter" idx="5"/>
          </p:nvPr>
        </p:nvSpPr>
        <p:spPr/>
        <p:txBody>
          <a:bodyPr/>
          <a:lstStyle/>
          <a:p>
            <a:fld id="{4FF9B0BC-D092-4379-8AA3-497AF5858718}" type="slidenum">
              <a:rPr lang="LID4096" smtClean="0"/>
              <a:t>4</a:t>
            </a:fld>
            <a:endParaRPr lang="LID4096"/>
          </a:p>
        </p:txBody>
      </p:sp>
    </p:spTree>
    <p:extLst>
      <p:ext uri="{BB962C8B-B14F-4D97-AF65-F5344CB8AC3E}">
        <p14:creationId xmlns:p14="http://schemas.microsoft.com/office/powerpoint/2010/main" val="1190045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F703A-AC4B-F322-EEDB-29CBA16CE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8F072-A27C-C8E7-F825-AAFB01991B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573FA-6E2C-D485-EEED-0BCB4E8262A9}"/>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D899327A-2447-7AF6-78C3-FE5B675FE98A}"/>
              </a:ext>
            </a:extLst>
          </p:cNvPr>
          <p:cNvSpPr>
            <a:spLocks noGrp="1"/>
          </p:cNvSpPr>
          <p:nvPr>
            <p:ph type="sldNum" sz="quarter" idx="5"/>
          </p:nvPr>
        </p:nvSpPr>
        <p:spPr/>
        <p:txBody>
          <a:bodyPr/>
          <a:lstStyle/>
          <a:p>
            <a:fld id="{4FF9B0BC-D092-4379-8AA3-497AF5858718}" type="slidenum">
              <a:rPr lang="LID4096" smtClean="0"/>
              <a:t>5</a:t>
            </a:fld>
            <a:endParaRPr lang="LID4096"/>
          </a:p>
        </p:txBody>
      </p:sp>
    </p:spTree>
    <p:extLst>
      <p:ext uri="{BB962C8B-B14F-4D97-AF65-F5344CB8AC3E}">
        <p14:creationId xmlns:p14="http://schemas.microsoft.com/office/powerpoint/2010/main" val="2839752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5F191-77A2-1F5D-A994-995EB7BC1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F36A0-5D8A-0E14-9E3F-72D959B89A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93BFD-5FC1-BEF7-1AB1-C544CED12E7B}"/>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229C3069-EA76-F542-F061-FA48F6A182EA}"/>
              </a:ext>
            </a:extLst>
          </p:cNvPr>
          <p:cNvSpPr>
            <a:spLocks noGrp="1"/>
          </p:cNvSpPr>
          <p:nvPr>
            <p:ph type="sldNum" sz="quarter" idx="5"/>
          </p:nvPr>
        </p:nvSpPr>
        <p:spPr/>
        <p:txBody>
          <a:bodyPr/>
          <a:lstStyle/>
          <a:p>
            <a:fld id="{4FF9B0BC-D092-4379-8AA3-497AF5858718}" type="slidenum">
              <a:rPr lang="LID4096" smtClean="0"/>
              <a:t>6</a:t>
            </a:fld>
            <a:endParaRPr lang="LID4096"/>
          </a:p>
        </p:txBody>
      </p:sp>
    </p:spTree>
    <p:extLst>
      <p:ext uri="{BB962C8B-B14F-4D97-AF65-F5344CB8AC3E}">
        <p14:creationId xmlns:p14="http://schemas.microsoft.com/office/powerpoint/2010/main" val="3731445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BE9E9-72B1-C991-1F29-39C5D01FCD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E22BFF-32E7-EB95-9D1A-559D8AD15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B9DC5-25A5-7656-43EB-D7982830A1E0}"/>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5591B26F-519B-4FF1-20DC-D9F618380B2E}"/>
              </a:ext>
            </a:extLst>
          </p:cNvPr>
          <p:cNvSpPr>
            <a:spLocks noGrp="1"/>
          </p:cNvSpPr>
          <p:nvPr>
            <p:ph type="sldNum" sz="quarter" idx="5"/>
          </p:nvPr>
        </p:nvSpPr>
        <p:spPr/>
        <p:txBody>
          <a:bodyPr/>
          <a:lstStyle/>
          <a:p>
            <a:fld id="{4FF9B0BC-D092-4379-8AA3-497AF5858718}" type="slidenum">
              <a:rPr lang="LID4096" smtClean="0"/>
              <a:t>7</a:t>
            </a:fld>
            <a:endParaRPr lang="LID4096"/>
          </a:p>
        </p:txBody>
      </p:sp>
    </p:spTree>
    <p:extLst>
      <p:ext uri="{BB962C8B-B14F-4D97-AF65-F5344CB8AC3E}">
        <p14:creationId xmlns:p14="http://schemas.microsoft.com/office/powerpoint/2010/main" val="837122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3F4C7-24D7-713F-985E-CE4B8151E9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E99B8-E73C-02EA-4A23-F8BE1D0C79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A454A3-C253-EA0C-D443-2132A579C91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80122CE-9431-D94A-F3BB-8EA70B57C327}"/>
              </a:ext>
            </a:extLst>
          </p:cNvPr>
          <p:cNvSpPr>
            <a:spLocks noGrp="1"/>
          </p:cNvSpPr>
          <p:nvPr>
            <p:ph type="sldNum" sz="quarter" idx="5"/>
          </p:nvPr>
        </p:nvSpPr>
        <p:spPr/>
        <p:txBody>
          <a:bodyPr/>
          <a:lstStyle/>
          <a:p>
            <a:fld id="{4FF9B0BC-D092-4379-8AA3-497AF5858718}" type="slidenum">
              <a:rPr lang="LID4096" smtClean="0"/>
              <a:t>8</a:t>
            </a:fld>
            <a:endParaRPr lang="LID4096"/>
          </a:p>
        </p:txBody>
      </p:sp>
    </p:spTree>
    <p:extLst>
      <p:ext uri="{BB962C8B-B14F-4D97-AF65-F5344CB8AC3E}">
        <p14:creationId xmlns:p14="http://schemas.microsoft.com/office/powerpoint/2010/main" val="2104596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96B3C-9A6F-B0ED-1018-26DC637F9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FCC29E-BD97-9373-2E84-AA5611CCE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77303-3897-F590-6075-BFAE569DA440}"/>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B160BB57-D180-554C-4FBE-B39F34C05A11}"/>
              </a:ext>
            </a:extLst>
          </p:cNvPr>
          <p:cNvSpPr>
            <a:spLocks noGrp="1"/>
          </p:cNvSpPr>
          <p:nvPr>
            <p:ph type="sldNum" sz="quarter" idx="5"/>
          </p:nvPr>
        </p:nvSpPr>
        <p:spPr/>
        <p:txBody>
          <a:bodyPr/>
          <a:lstStyle/>
          <a:p>
            <a:fld id="{4FF9B0BC-D092-4379-8AA3-497AF5858718}" type="slidenum">
              <a:rPr lang="LID4096" smtClean="0"/>
              <a:t>9</a:t>
            </a:fld>
            <a:endParaRPr lang="LID4096"/>
          </a:p>
        </p:txBody>
      </p:sp>
    </p:spTree>
    <p:extLst>
      <p:ext uri="{BB962C8B-B14F-4D97-AF65-F5344CB8AC3E}">
        <p14:creationId xmlns:p14="http://schemas.microsoft.com/office/powerpoint/2010/main" val="22230472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F648C-ABB4-6380-DDF1-9284F462D2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298AAD-2530-4A8A-9412-AB97BEFAC3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22ABF-5F72-6823-6475-AB7621154784}"/>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197D19C6-518A-138B-61E2-457B1797AA4E}"/>
              </a:ext>
            </a:extLst>
          </p:cNvPr>
          <p:cNvSpPr>
            <a:spLocks noGrp="1"/>
          </p:cNvSpPr>
          <p:nvPr>
            <p:ph type="sldNum" sz="quarter" idx="5"/>
          </p:nvPr>
        </p:nvSpPr>
        <p:spPr/>
        <p:txBody>
          <a:bodyPr/>
          <a:lstStyle/>
          <a:p>
            <a:fld id="{4FF9B0BC-D092-4379-8AA3-497AF5858718}" type="slidenum">
              <a:rPr lang="LID4096" smtClean="0"/>
              <a:t>10</a:t>
            </a:fld>
            <a:endParaRPr lang="LID4096"/>
          </a:p>
        </p:txBody>
      </p:sp>
    </p:spTree>
    <p:extLst>
      <p:ext uri="{BB962C8B-B14F-4D97-AF65-F5344CB8AC3E}">
        <p14:creationId xmlns:p14="http://schemas.microsoft.com/office/powerpoint/2010/main" val="42443810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1EA46-CA7C-7DCD-9336-0A14AA5E89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0D57C5-5804-8535-1E74-8223C8AAA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639CB3-579B-D154-680D-F0EFA1F29A18}"/>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56FA9187-F49B-6115-F9AB-B6010521396B}"/>
              </a:ext>
            </a:extLst>
          </p:cNvPr>
          <p:cNvSpPr>
            <a:spLocks noGrp="1"/>
          </p:cNvSpPr>
          <p:nvPr>
            <p:ph type="sldNum" sz="quarter" idx="5"/>
          </p:nvPr>
        </p:nvSpPr>
        <p:spPr/>
        <p:txBody>
          <a:bodyPr/>
          <a:lstStyle/>
          <a:p>
            <a:fld id="{4FF9B0BC-D092-4379-8AA3-497AF5858718}" type="slidenum">
              <a:rPr lang="LID4096" smtClean="0"/>
              <a:t>11</a:t>
            </a:fld>
            <a:endParaRPr lang="LID4096"/>
          </a:p>
        </p:txBody>
      </p:sp>
    </p:spTree>
    <p:extLst>
      <p:ext uri="{BB962C8B-B14F-4D97-AF65-F5344CB8AC3E}">
        <p14:creationId xmlns:p14="http://schemas.microsoft.com/office/powerpoint/2010/main" val="4181444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189A6-64AA-6062-BDB3-14D5C03A9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D16563-B75F-5320-B947-387BA8EF22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D8C097-3ED1-8890-D042-DF285E1D28CF}"/>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01FD6DF-AB6D-E3B9-1FCF-6F552F46DBED}"/>
              </a:ext>
            </a:extLst>
          </p:cNvPr>
          <p:cNvSpPr>
            <a:spLocks noGrp="1"/>
          </p:cNvSpPr>
          <p:nvPr>
            <p:ph type="sldNum" sz="quarter" idx="5"/>
          </p:nvPr>
        </p:nvSpPr>
        <p:spPr/>
        <p:txBody>
          <a:bodyPr/>
          <a:lstStyle/>
          <a:p>
            <a:fld id="{4FF9B0BC-D092-4379-8AA3-497AF5858718}" type="slidenum">
              <a:rPr lang="LID4096" smtClean="0"/>
              <a:t>12</a:t>
            </a:fld>
            <a:endParaRPr lang="LID4096"/>
          </a:p>
        </p:txBody>
      </p:sp>
    </p:spTree>
    <p:extLst>
      <p:ext uri="{BB962C8B-B14F-4D97-AF65-F5344CB8AC3E}">
        <p14:creationId xmlns:p14="http://schemas.microsoft.com/office/powerpoint/2010/main" val="1104885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A56CA-54BD-AC4D-CF60-A9D72241B9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67915-2997-E756-BD6A-1EE4C2902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AD8F33-377A-48C0-C584-769514269E65}"/>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9B73399-74B1-3D6F-FBA1-1DFEA93EE8D8}"/>
              </a:ext>
            </a:extLst>
          </p:cNvPr>
          <p:cNvSpPr>
            <a:spLocks noGrp="1"/>
          </p:cNvSpPr>
          <p:nvPr>
            <p:ph type="sldNum" sz="quarter" idx="5"/>
          </p:nvPr>
        </p:nvSpPr>
        <p:spPr/>
        <p:txBody>
          <a:bodyPr/>
          <a:lstStyle/>
          <a:p>
            <a:fld id="{4FF9B0BC-D092-4379-8AA3-497AF5858718}" type="slidenum">
              <a:rPr lang="LID4096" smtClean="0"/>
              <a:t>13</a:t>
            </a:fld>
            <a:endParaRPr lang="LID4096"/>
          </a:p>
        </p:txBody>
      </p:sp>
    </p:spTree>
    <p:extLst>
      <p:ext uri="{BB962C8B-B14F-4D97-AF65-F5344CB8AC3E}">
        <p14:creationId xmlns:p14="http://schemas.microsoft.com/office/powerpoint/2010/main" val="3756460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3E29C-F7C0-A8D6-28FD-FCFB882CF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46B0C-4A64-0786-3B8D-64C796EBEB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B3B44B-502F-4EDB-1B47-467C7DB3F7AC}"/>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3582A47-DD9E-AFE7-B583-24D594AB4A39}"/>
              </a:ext>
            </a:extLst>
          </p:cNvPr>
          <p:cNvSpPr>
            <a:spLocks noGrp="1"/>
          </p:cNvSpPr>
          <p:nvPr>
            <p:ph type="sldNum" sz="quarter" idx="5"/>
          </p:nvPr>
        </p:nvSpPr>
        <p:spPr/>
        <p:txBody>
          <a:bodyPr/>
          <a:lstStyle/>
          <a:p>
            <a:fld id="{4FF9B0BC-D092-4379-8AA3-497AF5858718}" type="slidenum">
              <a:rPr lang="LID4096" smtClean="0"/>
              <a:t>14</a:t>
            </a:fld>
            <a:endParaRPr lang="LID4096"/>
          </a:p>
        </p:txBody>
      </p:sp>
    </p:spTree>
    <p:extLst>
      <p:ext uri="{BB962C8B-B14F-4D97-AF65-F5344CB8AC3E}">
        <p14:creationId xmlns:p14="http://schemas.microsoft.com/office/powerpoint/2010/main" val="5727414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D1FA-B355-420A-421B-DDD190F51D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A74D3E-171F-3AFF-0DAB-97E5854C5F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B30E-F336-48E5-174E-A82731AF71A4}"/>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12BBB32F-17C4-FF7D-681A-CA58907431AA}"/>
              </a:ext>
            </a:extLst>
          </p:cNvPr>
          <p:cNvSpPr>
            <a:spLocks noGrp="1"/>
          </p:cNvSpPr>
          <p:nvPr>
            <p:ph type="sldNum" sz="quarter" idx="5"/>
          </p:nvPr>
        </p:nvSpPr>
        <p:spPr/>
        <p:txBody>
          <a:bodyPr/>
          <a:lstStyle/>
          <a:p>
            <a:fld id="{4FF9B0BC-D092-4379-8AA3-497AF5858718}" type="slidenum">
              <a:rPr lang="LID4096" smtClean="0"/>
              <a:t>15</a:t>
            </a:fld>
            <a:endParaRPr lang="LID4096"/>
          </a:p>
        </p:txBody>
      </p:sp>
    </p:spTree>
    <p:extLst>
      <p:ext uri="{BB962C8B-B14F-4D97-AF65-F5344CB8AC3E}">
        <p14:creationId xmlns:p14="http://schemas.microsoft.com/office/powerpoint/2010/main" val="759501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9FD06-EDC4-6F6A-2054-B5A0C799E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B41D64-E30D-61C5-795B-F7C13096FF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96110E-D9C7-D4D8-2557-3518A43F7A48}"/>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9F5FFD9B-7AFA-44B2-ED0B-EEF93C82E863}"/>
              </a:ext>
            </a:extLst>
          </p:cNvPr>
          <p:cNvSpPr>
            <a:spLocks noGrp="1"/>
          </p:cNvSpPr>
          <p:nvPr>
            <p:ph type="sldNum" sz="quarter" idx="5"/>
          </p:nvPr>
        </p:nvSpPr>
        <p:spPr/>
        <p:txBody>
          <a:bodyPr/>
          <a:lstStyle/>
          <a:p>
            <a:fld id="{4FF9B0BC-D092-4379-8AA3-497AF5858718}" type="slidenum">
              <a:rPr lang="LID4096" smtClean="0"/>
              <a:t>16</a:t>
            </a:fld>
            <a:endParaRPr lang="LID4096"/>
          </a:p>
        </p:txBody>
      </p:sp>
    </p:spTree>
    <p:extLst>
      <p:ext uri="{BB962C8B-B14F-4D97-AF65-F5344CB8AC3E}">
        <p14:creationId xmlns:p14="http://schemas.microsoft.com/office/powerpoint/2010/main" val="20997970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49A47-D8A9-CC2E-0439-F48C4D30E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E94EA-3BFC-91C3-0C72-DBF605E6D0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CD112-1CD2-B97E-A54D-B7DB5A91C02A}"/>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94DC5AE-C7DF-941C-5F3E-611093B46099}"/>
              </a:ext>
            </a:extLst>
          </p:cNvPr>
          <p:cNvSpPr>
            <a:spLocks noGrp="1"/>
          </p:cNvSpPr>
          <p:nvPr>
            <p:ph type="sldNum" sz="quarter" idx="5"/>
          </p:nvPr>
        </p:nvSpPr>
        <p:spPr/>
        <p:txBody>
          <a:bodyPr/>
          <a:lstStyle/>
          <a:p>
            <a:fld id="{4FF9B0BC-D092-4379-8AA3-497AF5858718}" type="slidenum">
              <a:rPr lang="LID4096" smtClean="0"/>
              <a:t>17</a:t>
            </a:fld>
            <a:endParaRPr lang="LID4096"/>
          </a:p>
        </p:txBody>
      </p:sp>
    </p:spTree>
    <p:extLst>
      <p:ext uri="{BB962C8B-B14F-4D97-AF65-F5344CB8AC3E}">
        <p14:creationId xmlns:p14="http://schemas.microsoft.com/office/powerpoint/2010/main" val="41583175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BA1D0-681D-9BE7-2AF6-A671187CD6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7A5847-2D14-70EE-C93C-02FF4C8A1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BCE25E-C311-0AEC-715F-00847F2DA660}"/>
              </a:ext>
            </a:extLst>
          </p:cNvPr>
          <p:cNvSpPr>
            <a:spLocks noGrp="1"/>
          </p:cNvSpPr>
          <p:nvPr>
            <p:ph type="body" idx="1"/>
          </p:nvPr>
        </p:nvSpPr>
        <p:spPr/>
        <p:txBody>
          <a:bodyPr/>
          <a:lstStyle/>
          <a:p>
            <a:endParaRPr lang="en-US" dirty="0" err="1">
              <a:cs typeface="Calibri"/>
            </a:endParaRPr>
          </a:p>
        </p:txBody>
      </p:sp>
      <p:sp>
        <p:nvSpPr>
          <p:cNvPr id="4" name="Slide Number Placeholder 3">
            <a:extLst>
              <a:ext uri="{FF2B5EF4-FFF2-40B4-BE49-F238E27FC236}">
                <a16:creationId xmlns:a16="http://schemas.microsoft.com/office/drawing/2014/main" id="{FA010B5F-9F6F-EF07-5EF2-63A8E9B243D5}"/>
              </a:ext>
            </a:extLst>
          </p:cNvPr>
          <p:cNvSpPr>
            <a:spLocks noGrp="1"/>
          </p:cNvSpPr>
          <p:nvPr>
            <p:ph type="sldNum" sz="quarter" idx="5"/>
          </p:nvPr>
        </p:nvSpPr>
        <p:spPr/>
        <p:txBody>
          <a:bodyPr/>
          <a:lstStyle/>
          <a:p>
            <a:fld id="{622A85F0-2AA3-412D-B482-1445E370E3F6}" type="slidenum">
              <a:rPr lang="en-US" smtClean="0"/>
              <a:t>18</a:t>
            </a:fld>
            <a:endParaRPr lang="en-US"/>
          </a:p>
        </p:txBody>
      </p:sp>
    </p:spTree>
    <p:extLst>
      <p:ext uri="{BB962C8B-B14F-4D97-AF65-F5344CB8AC3E}">
        <p14:creationId xmlns:p14="http://schemas.microsoft.com/office/powerpoint/2010/main" val="93916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6941E-AFA5-FB0A-7FE9-9916277138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A14F6-2F8F-1826-6306-FB4D7B9092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04AC8-75C0-D65F-92CE-B5B4FB4487B6}"/>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68ED24E9-02C2-3C99-8B65-89AA7E09B0F5}"/>
              </a:ext>
            </a:extLst>
          </p:cNvPr>
          <p:cNvSpPr>
            <a:spLocks noGrp="1"/>
          </p:cNvSpPr>
          <p:nvPr>
            <p:ph type="sldNum" sz="quarter" idx="5"/>
          </p:nvPr>
        </p:nvSpPr>
        <p:spPr/>
        <p:txBody>
          <a:bodyPr/>
          <a:lstStyle/>
          <a:p>
            <a:fld id="{4FF9B0BC-D092-4379-8AA3-497AF5858718}" type="slidenum">
              <a:rPr lang="LID4096" smtClean="0"/>
              <a:t>19</a:t>
            </a:fld>
            <a:endParaRPr lang="LID4096"/>
          </a:p>
        </p:txBody>
      </p:sp>
    </p:spTree>
    <p:extLst>
      <p:ext uri="{BB962C8B-B14F-4D97-AF65-F5344CB8AC3E}">
        <p14:creationId xmlns:p14="http://schemas.microsoft.com/office/powerpoint/2010/main" val="23433793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38F35-F5A4-1964-8AF7-7BE6A2579C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371A9-F7C5-20CD-6E36-E7491E37D7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3ECFB9-FD2E-06CA-E3A7-DF58AE54438E}"/>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AC54924B-7C5F-B51B-209D-BD329EDD295D}"/>
              </a:ext>
            </a:extLst>
          </p:cNvPr>
          <p:cNvSpPr>
            <a:spLocks noGrp="1"/>
          </p:cNvSpPr>
          <p:nvPr>
            <p:ph type="sldNum" sz="quarter" idx="5"/>
          </p:nvPr>
        </p:nvSpPr>
        <p:spPr/>
        <p:txBody>
          <a:bodyPr/>
          <a:lstStyle/>
          <a:p>
            <a:fld id="{4FF9B0BC-D092-4379-8AA3-497AF5858718}" type="slidenum">
              <a:rPr lang="LID4096" smtClean="0"/>
              <a:t>20</a:t>
            </a:fld>
            <a:endParaRPr lang="LID4096"/>
          </a:p>
        </p:txBody>
      </p:sp>
    </p:spTree>
    <p:extLst>
      <p:ext uri="{BB962C8B-B14F-4D97-AF65-F5344CB8AC3E}">
        <p14:creationId xmlns:p14="http://schemas.microsoft.com/office/powerpoint/2010/main" val="136547543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ED6C3-E543-BE79-831A-DBCBAE86DD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4FE97-5D3C-9552-3847-412885A10A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1633D3-0DF4-7469-AEAB-BC20D0F6A4AF}"/>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7F9DDBC1-01C8-D9F5-BD5C-7284E5BF7E7E}"/>
              </a:ext>
            </a:extLst>
          </p:cNvPr>
          <p:cNvSpPr>
            <a:spLocks noGrp="1"/>
          </p:cNvSpPr>
          <p:nvPr>
            <p:ph type="sldNum" sz="quarter" idx="5"/>
          </p:nvPr>
        </p:nvSpPr>
        <p:spPr/>
        <p:txBody>
          <a:bodyPr/>
          <a:lstStyle/>
          <a:p>
            <a:fld id="{4FF9B0BC-D092-4379-8AA3-497AF5858718}" type="slidenum">
              <a:rPr lang="LID4096" smtClean="0"/>
              <a:t>21</a:t>
            </a:fld>
            <a:endParaRPr lang="LID4096"/>
          </a:p>
        </p:txBody>
      </p:sp>
    </p:spTree>
    <p:extLst>
      <p:ext uri="{BB962C8B-B14F-4D97-AF65-F5344CB8AC3E}">
        <p14:creationId xmlns:p14="http://schemas.microsoft.com/office/powerpoint/2010/main" val="31884957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FAF13-ACBD-ADFD-9DDD-33F476E964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BC34F-DEF4-B898-7068-181FD1B15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F44672-8177-59A9-401F-187C86C9B75D}"/>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4078B5B-15B4-B5FA-816C-3A15BFE1115A}"/>
              </a:ext>
            </a:extLst>
          </p:cNvPr>
          <p:cNvSpPr>
            <a:spLocks noGrp="1"/>
          </p:cNvSpPr>
          <p:nvPr>
            <p:ph type="sldNum" sz="quarter" idx="5"/>
          </p:nvPr>
        </p:nvSpPr>
        <p:spPr/>
        <p:txBody>
          <a:bodyPr/>
          <a:lstStyle/>
          <a:p>
            <a:fld id="{4FF9B0BC-D092-4379-8AA3-497AF5858718}" type="slidenum">
              <a:rPr lang="LID4096" smtClean="0"/>
              <a:t>22</a:t>
            </a:fld>
            <a:endParaRPr lang="LID4096"/>
          </a:p>
        </p:txBody>
      </p:sp>
    </p:spTree>
    <p:extLst>
      <p:ext uri="{BB962C8B-B14F-4D97-AF65-F5344CB8AC3E}">
        <p14:creationId xmlns:p14="http://schemas.microsoft.com/office/powerpoint/2010/main" val="29685356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07574-06C8-BA90-FAEB-E5B9DAB87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F76D4A-F8FD-85CE-DDC4-76BC88D88F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53AEE6-A816-7030-DC28-5261C0C7D033}"/>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EC98282E-9494-FB72-A985-B01EAF506D79}"/>
              </a:ext>
            </a:extLst>
          </p:cNvPr>
          <p:cNvSpPr>
            <a:spLocks noGrp="1"/>
          </p:cNvSpPr>
          <p:nvPr>
            <p:ph type="sldNum" sz="quarter" idx="5"/>
          </p:nvPr>
        </p:nvSpPr>
        <p:spPr/>
        <p:txBody>
          <a:bodyPr/>
          <a:lstStyle/>
          <a:p>
            <a:fld id="{4FF9B0BC-D092-4379-8AA3-497AF5858718}" type="slidenum">
              <a:rPr lang="LID4096" smtClean="0"/>
              <a:t>23</a:t>
            </a:fld>
            <a:endParaRPr lang="LID4096"/>
          </a:p>
        </p:txBody>
      </p:sp>
    </p:spTree>
    <p:extLst>
      <p:ext uri="{BB962C8B-B14F-4D97-AF65-F5344CB8AC3E}">
        <p14:creationId xmlns:p14="http://schemas.microsoft.com/office/powerpoint/2010/main" val="21775625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167F9-998F-E2F5-2420-629D4FB03B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DC88C1-08C6-D43E-F927-54E3C22459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3E23B1-52A4-A40C-2B8E-EC932E6A2EBB}"/>
              </a:ext>
            </a:extLst>
          </p:cNvPr>
          <p:cNvSpPr>
            <a:spLocks noGrp="1"/>
          </p:cNvSpPr>
          <p:nvPr>
            <p:ph type="body" idx="1"/>
          </p:nvPr>
        </p:nvSpPr>
        <p:spPr/>
        <p:txBody>
          <a:bodyPr/>
          <a:lstStyle/>
          <a:p>
            <a:endParaRPr lang="LID4096" dirty="0"/>
          </a:p>
        </p:txBody>
      </p:sp>
      <p:sp>
        <p:nvSpPr>
          <p:cNvPr id="4" name="Slide Number Placeholder 3">
            <a:extLst>
              <a:ext uri="{FF2B5EF4-FFF2-40B4-BE49-F238E27FC236}">
                <a16:creationId xmlns:a16="http://schemas.microsoft.com/office/drawing/2014/main" id="{3A614A94-8BF2-F91E-63C6-9E688EFF96D9}"/>
              </a:ext>
            </a:extLst>
          </p:cNvPr>
          <p:cNvSpPr>
            <a:spLocks noGrp="1"/>
          </p:cNvSpPr>
          <p:nvPr>
            <p:ph type="sldNum" sz="quarter" idx="5"/>
          </p:nvPr>
        </p:nvSpPr>
        <p:spPr/>
        <p:txBody>
          <a:bodyPr/>
          <a:lstStyle/>
          <a:p>
            <a:fld id="{4FF9B0BC-D092-4379-8AA3-497AF5858718}" type="slidenum">
              <a:rPr lang="LID4096" smtClean="0"/>
              <a:t>24</a:t>
            </a:fld>
            <a:endParaRPr lang="LID4096"/>
          </a:p>
        </p:txBody>
      </p:sp>
    </p:spTree>
    <p:extLst>
      <p:ext uri="{BB962C8B-B14F-4D97-AF65-F5344CB8AC3E}">
        <p14:creationId xmlns:p14="http://schemas.microsoft.com/office/powerpoint/2010/main" val="4099580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E8677-3F9D-C186-23E8-4F225EF9DD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55EDC-8C41-217B-7C12-BB7DA60777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B70D67-1833-6904-5350-D79CFA88B2AB}"/>
              </a:ext>
            </a:extLst>
          </p:cNvPr>
          <p:cNvSpPr>
            <a:spLocks noGrp="1"/>
          </p:cNvSpPr>
          <p:nvPr>
            <p:ph type="body" idx="1"/>
          </p:nvPr>
        </p:nvSpPr>
        <p:spPr/>
        <p:txBody>
          <a:bodyPr/>
          <a:lstStyle/>
          <a:p>
            <a:endParaRPr lang="en-US" dirty="0" err="1">
              <a:cs typeface="Calibri"/>
            </a:endParaRPr>
          </a:p>
        </p:txBody>
      </p:sp>
      <p:sp>
        <p:nvSpPr>
          <p:cNvPr id="4" name="Slide Number Placeholder 3">
            <a:extLst>
              <a:ext uri="{FF2B5EF4-FFF2-40B4-BE49-F238E27FC236}">
                <a16:creationId xmlns:a16="http://schemas.microsoft.com/office/drawing/2014/main" id="{F45492F5-797C-B02C-FA09-C4347C17739E}"/>
              </a:ext>
            </a:extLst>
          </p:cNvPr>
          <p:cNvSpPr>
            <a:spLocks noGrp="1"/>
          </p:cNvSpPr>
          <p:nvPr>
            <p:ph type="sldNum" sz="quarter" idx="5"/>
          </p:nvPr>
        </p:nvSpPr>
        <p:spPr/>
        <p:txBody>
          <a:bodyPr/>
          <a:lstStyle/>
          <a:p>
            <a:fld id="{622A85F0-2AA3-412D-B482-1445E370E3F6}" type="slidenum">
              <a:rPr lang="en-US" smtClean="0"/>
              <a:t>25</a:t>
            </a:fld>
            <a:endParaRPr lang="en-US"/>
          </a:p>
        </p:txBody>
      </p:sp>
    </p:spTree>
    <p:extLst>
      <p:ext uri="{BB962C8B-B14F-4D97-AF65-F5344CB8AC3E}">
        <p14:creationId xmlns:p14="http://schemas.microsoft.com/office/powerpoint/2010/main" val="27183680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9677E-7919-01C6-5FD3-AFAFB2FAF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771F96-2A5A-2B48-BAB2-E8A233A1F2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A52BB2-08EB-31D8-D6EA-14F33F21E17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80640655-20E0-F3C3-0BE6-C9279B93BF75}"/>
              </a:ext>
            </a:extLst>
          </p:cNvPr>
          <p:cNvSpPr>
            <a:spLocks noGrp="1"/>
          </p:cNvSpPr>
          <p:nvPr>
            <p:ph type="sldNum" sz="quarter" idx="5"/>
          </p:nvPr>
        </p:nvSpPr>
        <p:spPr/>
        <p:txBody>
          <a:bodyPr/>
          <a:lstStyle/>
          <a:p>
            <a:fld id="{4FF9B0BC-D092-4379-8AA3-497AF5858718}" type="slidenum">
              <a:rPr lang="LID4096" smtClean="0"/>
              <a:t>26</a:t>
            </a:fld>
            <a:endParaRPr lang="LID4096"/>
          </a:p>
        </p:txBody>
      </p:sp>
    </p:spTree>
    <p:extLst>
      <p:ext uri="{BB962C8B-B14F-4D97-AF65-F5344CB8AC3E}">
        <p14:creationId xmlns:p14="http://schemas.microsoft.com/office/powerpoint/2010/main" val="13836747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BC6598-F55A-333B-49ED-E737F002AD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476C5-2FA0-7BC4-11A1-E1CC5CC1E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56884E-D79F-54AD-BB13-61DC4BE89591}"/>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FFA03E4-8516-8B0A-C9F9-8FD8EDDC0091}"/>
              </a:ext>
            </a:extLst>
          </p:cNvPr>
          <p:cNvSpPr>
            <a:spLocks noGrp="1"/>
          </p:cNvSpPr>
          <p:nvPr>
            <p:ph type="sldNum" sz="quarter" idx="5"/>
          </p:nvPr>
        </p:nvSpPr>
        <p:spPr/>
        <p:txBody>
          <a:bodyPr/>
          <a:lstStyle/>
          <a:p>
            <a:fld id="{4FF9B0BC-D092-4379-8AA3-497AF5858718}" type="slidenum">
              <a:rPr lang="LID4096" smtClean="0"/>
              <a:t>27</a:t>
            </a:fld>
            <a:endParaRPr lang="LID4096"/>
          </a:p>
        </p:txBody>
      </p:sp>
    </p:spTree>
    <p:extLst>
      <p:ext uri="{BB962C8B-B14F-4D97-AF65-F5344CB8AC3E}">
        <p14:creationId xmlns:p14="http://schemas.microsoft.com/office/powerpoint/2010/main" val="37493828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25F1BF-061C-8C42-6F91-B18A5054F5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21CDC-1BEE-D6A1-C98E-3418D14B3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BC03F1-6C53-22DF-1986-0E758519B07F}"/>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BAD75616-3312-3203-CA41-465451E50E66}"/>
              </a:ext>
            </a:extLst>
          </p:cNvPr>
          <p:cNvSpPr>
            <a:spLocks noGrp="1"/>
          </p:cNvSpPr>
          <p:nvPr>
            <p:ph type="sldNum" sz="quarter" idx="5"/>
          </p:nvPr>
        </p:nvSpPr>
        <p:spPr/>
        <p:txBody>
          <a:bodyPr/>
          <a:lstStyle/>
          <a:p>
            <a:fld id="{4FF9B0BC-D092-4379-8AA3-497AF5858718}" type="slidenum">
              <a:rPr lang="LID4096" smtClean="0"/>
              <a:t>28</a:t>
            </a:fld>
            <a:endParaRPr lang="LID4096"/>
          </a:p>
        </p:txBody>
      </p:sp>
    </p:spTree>
    <p:extLst>
      <p:ext uri="{BB962C8B-B14F-4D97-AF65-F5344CB8AC3E}">
        <p14:creationId xmlns:p14="http://schemas.microsoft.com/office/powerpoint/2010/main" val="21254352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A2720-C14F-D3F9-ED58-9075EF44F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E66245-92EC-A5EC-0F2F-8F13A04D04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1A1CD1-605A-DAF8-8C9E-69CEDE958CB6}"/>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D78BD153-EE85-1E2A-D182-B4FA816A478E}"/>
              </a:ext>
            </a:extLst>
          </p:cNvPr>
          <p:cNvSpPr>
            <a:spLocks noGrp="1"/>
          </p:cNvSpPr>
          <p:nvPr>
            <p:ph type="sldNum" sz="quarter" idx="5"/>
          </p:nvPr>
        </p:nvSpPr>
        <p:spPr/>
        <p:txBody>
          <a:bodyPr/>
          <a:lstStyle/>
          <a:p>
            <a:fld id="{4FF9B0BC-D092-4379-8AA3-497AF5858718}" type="slidenum">
              <a:rPr lang="LID4096" smtClean="0"/>
              <a:t>29</a:t>
            </a:fld>
            <a:endParaRPr lang="LID4096"/>
          </a:p>
        </p:txBody>
      </p:sp>
    </p:spTree>
    <p:extLst>
      <p:ext uri="{BB962C8B-B14F-4D97-AF65-F5344CB8AC3E}">
        <p14:creationId xmlns:p14="http://schemas.microsoft.com/office/powerpoint/2010/main" val="39285621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12C19-DD9E-77DF-3D9A-A37874DAAE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16F62-4590-F26F-3C22-9C37619E5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F1EBA3-3930-5A87-2044-CFE97545756B}"/>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02AD269B-85BF-4DDA-A7A6-427F0BE9A229}"/>
              </a:ext>
            </a:extLst>
          </p:cNvPr>
          <p:cNvSpPr>
            <a:spLocks noGrp="1"/>
          </p:cNvSpPr>
          <p:nvPr>
            <p:ph type="sldNum" sz="quarter" idx="5"/>
          </p:nvPr>
        </p:nvSpPr>
        <p:spPr/>
        <p:txBody>
          <a:bodyPr/>
          <a:lstStyle/>
          <a:p>
            <a:fld id="{4FF9B0BC-D092-4379-8AA3-497AF5858718}" type="slidenum">
              <a:rPr lang="LID4096" smtClean="0"/>
              <a:t>30</a:t>
            </a:fld>
            <a:endParaRPr lang="LID4096"/>
          </a:p>
        </p:txBody>
      </p:sp>
    </p:spTree>
    <p:extLst>
      <p:ext uri="{BB962C8B-B14F-4D97-AF65-F5344CB8AC3E}">
        <p14:creationId xmlns:p14="http://schemas.microsoft.com/office/powerpoint/2010/main" val="34032240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afb5b8d1a0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afb5b8d1a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a:solidFill>
                  <a:schemeClr val="hlink"/>
                </a:solidFill>
                <a:hlinkClick r:id="rId3"/>
              </a:rPr>
              <a:t>https://developer.mozilla.org/en-US/docs/Web/CSS/:nth-child</a:t>
            </a:r>
            <a:endParaRPr/>
          </a:p>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afb5b8d1a0_0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afb5b8d1a0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afb5b8d1a0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afb5b8d1a0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afb5b8d1a0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afb5b8d1a0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u="sng">
                <a:solidFill>
                  <a:schemeClr val="hlink"/>
                </a:solidFill>
                <a:hlinkClick r:id="rId3"/>
              </a:rPr>
              <a:t>https://developer.mozilla.org/en-US/docs/Web/CSS/:first-child</a:t>
            </a:r>
            <a:endParaRPr/>
          </a:p>
          <a:p>
            <a:pPr marL="0" lvl="0" indent="0" algn="l" rtl="0">
              <a:spcBef>
                <a:spcPts val="0"/>
              </a:spcBef>
              <a:spcAft>
                <a:spcPts val="0"/>
              </a:spcAft>
              <a:buNone/>
            </a:pPr>
            <a:r>
              <a:rPr lang="en-GB" u="sng">
                <a:solidFill>
                  <a:schemeClr val="hlink"/>
                </a:solidFill>
                <a:hlinkClick r:id="rId4"/>
              </a:rPr>
              <a:t>https://developer.mozilla.org/en-US/docs/Web/CSS/:last-child</a:t>
            </a:r>
            <a:endParaRPr/>
          </a:p>
          <a:p>
            <a:pPr marL="0" lvl="0" indent="0" algn="l" rtl="0">
              <a:spcBef>
                <a:spcPts val="0"/>
              </a:spcBef>
              <a:spcAft>
                <a:spcPts val="0"/>
              </a:spcAft>
              <a:buNone/>
            </a:pPr>
            <a:r>
              <a:rPr lang="en-GB" u="sng">
                <a:solidFill>
                  <a:schemeClr val="hlink"/>
                </a:solidFill>
                <a:hlinkClick r:id="rId5"/>
              </a:rPr>
              <a:t>https://developer.mozilla.org/en-US/docs/Web/CSS/:only-child</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afb5b8d1a0_0_1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afb5b8d1a0_0_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afb5b8d1a0_0_1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afb5b8d1a0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afb5b8d1a0_0_1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afb5b8d1a0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afb5b8d1a0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afb5b8d1a0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442B4-6A27-DBF3-5F58-EA4A776D1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8A7A40-E279-00A9-954A-7710F22C47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25EA2-3C10-E3A7-AB8C-87D6C5BD4492}"/>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4922325F-9DD1-B928-DEE1-5762E22833C4}"/>
              </a:ext>
            </a:extLst>
          </p:cNvPr>
          <p:cNvSpPr>
            <a:spLocks noGrp="1"/>
          </p:cNvSpPr>
          <p:nvPr>
            <p:ph type="sldNum" sz="quarter" idx="5"/>
          </p:nvPr>
        </p:nvSpPr>
        <p:spPr/>
        <p:txBody>
          <a:bodyPr/>
          <a:lstStyle/>
          <a:p>
            <a:fld id="{4FF9B0BC-D092-4379-8AA3-497AF5858718}" type="slidenum">
              <a:rPr lang="LID4096" smtClean="0"/>
              <a:t>40</a:t>
            </a:fld>
            <a:endParaRPr lang="LID4096"/>
          </a:p>
        </p:txBody>
      </p:sp>
    </p:spTree>
    <p:extLst>
      <p:ext uri="{BB962C8B-B14F-4D97-AF65-F5344CB8AC3E}">
        <p14:creationId xmlns:p14="http://schemas.microsoft.com/office/powerpoint/2010/main" val="34435100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A7C6-8A1E-A918-E0FB-8EE537572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BCBA82-1751-777D-5446-53F3AE5714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FDCC2-74D2-612A-D3AF-4E7030258825}"/>
              </a:ext>
            </a:extLst>
          </p:cNvPr>
          <p:cNvSpPr>
            <a:spLocks noGrp="1"/>
          </p:cNvSpPr>
          <p:nvPr>
            <p:ph type="body" idx="1"/>
          </p:nvPr>
        </p:nvSpPr>
        <p:spPr/>
        <p:txBody>
          <a:bodyPr/>
          <a:lstStyle/>
          <a:p>
            <a:endParaRPr lang="en-CA" dirty="0"/>
          </a:p>
        </p:txBody>
      </p:sp>
      <p:sp>
        <p:nvSpPr>
          <p:cNvPr id="4" name="Slide Number Placeholder 3">
            <a:extLst>
              <a:ext uri="{FF2B5EF4-FFF2-40B4-BE49-F238E27FC236}">
                <a16:creationId xmlns:a16="http://schemas.microsoft.com/office/drawing/2014/main" id="{3BE87045-0F1A-60D3-9C54-3CA54767C99C}"/>
              </a:ext>
            </a:extLst>
          </p:cNvPr>
          <p:cNvSpPr>
            <a:spLocks noGrp="1"/>
          </p:cNvSpPr>
          <p:nvPr>
            <p:ph type="sldNum" sz="quarter" idx="5"/>
          </p:nvPr>
        </p:nvSpPr>
        <p:spPr/>
        <p:txBody>
          <a:bodyPr/>
          <a:lstStyle/>
          <a:p>
            <a:fld id="{4FF9B0BC-D092-4379-8AA3-497AF5858718}" type="slidenum">
              <a:rPr lang="LID4096" smtClean="0"/>
              <a:t>41</a:t>
            </a:fld>
            <a:endParaRPr lang="LID4096"/>
          </a:p>
        </p:txBody>
      </p:sp>
    </p:spTree>
    <p:extLst>
      <p:ext uri="{BB962C8B-B14F-4D97-AF65-F5344CB8AC3E}">
        <p14:creationId xmlns:p14="http://schemas.microsoft.com/office/powerpoint/2010/main" val="3471818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85799" y="5078186"/>
            <a:ext cx="21210814" cy="2937782"/>
          </a:xfrm>
        </p:spPr>
        <p:txBody>
          <a:bodyPr anchor="t">
            <a:noAutofit/>
          </a:bodyPr>
          <a:lstStyle>
            <a:lvl1pPr algn="ctr">
              <a:lnSpc>
                <a:spcPct val="100000"/>
              </a:lnSpc>
              <a:defRPr sz="9600" cap="all" baseline="0">
                <a:solidFill>
                  <a:schemeClr val="bg2"/>
                </a:solidFill>
              </a:defRPr>
            </a:lvl1pPr>
          </a:lstStyle>
          <a:p>
            <a:r>
              <a:rPr lang="en-US"/>
              <a:t>Click to edit Master title style</a:t>
            </a:r>
            <a:endParaRPr lang="en-US" dirty="0"/>
          </a:p>
        </p:txBody>
      </p:sp>
      <p:sp>
        <p:nvSpPr>
          <p:cNvPr id="3" name="Subtitle 2"/>
          <p:cNvSpPr>
            <a:spLocks noGrp="1"/>
          </p:cNvSpPr>
          <p:nvPr>
            <p:ph type="subTitle" idx="1"/>
          </p:nvPr>
        </p:nvSpPr>
        <p:spPr>
          <a:xfrm>
            <a:off x="1585799" y="8752114"/>
            <a:ext cx="21210814" cy="2269673"/>
          </a:xfrm>
        </p:spPr>
        <p:txBody>
          <a:bodyPr/>
          <a:lstStyle>
            <a:lvl1pPr marL="0" indent="0" algn="ctr">
              <a:buNone/>
              <a:defRPr sz="4800">
                <a:solidFill>
                  <a:schemeClr val="bg2"/>
                </a:solidFill>
              </a:defRPr>
            </a:lvl1pPr>
            <a:lvl2pPr marL="914354" indent="0" algn="ctr">
              <a:buNone/>
              <a:defRPr sz="4000"/>
            </a:lvl2pPr>
            <a:lvl3pPr marL="1828709" indent="0" algn="ctr">
              <a:buNone/>
              <a:defRPr sz="3600"/>
            </a:lvl3pPr>
            <a:lvl4pPr marL="2743063" indent="0" algn="ctr">
              <a:buNone/>
              <a:defRPr sz="3200"/>
            </a:lvl4pPr>
            <a:lvl5pPr marL="3657417" indent="0" algn="ctr">
              <a:buNone/>
              <a:defRPr sz="3200"/>
            </a:lvl5pPr>
            <a:lvl6pPr marL="4571771" indent="0" algn="ctr">
              <a:buNone/>
              <a:defRPr sz="3200"/>
            </a:lvl6pPr>
            <a:lvl7pPr marL="5486126" indent="0" algn="ctr">
              <a:buNone/>
              <a:defRPr sz="3200"/>
            </a:lvl7pPr>
            <a:lvl8pPr marL="6400480" indent="0" algn="ctr">
              <a:buNone/>
              <a:defRPr sz="3200"/>
            </a:lvl8pPr>
            <a:lvl9pPr marL="7314834" indent="0" algn="ctr">
              <a:buNone/>
              <a:defRPr sz="3200"/>
            </a:lvl9pPr>
          </a:lstStyle>
          <a:p>
            <a:r>
              <a:rPr lang="en-US"/>
              <a:t>Click to edit Master subtitle style</a:t>
            </a:r>
            <a:endParaRPr lang="en-US" dirty="0"/>
          </a:p>
        </p:txBody>
      </p:sp>
    </p:spTree>
    <p:extLst>
      <p:ext uri="{BB962C8B-B14F-4D97-AF65-F5344CB8AC3E}">
        <p14:creationId xmlns:p14="http://schemas.microsoft.com/office/powerpoint/2010/main" val="3018503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7200">
                <a:solidFill>
                  <a:schemeClr val="accent1"/>
                </a:solidFill>
              </a:defRPr>
            </a:lvl1pPr>
          </a:lstStyle>
          <a:p>
            <a:r>
              <a:rPr lang="en-US" dirty="0"/>
              <a:t>CLICK TO EDIT MASTER TITLE STYLE</a:t>
            </a:r>
          </a:p>
        </p:txBody>
      </p:sp>
      <p:sp>
        <p:nvSpPr>
          <p:cNvPr id="3" name="Content Placeholder 2"/>
          <p:cNvSpPr>
            <a:spLocks noGrp="1"/>
          </p:cNvSpPr>
          <p:nvPr>
            <p:ph idx="1"/>
          </p:nvPr>
        </p:nvSpPr>
        <p:spPr>
          <a:xfrm>
            <a:off x="1676291" y="3651250"/>
            <a:ext cx="21029831" cy="737380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Box 3">
            <a:extLst>
              <a:ext uri="{FF2B5EF4-FFF2-40B4-BE49-F238E27FC236}">
                <a16:creationId xmlns:a16="http://schemas.microsoft.com/office/drawing/2014/main" id="{67BAD23F-0E93-DF4A-8F98-CC7CE27E2020}"/>
              </a:ext>
            </a:extLst>
          </p:cNvPr>
          <p:cNvSpPr txBox="1"/>
          <p:nvPr userDrawn="1"/>
        </p:nvSpPr>
        <p:spPr>
          <a:xfrm>
            <a:off x="3962400" y="1359877"/>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025977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lumn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lvl1pPr>
          </a:lstStyle>
          <a:p>
            <a:r>
              <a:rPr lang="en-US"/>
              <a:t>Click to edit Master title style</a:t>
            </a:r>
            <a:endParaRPr lang="en-US" dirty="0"/>
          </a:p>
        </p:txBody>
      </p:sp>
      <p:sp>
        <p:nvSpPr>
          <p:cNvPr id="3" name="Content Placeholder 2"/>
          <p:cNvSpPr>
            <a:spLocks noGrp="1"/>
          </p:cNvSpPr>
          <p:nvPr>
            <p:ph sz="half" idx="1"/>
          </p:nvPr>
        </p:nvSpPr>
        <p:spPr>
          <a:xfrm>
            <a:off x="1676291" y="3651249"/>
            <a:ext cx="10362526" cy="9101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2343596" y="3651250"/>
            <a:ext cx="10362526" cy="75664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119497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Highlight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7200" cap="all" baseline="0">
                <a:solidFill>
                  <a:schemeClr val="bg2"/>
                </a:solidFill>
              </a:defRPr>
            </a:lvl1pPr>
          </a:lstStyle>
          <a:p>
            <a:r>
              <a:rPr lang="en-US"/>
              <a:t>Click to edit Master title style</a:t>
            </a:r>
            <a:endParaRPr lang="en-US" dirty="0"/>
          </a:p>
        </p:txBody>
      </p:sp>
      <p:sp>
        <p:nvSpPr>
          <p:cNvPr id="3" name="Content Placeholder 2"/>
          <p:cNvSpPr>
            <a:spLocks noGrp="1"/>
          </p:cNvSpPr>
          <p:nvPr>
            <p:ph idx="1"/>
          </p:nvPr>
        </p:nvSpPr>
        <p:spPr>
          <a:xfrm>
            <a:off x="1676291" y="3651250"/>
            <a:ext cx="21029831" cy="6962321"/>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457488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AADA339-B7CC-2B4C-9CB9-A33E03B63410}"/>
              </a:ext>
            </a:extLst>
          </p:cNvPr>
          <p:cNvSpPr>
            <a:spLocks noGrp="1"/>
          </p:cNvSpPr>
          <p:nvPr>
            <p:ph type="ctrTitle"/>
          </p:nvPr>
        </p:nvSpPr>
        <p:spPr>
          <a:xfrm>
            <a:off x="1585799" y="5570555"/>
            <a:ext cx="21210814" cy="2937782"/>
          </a:xfrm>
        </p:spPr>
        <p:txBody>
          <a:bodyPr anchor="t">
            <a:noAutofit/>
          </a:bodyPr>
          <a:lstStyle>
            <a:lvl1pPr algn="ctr">
              <a:lnSpc>
                <a:spcPct val="100000"/>
              </a:lnSpc>
              <a:defRPr sz="8000" cap="all" baseline="0">
                <a:solidFill>
                  <a:schemeClr val="bg2"/>
                </a:solidFill>
              </a:defRPr>
            </a:lvl1pPr>
          </a:lstStyle>
          <a:p>
            <a:r>
              <a:rPr lang="en-US"/>
              <a:t>Click to edit Master title style</a:t>
            </a:r>
            <a:endParaRPr lang="en-US" dirty="0"/>
          </a:p>
        </p:txBody>
      </p:sp>
    </p:spTree>
    <p:extLst>
      <p:ext uri="{BB962C8B-B14F-4D97-AF65-F5344CB8AC3E}">
        <p14:creationId xmlns:p14="http://schemas.microsoft.com/office/powerpoint/2010/main" val="3391353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for large charts/images/video">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5877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starburs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875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Section Brea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0B934B5-63C9-2842-AB2D-E575537010AA}"/>
              </a:ext>
            </a:extLst>
          </p:cNvPr>
          <p:cNvSpPr>
            <a:spLocks noGrp="1"/>
          </p:cNvSpPr>
          <p:nvPr>
            <p:ph type="body" sz="quarter" idx="10" hasCustomPrompt="1"/>
          </p:nvPr>
        </p:nvSpPr>
        <p:spPr>
          <a:xfrm>
            <a:off x="5839495" y="6091583"/>
            <a:ext cx="12730921" cy="1857374"/>
          </a:xfrm>
        </p:spPr>
        <p:txBody>
          <a:bodyPr>
            <a:normAutofit/>
          </a:bodyPr>
          <a:lstStyle>
            <a:lvl1pPr marL="0" indent="0" algn="ctr">
              <a:buNone/>
              <a:defRPr sz="8800">
                <a:solidFill>
                  <a:schemeClr val="bg1"/>
                </a:solidFill>
              </a:defRPr>
            </a:lvl1pPr>
            <a:lvl2pPr marL="914354" indent="0">
              <a:buNone/>
              <a:defRPr/>
            </a:lvl2pPr>
            <a:lvl3pPr marL="1828709" indent="0">
              <a:buNone/>
              <a:defRPr/>
            </a:lvl3pPr>
            <a:lvl4pPr marL="2743063" indent="0">
              <a:buNone/>
              <a:defRPr/>
            </a:lvl4pPr>
            <a:lvl5pPr marL="3657417" indent="0">
              <a:buNone/>
              <a:defRPr/>
            </a:lvl5pPr>
          </a:lstStyle>
          <a:p>
            <a:pPr lvl="0"/>
            <a:r>
              <a:rPr lang="en-US" dirty="0"/>
              <a:t>SECTION TITLE</a:t>
            </a:r>
          </a:p>
        </p:txBody>
      </p:sp>
    </p:spTree>
    <p:extLst>
      <p:ext uri="{BB962C8B-B14F-4D97-AF65-F5344CB8AC3E}">
        <p14:creationId xmlns:p14="http://schemas.microsoft.com/office/powerpoint/2010/main" val="2010277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831146" y="1186733"/>
            <a:ext cx="22720121" cy="15272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831146" y="3073267"/>
            <a:ext cx="22720121" cy="9110400"/>
          </a:xfrm>
          <a:prstGeom prst="rect">
            <a:avLst/>
          </a:prstGeom>
        </p:spPr>
        <p:txBody>
          <a:bodyPr spcFirstLastPara="1" wrap="square" lIns="91425" tIns="91425" rIns="91425" bIns="91425" anchor="t" anchorCtr="0">
            <a:noAutofit/>
          </a:bodyPr>
          <a:lstStyle>
            <a:lvl1pPr marL="1219124" lvl="0" indent="-914343">
              <a:spcBef>
                <a:spcPts val="0"/>
              </a:spcBef>
              <a:spcAft>
                <a:spcPts val="0"/>
              </a:spcAft>
              <a:buSzPts val="1800"/>
              <a:buChar char="●"/>
              <a:defRPr/>
            </a:lvl1pPr>
            <a:lvl2pPr marL="2438248" lvl="1" indent="-846614">
              <a:spcBef>
                <a:spcPts val="4266"/>
              </a:spcBef>
              <a:spcAft>
                <a:spcPts val="0"/>
              </a:spcAft>
              <a:buSzPts val="1400"/>
              <a:buChar char="○"/>
              <a:defRPr/>
            </a:lvl2pPr>
            <a:lvl3pPr marL="3657371" lvl="2" indent="-846614">
              <a:spcBef>
                <a:spcPts val="4266"/>
              </a:spcBef>
              <a:spcAft>
                <a:spcPts val="0"/>
              </a:spcAft>
              <a:buSzPts val="1400"/>
              <a:buChar char="■"/>
              <a:defRPr/>
            </a:lvl3pPr>
            <a:lvl4pPr marL="4876495" lvl="3" indent="-846614">
              <a:spcBef>
                <a:spcPts val="4266"/>
              </a:spcBef>
              <a:spcAft>
                <a:spcPts val="0"/>
              </a:spcAft>
              <a:buSzPts val="1400"/>
              <a:buChar char="●"/>
              <a:defRPr/>
            </a:lvl4pPr>
            <a:lvl5pPr marL="6095619" lvl="4" indent="-846614">
              <a:spcBef>
                <a:spcPts val="4266"/>
              </a:spcBef>
              <a:spcAft>
                <a:spcPts val="0"/>
              </a:spcAft>
              <a:buSzPts val="1400"/>
              <a:buChar char="○"/>
              <a:defRPr/>
            </a:lvl5pPr>
            <a:lvl6pPr marL="7314743" lvl="5" indent="-846614">
              <a:spcBef>
                <a:spcPts val="4266"/>
              </a:spcBef>
              <a:spcAft>
                <a:spcPts val="0"/>
              </a:spcAft>
              <a:buSzPts val="1400"/>
              <a:buChar char="■"/>
              <a:defRPr/>
            </a:lvl6pPr>
            <a:lvl7pPr marL="8533867" lvl="6" indent="-846614">
              <a:spcBef>
                <a:spcPts val="4266"/>
              </a:spcBef>
              <a:spcAft>
                <a:spcPts val="0"/>
              </a:spcAft>
              <a:buSzPts val="1400"/>
              <a:buChar char="●"/>
              <a:defRPr/>
            </a:lvl7pPr>
            <a:lvl8pPr marL="9752990" lvl="7" indent="-846614">
              <a:spcBef>
                <a:spcPts val="4266"/>
              </a:spcBef>
              <a:spcAft>
                <a:spcPts val="0"/>
              </a:spcAft>
              <a:buSzPts val="1400"/>
              <a:buChar char="○"/>
              <a:defRPr/>
            </a:lvl8pPr>
            <a:lvl9pPr marL="10972114" lvl="8" indent="-846614">
              <a:spcBef>
                <a:spcPts val="4266"/>
              </a:spcBef>
              <a:spcAft>
                <a:spcPts val="4266"/>
              </a:spcAft>
              <a:buSzPts val="1400"/>
              <a:buChar char="■"/>
              <a:defRPr/>
            </a:lvl9pPr>
          </a:lstStyle>
          <a:p>
            <a:endParaRPr/>
          </a:p>
        </p:txBody>
      </p:sp>
      <p:sp>
        <p:nvSpPr>
          <p:cNvPr id="19" name="Google Shape;19;p4"/>
          <p:cNvSpPr txBox="1">
            <a:spLocks noGrp="1"/>
          </p:cNvSpPr>
          <p:nvPr>
            <p:ph type="sldNum" idx="12"/>
          </p:nvPr>
        </p:nvSpPr>
        <p:spPr>
          <a:xfrm>
            <a:off x="22591751" y="12435245"/>
            <a:ext cx="1463105" cy="1049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512896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291" y="730251"/>
            <a:ext cx="21029831" cy="2651126"/>
          </a:xfrm>
          <a:prstGeom prst="rect">
            <a:avLst/>
          </a:prstGeom>
        </p:spPr>
        <p:txBody>
          <a:bodyPr vert="horz" lIns="91440" tIns="45720" rIns="91440" bIns="45720" rtlCol="0" anchor="ctr">
            <a:normAutofit/>
          </a:bodyPr>
          <a:lstStyle/>
          <a:p>
            <a:r>
              <a:rPr lang="en-US" dirty="0"/>
              <a:t>CLICK ADD TITLE</a:t>
            </a:r>
          </a:p>
        </p:txBody>
      </p:sp>
      <p:sp>
        <p:nvSpPr>
          <p:cNvPr id="3" name="Text Placeholder 2"/>
          <p:cNvSpPr>
            <a:spLocks noGrp="1"/>
          </p:cNvSpPr>
          <p:nvPr>
            <p:ph type="body" idx="1"/>
          </p:nvPr>
        </p:nvSpPr>
        <p:spPr>
          <a:xfrm>
            <a:off x="1676291" y="3651250"/>
            <a:ext cx="21029831" cy="87026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676291" y="12712701"/>
            <a:ext cx="5486043" cy="730250"/>
          </a:xfrm>
          <a:prstGeom prst="rect">
            <a:avLst/>
          </a:prstGeom>
        </p:spPr>
        <p:txBody>
          <a:bodyPr vert="horz" lIns="91440" tIns="45720" rIns="91440" bIns="45720" rtlCol="0" anchor="ctr"/>
          <a:lstStyle>
            <a:lvl1pPr algn="l">
              <a:defRPr sz="2400" b="0" i="0">
                <a:solidFill>
                  <a:schemeClr val="tx1">
                    <a:tint val="75000"/>
                  </a:schemeClr>
                </a:solidFill>
                <a:latin typeface="Arial" panose="020B0604020202020204" pitchFamily="34" charset="0"/>
                <a:cs typeface="Arial" panose="020B0604020202020204" pitchFamily="34" charset="0"/>
              </a:defRPr>
            </a:lvl1pPr>
          </a:lstStyle>
          <a:p>
            <a:fld id="{1D4256BD-EBF6-F04C-B88C-52582AC3F228}" type="datetimeFigureOut">
              <a:rPr lang="en-US" smtClean="0"/>
              <a:pPr/>
              <a:t>10/22/2025</a:t>
            </a:fld>
            <a:endParaRPr lang="en-US"/>
          </a:p>
        </p:txBody>
      </p:sp>
      <p:sp>
        <p:nvSpPr>
          <p:cNvPr id="5" name="Footer Placeholder 4"/>
          <p:cNvSpPr>
            <a:spLocks noGrp="1"/>
          </p:cNvSpPr>
          <p:nvPr>
            <p:ph type="ftr" sz="quarter" idx="3"/>
          </p:nvPr>
        </p:nvSpPr>
        <p:spPr>
          <a:xfrm>
            <a:off x="8076675" y="12712701"/>
            <a:ext cx="8229064" cy="730250"/>
          </a:xfrm>
          <a:prstGeom prst="rect">
            <a:avLst/>
          </a:prstGeom>
        </p:spPr>
        <p:txBody>
          <a:bodyPr vert="horz" lIns="91440" tIns="45720" rIns="91440" bIns="45720" rtlCol="0" anchor="ctr"/>
          <a:lstStyle>
            <a:lvl1pPr algn="ctr">
              <a:defRPr sz="2400" b="0" i="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17220079" y="12712701"/>
            <a:ext cx="5486043" cy="730250"/>
          </a:xfrm>
          <a:prstGeom prst="rect">
            <a:avLst/>
          </a:prstGeom>
        </p:spPr>
        <p:txBody>
          <a:bodyPr vert="horz" lIns="91440" tIns="45720" rIns="91440" bIns="45720" rtlCol="0" anchor="ctr"/>
          <a:lstStyle>
            <a:lvl1pPr algn="r">
              <a:defRPr sz="2400" b="0" i="0">
                <a:solidFill>
                  <a:schemeClr val="tx1">
                    <a:tint val="75000"/>
                  </a:schemeClr>
                </a:solidFill>
                <a:latin typeface="Arial" panose="020B0604020202020204" pitchFamily="34" charset="0"/>
                <a:cs typeface="Arial" panose="020B0604020202020204" pitchFamily="34" charset="0"/>
              </a:defRPr>
            </a:lvl1pPr>
          </a:lstStyle>
          <a:p>
            <a:fld id="{43E0FCCE-2EC3-1049-A592-35D9C6652762}" type="slidenum">
              <a:rPr lang="en-US" smtClean="0"/>
              <a:pPr/>
              <a:t>‹#›</a:t>
            </a:fld>
            <a:endParaRPr lang="en-US"/>
          </a:p>
        </p:txBody>
      </p:sp>
    </p:spTree>
    <p:extLst>
      <p:ext uri="{BB962C8B-B14F-4D97-AF65-F5344CB8AC3E}">
        <p14:creationId xmlns:p14="http://schemas.microsoft.com/office/powerpoint/2010/main" val="2033442270"/>
      </p:ext>
    </p:extLst>
  </p:cSld>
  <p:clrMap bg1="lt1" tx1="dk1" bg2="lt2" tx2="dk2" accent1="accent1" accent2="accent2" accent3="accent3" accent4="accent4" accent5="accent5" accent6="accent6" hlink="hlink" folHlink="folHlink"/>
  <p:sldLayoutIdLst>
    <p:sldLayoutId id="2147483700" r:id="rId1"/>
    <p:sldLayoutId id="2147483698" r:id="rId2"/>
    <p:sldLayoutId id="2147483695" r:id="rId3"/>
    <p:sldLayoutId id="2147483676" r:id="rId4"/>
    <p:sldLayoutId id="2147483703" r:id="rId5"/>
    <p:sldLayoutId id="2147483704" r:id="rId6"/>
    <p:sldLayoutId id="2147483705" r:id="rId7"/>
    <p:sldLayoutId id="2147483706" r:id="rId8"/>
    <p:sldLayoutId id="2147483707" r:id="rId9"/>
  </p:sldLayoutIdLst>
  <p:txStyles>
    <p:titleStyle>
      <a:lvl1pPr algn="l" defTabSz="1828709" rtl="0" eaLnBrk="1" latinLnBrk="0" hangingPunct="1">
        <a:lnSpc>
          <a:spcPct val="90000"/>
        </a:lnSpc>
        <a:spcBef>
          <a:spcPct val="0"/>
        </a:spcBef>
        <a:buNone/>
        <a:defRPr sz="7200" b="1" i="0" kern="1200">
          <a:solidFill>
            <a:schemeClr val="accent1"/>
          </a:solidFill>
          <a:latin typeface="Arial" panose="020B0604020202020204" pitchFamily="34" charset="0"/>
          <a:ea typeface="+mj-ea"/>
          <a:cs typeface="Arial" panose="020B0604020202020204" pitchFamily="34" charset="0"/>
        </a:defRPr>
      </a:lvl1pPr>
    </p:titleStyle>
    <p:bodyStyle>
      <a:lvl1pPr marL="457177" indent="-457177" algn="l" defTabSz="1828709" rtl="0" eaLnBrk="1" latinLnBrk="0" hangingPunct="1">
        <a:lnSpc>
          <a:spcPct val="90000"/>
        </a:lnSpc>
        <a:spcBef>
          <a:spcPts val="2000"/>
        </a:spcBef>
        <a:buFont typeface="Arial" panose="020B0604020202020204" pitchFamily="34" charset="0"/>
        <a:buChar char="•"/>
        <a:defRPr sz="5600" b="0" i="0" kern="1200">
          <a:solidFill>
            <a:schemeClr val="tx1"/>
          </a:solidFill>
          <a:latin typeface="Arial" panose="020B0604020202020204" pitchFamily="34" charset="0"/>
          <a:ea typeface="+mn-ea"/>
          <a:cs typeface="Arial" panose="020B0604020202020204" pitchFamily="34" charset="0"/>
        </a:defRPr>
      </a:lvl1pPr>
      <a:lvl2pPr marL="1371531" indent="-457177" algn="l" defTabSz="1828709" rtl="0" eaLnBrk="1" latinLnBrk="0" hangingPunct="1">
        <a:lnSpc>
          <a:spcPct val="90000"/>
        </a:lnSpc>
        <a:spcBef>
          <a:spcPts val="1000"/>
        </a:spcBef>
        <a:buFont typeface="Arial" panose="020B0604020202020204" pitchFamily="34" charset="0"/>
        <a:buChar char="•"/>
        <a:defRPr sz="4800" b="0" i="0" kern="1200">
          <a:solidFill>
            <a:schemeClr val="tx1"/>
          </a:solidFill>
          <a:latin typeface="Arial" panose="020B0604020202020204" pitchFamily="34" charset="0"/>
          <a:ea typeface="+mn-ea"/>
          <a:cs typeface="Arial" panose="020B0604020202020204" pitchFamily="34" charset="0"/>
        </a:defRPr>
      </a:lvl2pPr>
      <a:lvl3pPr marL="2285886" indent="-457177" algn="l" defTabSz="1828709" rtl="0" eaLnBrk="1" latinLnBrk="0" hangingPunct="1">
        <a:lnSpc>
          <a:spcPct val="90000"/>
        </a:lnSpc>
        <a:spcBef>
          <a:spcPts val="1000"/>
        </a:spcBef>
        <a:buFont typeface="Arial" panose="020B0604020202020204" pitchFamily="34" charset="0"/>
        <a:buChar char="•"/>
        <a:defRPr sz="4000" b="0" i="0" kern="1200">
          <a:solidFill>
            <a:schemeClr val="tx1"/>
          </a:solidFill>
          <a:latin typeface="Arial" panose="020B0604020202020204" pitchFamily="34" charset="0"/>
          <a:ea typeface="+mn-ea"/>
          <a:cs typeface="Arial" panose="020B0604020202020204" pitchFamily="34" charset="0"/>
        </a:defRPr>
      </a:lvl3pPr>
      <a:lvl4pPr marL="3200240"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4pPr>
      <a:lvl5pPr marL="4114594" indent="-457177" algn="l" defTabSz="1828709" rtl="0" eaLnBrk="1" latinLnBrk="0" hangingPunct="1">
        <a:lnSpc>
          <a:spcPct val="90000"/>
        </a:lnSpc>
        <a:spcBef>
          <a:spcPts val="1000"/>
        </a:spcBef>
        <a:buFont typeface="Arial" panose="020B0604020202020204" pitchFamily="34" charset="0"/>
        <a:buChar char="•"/>
        <a:defRPr sz="3600" b="0" i="0" kern="1200">
          <a:solidFill>
            <a:schemeClr val="tx1"/>
          </a:solidFill>
          <a:latin typeface="Arial" panose="020B0604020202020204" pitchFamily="34" charset="0"/>
          <a:ea typeface="+mn-ea"/>
          <a:cs typeface="Arial" panose="020B0604020202020204" pitchFamily="34" charset="0"/>
        </a:defRPr>
      </a:lvl5pPr>
      <a:lvl6pPr marL="5028949"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303"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7657"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011" indent="-457177" algn="l" defTabSz="1828709"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709" rtl="0" eaLnBrk="1" latinLnBrk="0" hangingPunct="1">
        <a:defRPr sz="3600" kern="1200">
          <a:solidFill>
            <a:schemeClr val="tx1"/>
          </a:solidFill>
          <a:latin typeface="+mn-lt"/>
          <a:ea typeface="+mn-ea"/>
          <a:cs typeface="+mn-cs"/>
        </a:defRPr>
      </a:lvl1pPr>
      <a:lvl2pPr marL="914354" algn="l" defTabSz="1828709" rtl="0" eaLnBrk="1" latinLnBrk="0" hangingPunct="1">
        <a:defRPr sz="3600" kern="1200">
          <a:solidFill>
            <a:schemeClr val="tx1"/>
          </a:solidFill>
          <a:latin typeface="+mn-lt"/>
          <a:ea typeface="+mn-ea"/>
          <a:cs typeface="+mn-cs"/>
        </a:defRPr>
      </a:lvl2pPr>
      <a:lvl3pPr marL="1828709" algn="l" defTabSz="1828709" rtl="0" eaLnBrk="1" latinLnBrk="0" hangingPunct="1">
        <a:defRPr sz="3600" kern="1200">
          <a:solidFill>
            <a:schemeClr val="tx1"/>
          </a:solidFill>
          <a:latin typeface="+mn-lt"/>
          <a:ea typeface="+mn-ea"/>
          <a:cs typeface="+mn-cs"/>
        </a:defRPr>
      </a:lvl3pPr>
      <a:lvl4pPr marL="2743063" algn="l" defTabSz="1828709" rtl="0" eaLnBrk="1" latinLnBrk="0" hangingPunct="1">
        <a:defRPr sz="3600" kern="1200">
          <a:solidFill>
            <a:schemeClr val="tx1"/>
          </a:solidFill>
          <a:latin typeface="+mn-lt"/>
          <a:ea typeface="+mn-ea"/>
          <a:cs typeface="+mn-cs"/>
        </a:defRPr>
      </a:lvl4pPr>
      <a:lvl5pPr marL="3657417" algn="l" defTabSz="1828709" rtl="0" eaLnBrk="1" latinLnBrk="0" hangingPunct="1">
        <a:defRPr sz="3600" kern="1200">
          <a:solidFill>
            <a:schemeClr val="tx1"/>
          </a:solidFill>
          <a:latin typeface="+mn-lt"/>
          <a:ea typeface="+mn-ea"/>
          <a:cs typeface="+mn-cs"/>
        </a:defRPr>
      </a:lvl5pPr>
      <a:lvl6pPr marL="4571771" algn="l" defTabSz="1828709" rtl="0" eaLnBrk="1" latinLnBrk="0" hangingPunct="1">
        <a:defRPr sz="3600" kern="1200">
          <a:solidFill>
            <a:schemeClr val="tx1"/>
          </a:solidFill>
          <a:latin typeface="+mn-lt"/>
          <a:ea typeface="+mn-ea"/>
          <a:cs typeface="+mn-cs"/>
        </a:defRPr>
      </a:lvl6pPr>
      <a:lvl7pPr marL="5486126" algn="l" defTabSz="1828709" rtl="0" eaLnBrk="1" latinLnBrk="0" hangingPunct="1">
        <a:defRPr sz="3600" kern="1200">
          <a:solidFill>
            <a:schemeClr val="tx1"/>
          </a:solidFill>
          <a:latin typeface="+mn-lt"/>
          <a:ea typeface="+mn-ea"/>
          <a:cs typeface="+mn-cs"/>
        </a:defRPr>
      </a:lvl7pPr>
      <a:lvl8pPr marL="6400480" algn="l" defTabSz="1828709" rtl="0" eaLnBrk="1" latinLnBrk="0" hangingPunct="1">
        <a:defRPr sz="3600" kern="1200">
          <a:solidFill>
            <a:schemeClr val="tx1"/>
          </a:solidFill>
          <a:latin typeface="+mn-lt"/>
          <a:ea typeface="+mn-ea"/>
          <a:cs typeface="+mn-cs"/>
        </a:defRPr>
      </a:lvl8pPr>
      <a:lvl9pPr marL="7314834" algn="l" defTabSz="1828709"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coderwall.com/p/57imrw/common-fonts-for-windows-mac"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hyperlink" Target="https://www.cssfontstack.com/" TargetMode="Externa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134F75-93C1-9D40-86A3-4C13A50E20D0}"/>
              </a:ext>
            </a:extLst>
          </p:cNvPr>
          <p:cNvSpPr>
            <a:spLocks noGrp="1"/>
          </p:cNvSpPr>
          <p:nvPr>
            <p:ph type="ctrTitle"/>
          </p:nvPr>
        </p:nvSpPr>
        <p:spPr/>
        <p:txBody>
          <a:bodyPr/>
          <a:lstStyle/>
          <a:p>
            <a:r>
              <a:rPr lang="en-US" dirty="0"/>
              <a:t>sdev1701</a:t>
            </a:r>
          </a:p>
        </p:txBody>
      </p:sp>
      <p:sp>
        <p:nvSpPr>
          <p:cNvPr id="3" name="Subtitle 2">
            <a:extLst>
              <a:ext uri="{FF2B5EF4-FFF2-40B4-BE49-F238E27FC236}">
                <a16:creationId xmlns:a16="http://schemas.microsoft.com/office/drawing/2014/main" id="{53D672B5-6320-EE4E-B160-EE8483FDF106}"/>
              </a:ext>
            </a:extLst>
          </p:cNvPr>
          <p:cNvSpPr>
            <a:spLocks noGrp="1"/>
          </p:cNvSpPr>
          <p:nvPr>
            <p:ph type="subTitle" idx="1"/>
          </p:nvPr>
        </p:nvSpPr>
        <p:spPr/>
        <p:txBody>
          <a:bodyPr>
            <a:normAutofit/>
          </a:bodyPr>
          <a:lstStyle/>
          <a:p>
            <a:r>
              <a:rPr lang="en-US" b="1" dirty="0"/>
              <a:t>Day </a:t>
            </a:r>
            <a:r>
              <a:rPr lang="en-CA" b="1" dirty="0"/>
              <a:t>15</a:t>
            </a:r>
            <a:r>
              <a:rPr lang="en-US" b="1" dirty="0"/>
              <a:t>: </a:t>
            </a:r>
            <a:r>
              <a:rPr lang="en-US" dirty="0"/>
              <a:t>Styling Text: Typography for Web</a:t>
            </a:r>
            <a:br>
              <a:rPr lang="en-US" dirty="0"/>
            </a:br>
            <a:endParaRPr lang="en-US" dirty="0"/>
          </a:p>
        </p:txBody>
      </p:sp>
    </p:spTree>
    <p:extLst>
      <p:ext uri="{BB962C8B-B14F-4D97-AF65-F5344CB8AC3E}">
        <p14:creationId xmlns:p14="http://schemas.microsoft.com/office/powerpoint/2010/main" val="1088597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5E6A14-155D-4C3F-A116-6D5A99418660}"/>
              </a:ext>
            </a:extLst>
          </p:cNvPr>
          <p:cNvSpPr>
            <a:spLocks noGrp="1"/>
          </p:cNvSpPr>
          <p:nvPr>
            <p:ph type="body" sz="quarter" idx="10"/>
          </p:nvPr>
        </p:nvSpPr>
        <p:spPr>
          <a:xfrm>
            <a:off x="3662665" y="5705856"/>
            <a:ext cx="17057081" cy="3450109"/>
          </a:xfrm>
        </p:spPr>
        <p:txBody>
          <a:bodyPr>
            <a:normAutofit/>
          </a:bodyPr>
          <a:lstStyle/>
          <a:p>
            <a:r>
              <a:rPr lang="en-US" b="1" dirty="0"/>
              <a:t>Web Typography</a:t>
            </a:r>
            <a:br>
              <a:rPr lang="en-US" dirty="0"/>
            </a:br>
            <a:endParaRPr lang="en-US" b="1" dirty="0"/>
          </a:p>
        </p:txBody>
      </p:sp>
    </p:spTree>
    <p:extLst>
      <p:ext uri="{BB962C8B-B14F-4D97-AF65-F5344CB8AC3E}">
        <p14:creationId xmlns:p14="http://schemas.microsoft.com/office/powerpoint/2010/main" val="2399971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4D14D4-E0EF-2E45-A193-2BD273BD39D6}"/>
              </a:ext>
            </a:extLst>
          </p:cNvPr>
          <p:cNvSpPr>
            <a:spLocks noGrp="1"/>
          </p:cNvSpPr>
          <p:nvPr>
            <p:ph type="title"/>
          </p:nvPr>
        </p:nvSpPr>
        <p:spPr/>
        <p:txBody>
          <a:bodyPr>
            <a:normAutofit/>
          </a:bodyPr>
          <a:lstStyle/>
          <a:p>
            <a:r>
              <a:rPr lang="en-US" dirty="0"/>
              <a:t>INTRODUCTION TO TYPOGRAPHY</a:t>
            </a:r>
          </a:p>
        </p:txBody>
      </p:sp>
      <p:sp>
        <p:nvSpPr>
          <p:cNvPr id="3" name="Content Placeholder 2">
            <a:extLst>
              <a:ext uri="{FF2B5EF4-FFF2-40B4-BE49-F238E27FC236}">
                <a16:creationId xmlns:a16="http://schemas.microsoft.com/office/drawing/2014/main" id="{1DEE1F78-D5B2-A845-8BE4-16DFC9204BDA}"/>
              </a:ext>
            </a:extLst>
          </p:cNvPr>
          <p:cNvSpPr>
            <a:spLocks noGrp="1"/>
          </p:cNvSpPr>
          <p:nvPr>
            <p:ph idx="1"/>
          </p:nvPr>
        </p:nvSpPr>
        <p:spPr/>
        <p:txBody>
          <a:bodyPr>
            <a:normAutofit fontScale="92500"/>
          </a:bodyPr>
          <a:lstStyle/>
          <a:p>
            <a:r>
              <a:rPr lang="en-US" dirty="0"/>
              <a:t>The word "typography" comes from the Greek </a:t>
            </a:r>
            <a:r>
              <a:rPr lang="en-US" dirty="0" err="1"/>
              <a:t>τύ</a:t>
            </a:r>
            <a:r>
              <a:rPr lang="en-US" dirty="0"/>
              <a:t>πος - "imprint" and γράφω - "write" and means the artistic design of text using fonts, symbols and signs.</a:t>
            </a:r>
          </a:p>
          <a:p>
            <a:r>
              <a:rPr lang="en-US" dirty="0"/>
              <a:t>Specialists in such areas as web design, graphic design, classic and web layout, and printing work directly with typography. But basic knowledge of typography will be useful to marketers, editors, content managers, and brand managers.</a:t>
            </a:r>
          </a:p>
          <a:p>
            <a:r>
              <a:rPr lang="en-US" dirty="0"/>
              <a:t>Working with fonts often seems to be the most difficult stage of work, not only for beginners, but also for experienced web designers.</a:t>
            </a:r>
          </a:p>
        </p:txBody>
      </p:sp>
    </p:spTree>
    <p:extLst>
      <p:ext uri="{BB962C8B-B14F-4D97-AF65-F5344CB8AC3E}">
        <p14:creationId xmlns:p14="http://schemas.microsoft.com/office/powerpoint/2010/main" val="3646897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C3AFA-BFBA-C474-C439-8302ED403D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1FA77C-CFE4-083A-F93F-44CDC391E4A0}"/>
              </a:ext>
            </a:extLst>
          </p:cNvPr>
          <p:cNvSpPr>
            <a:spLocks noGrp="1"/>
          </p:cNvSpPr>
          <p:nvPr>
            <p:ph type="title"/>
          </p:nvPr>
        </p:nvSpPr>
        <p:spPr/>
        <p:txBody>
          <a:bodyPr>
            <a:normAutofit/>
          </a:bodyPr>
          <a:lstStyle/>
          <a:p>
            <a:r>
              <a:rPr lang="en-US" dirty="0"/>
              <a:t>TYPOGRAPHY'S ROLE IN DESIGN</a:t>
            </a:r>
          </a:p>
        </p:txBody>
      </p:sp>
      <p:sp>
        <p:nvSpPr>
          <p:cNvPr id="3" name="Content Placeholder 2">
            <a:extLst>
              <a:ext uri="{FF2B5EF4-FFF2-40B4-BE49-F238E27FC236}">
                <a16:creationId xmlns:a16="http://schemas.microsoft.com/office/drawing/2014/main" id="{7C580328-82F8-3E69-F9A2-097DB9CF871C}"/>
              </a:ext>
            </a:extLst>
          </p:cNvPr>
          <p:cNvSpPr>
            <a:spLocks noGrp="1"/>
          </p:cNvSpPr>
          <p:nvPr>
            <p:ph idx="1"/>
          </p:nvPr>
        </p:nvSpPr>
        <p:spPr>
          <a:xfrm>
            <a:off x="1676291" y="4492498"/>
            <a:ext cx="21029831" cy="7373801"/>
          </a:xfrm>
        </p:spPr>
        <p:txBody>
          <a:bodyPr>
            <a:normAutofit/>
          </a:bodyPr>
          <a:lstStyle/>
          <a:p>
            <a:r>
              <a:rPr lang="en-US" sz="4300" dirty="0"/>
              <a:t>Typography is an integral part of any web project. Every website/landing page and mobile app is designed using typography elements. Headings, text blocks, buttons and forms, and even image captions </a:t>
            </a:r>
            <a:r>
              <a:rPr lang="en-US" sz="4300" i="1" dirty="0"/>
              <a:t>are</a:t>
            </a:r>
            <a:r>
              <a:rPr lang="en-US" sz="4300" dirty="0"/>
              <a:t> all created based on typography.</a:t>
            </a:r>
          </a:p>
          <a:p>
            <a:r>
              <a:rPr lang="en-US" sz="4300" dirty="0"/>
              <a:t>Text is the primary tool for conveying information on web pages and mobile app pages. A designer may not use any decorative elements, compositional techniques, or non-monochrome </a:t>
            </a:r>
            <a:r>
              <a:rPr lang="en-US" sz="4300" dirty="0" err="1"/>
              <a:t>colours</a:t>
            </a:r>
            <a:r>
              <a:rPr lang="en-US" sz="4300" dirty="0"/>
              <a:t>, but he or she will still be able to create a page that will convey the necessary message to the user.</a:t>
            </a:r>
          </a:p>
          <a:p>
            <a:endParaRPr lang="en-US" dirty="0"/>
          </a:p>
        </p:txBody>
      </p:sp>
    </p:spTree>
    <p:extLst>
      <p:ext uri="{BB962C8B-B14F-4D97-AF65-F5344CB8AC3E}">
        <p14:creationId xmlns:p14="http://schemas.microsoft.com/office/powerpoint/2010/main" val="5301859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9F501-2A71-D5D4-2843-B6F76CEB0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D9B02-62E8-6D7F-3D2D-B1399CB2A175}"/>
              </a:ext>
            </a:extLst>
          </p:cNvPr>
          <p:cNvSpPr>
            <a:spLocks noGrp="1"/>
          </p:cNvSpPr>
          <p:nvPr>
            <p:ph type="title"/>
          </p:nvPr>
        </p:nvSpPr>
        <p:spPr/>
        <p:txBody>
          <a:bodyPr>
            <a:normAutofit/>
          </a:bodyPr>
          <a:lstStyle/>
          <a:p>
            <a:r>
              <a:rPr lang="en-US" dirty="0"/>
              <a:t>COMMUNICATION</a:t>
            </a:r>
          </a:p>
        </p:txBody>
      </p:sp>
      <p:sp>
        <p:nvSpPr>
          <p:cNvPr id="3" name="Content Placeholder 2">
            <a:extLst>
              <a:ext uri="{FF2B5EF4-FFF2-40B4-BE49-F238E27FC236}">
                <a16:creationId xmlns:a16="http://schemas.microsoft.com/office/drawing/2014/main" id="{96517569-0793-BAAA-AB84-1669EA81E71A}"/>
              </a:ext>
            </a:extLst>
          </p:cNvPr>
          <p:cNvSpPr>
            <a:spLocks noGrp="1"/>
          </p:cNvSpPr>
          <p:nvPr>
            <p:ph idx="1"/>
          </p:nvPr>
        </p:nvSpPr>
        <p:spPr>
          <a:xfrm>
            <a:off x="1676291" y="3651250"/>
            <a:ext cx="8546701" cy="7373801"/>
          </a:xfrm>
        </p:spPr>
        <p:txBody>
          <a:bodyPr>
            <a:normAutofit fontScale="92500"/>
          </a:bodyPr>
          <a:lstStyle/>
          <a:p>
            <a:r>
              <a:rPr lang="en-US" sz="4300" dirty="0"/>
              <a:t> The first function that typography performs will be communicative.</a:t>
            </a:r>
            <a:endParaRPr lang="en-US" sz="4300" b="1" dirty="0"/>
          </a:p>
          <a:p>
            <a:r>
              <a:rPr lang="en-US" sz="4300" dirty="0"/>
              <a:t>With the help of text, a web designer conveys ideas, offers and brand values ​​to users. Text is a communication tool that is in many ways superior to images. With the help of correctly designed text on a website, you can convey all the necessary information that cannot always be conveyed in the form of a single image.</a:t>
            </a:r>
          </a:p>
          <a:p>
            <a:pPr marL="0" indent="0">
              <a:buNone/>
            </a:pPr>
            <a:endParaRPr lang="en-US" dirty="0"/>
          </a:p>
        </p:txBody>
      </p:sp>
      <p:pic>
        <p:nvPicPr>
          <p:cNvPr id="5" name="Picture 4" descr="A collage of a person walking with a bag and a can of beer&#10;&#10;AI-generated content may be incorrect.">
            <a:extLst>
              <a:ext uri="{FF2B5EF4-FFF2-40B4-BE49-F238E27FC236}">
                <a16:creationId xmlns:a16="http://schemas.microsoft.com/office/drawing/2014/main" id="{737FFA22-6EF5-5893-3AD0-78C7432775DA}"/>
              </a:ext>
            </a:extLst>
          </p:cNvPr>
          <p:cNvPicPr>
            <a:picLocks noChangeAspect="1"/>
          </p:cNvPicPr>
          <p:nvPr/>
        </p:nvPicPr>
        <p:blipFill>
          <a:blip r:embed="rId3"/>
          <a:stretch>
            <a:fillRect/>
          </a:stretch>
        </p:blipFill>
        <p:spPr>
          <a:xfrm>
            <a:off x="11313382" y="4744601"/>
            <a:ext cx="11898834" cy="4226797"/>
          </a:xfrm>
          <a:prstGeom prst="rect">
            <a:avLst/>
          </a:prstGeom>
        </p:spPr>
      </p:pic>
    </p:spTree>
    <p:extLst>
      <p:ext uri="{BB962C8B-B14F-4D97-AF65-F5344CB8AC3E}">
        <p14:creationId xmlns:p14="http://schemas.microsoft.com/office/powerpoint/2010/main" val="4171987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A3DB5-9A42-733C-EE82-9E2593B93D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C2374-4900-82D5-AB15-7E75DE64072E}"/>
              </a:ext>
            </a:extLst>
          </p:cNvPr>
          <p:cNvSpPr>
            <a:spLocks noGrp="1"/>
          </p:cNvSpPr>
          <p:nvPr>
            <p:ph type="title"/>
          </p:nvPr>
        </p:nvSpPr>
        <p:spPr>
          <a:xfrm>
            <a:off x="1676291" y="730251"/>
            <a:ext cx="21029831" cy="2651126"/>
          </a:xfrm>
        </p:spPr>
        <p:txBody>
          <a:bodyPr anchor="ctr">
            <a:normAutofit/>
          </a:bodyPr>
          <a:lstStyle/>
          <a:p>
            <a:r>
              <a:rPr lang="en-US" dirty="0"/>
              <a:t>AESTHETIC</a:t>
            </a:r>
          </a:p>
        </p:txBody>
      </p:sp>
      <p:sp>
        <p:nvSpPr>
          <p:cNvPr id="3" name="Content Placeholder 2">
            <a:extLst>
              <a:ext uri="{FF2B5EF4-FFF2-40B4-BE49-F238E27FC236}">
                <a16:creationId xmlns:a16="http://schemas.microsoft.com/office/drawing/2014/main" id="{61C83D63-4EE9-0887-A8F2-E926D986E28E}"/>
              </a:ext>
            </a:extLst>
          </p:cNvPr>
          <p:cNvSpPr>
            <a:spLocks noGrp="1"/>
          </p:cNvSpPr>
          <p:nvPr>
            <p:ph sz="half" idx="1"/>
          </p:nvPr>
        </p:nvSpPr>
        <p:spPr>
          <a:xfrm>
            <a:off x="1466741" y="4813299"/>
            <a:ext cx="10362526" cy="9101365"/>
          </a:xfrm>
        </p:spPr>
        <p:txBody>
          <a:bodyPr>
            <a:normAutofit/>
          </a:bodyPr>
          <a:lstStyle/>
          <a:p>
            <a:r>
              <a:rPr lang="en-US" sz="4300" dirty="0"/>
              <a:t>Using various styles, fonts, and typefaces, the designer creates a unique typographic composition that fits organically into the overall composition of the page.</a:t>
            </a:r>
          </a:p>
          <a:p>
            <a:r>
              <a:rPr lang="en-US" sz="4300" dirty="0"/>
              <a:t> Typography tools can add decorativeness to the page and emphasize the individual style of the brand (identity).</a:t>
            </a:r>
          </a:p>
        </p:txBody>
      </p:sp>
      <p:pic>
        <p:nvPicPr>
          <p:cNvPr id="5" name="Picture 4" descr="A book open and open&#10;&#10;AI-generated content may be incorrect.">
            <a:extLst>
              <a:ext uri="{FF2B5EF4-FFF2-40B4-BE49-F238E27FC236}">
                <a16:creationId xmlns:a16="http://schemas.microsoft.com/office/drawing/2014/main" id="{1FAC290D-94A6-C722-DB57-4E2E1045F78A}"/>
              </a:ext>
            </a:extLst>
          </p:cNvPr>
          <p:cNvPicPr>
            <a:picLocks noChangeAspect="1"/>
          </p:cNvPicPr>
          <p:nvPr/>
        </p:nvPicPr>
        <p:blipFill>
          <a:blip r:embed="rId3"/>
          <a:stretch>
            <a:fillRect/>
          </a:stretch>
        </p:blipFill>
        <p:spPr>
          <a:xfrm>
            <a:off x="12343596" y="4973389"/>
            <a:ext cx="10362526" cy="4922200"/>
          </a:xfrm>
          <a:prstGeom prst="rect">
            <a:avLst/>
          </a:prstGeom>
          <a:noFill/>
        </p:spPr>
      </p:pic>
    </p:spTree>
    <p:extLst>
      <p:ext uri="{BB962C8B-B14F-4D97-AF65-F5344CB8AC3E}">
        <p14:creationId xmlns:p14="http://schemas.microsoft.com/office/powerpoint/2010/main" val="1795630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955A1-59CA-7809-708D-E87FDC802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E1D5A3-7C4E-0A60-6990-760F04E17B9D}"/>
              </a:ext>
            </a:extLst>
          </p:cNvPr>
          <p:cNvSpPr>
            <a:spLocks noGrp="1"/>
          </p:cNvSpPr>
          <p:nvPr>
            <p:ph type="title"/>
          </p:nvPr>
        </p:nvSpPr>
        <p:spPr/>
        <p:txBody>
          <a:bodyPr/>
          <a:lstStyle/>
          <a:p>
            <a:r>
              <a:rPr lang="en-US" dirty="0"/>
              <a:t>IMPORTANT FUNCTIONS OF TYPOGRAPHY</a:t>
            </a:r>
          </a:p>
        </p:txBody>
      </p:sp>
      <p:sp>
        <p:nvSpPr>
          <p:cNvPr id="3" name="Content Placeholder 2">
            <a:extLst>
              <a:ext uri="{FF2B5EF4-FFF2-40B4-BE49-F238E27FC236}">
                <a16:creationId xmlns:a16="http://schemas.microsoft.com/office/drawing/2014/main" id="{8B02C678-11A7-2238-3AC9-647F0D737459}"/>
              </a:ext>
            </a:extLst>
          </p:cNvPr>
          <p:cNvSpPr>
            <a:spLocks noGrp="1"/>
          </p:cNvSpPr>
          <p:nvPr>
            <p:ph idx="1"/>
          </p:nvPr>
        </p:nvSpPr>
        <p:spPr>
          <a:xfrm>
            <a:off x="1504841" y="4622800"/>
            <a:ext cx="9369661" cy="7373801"/>
          </a:xfrm>
        </p:spPr>
        <p:txBody>
          <a:bodyPr>
            <a:normAutofit/>
          </a:bodyPr>
          <a:lstStyle/>
          <a:p>
            <a:pPr fontAlgn="base"/>
            <a:r>
              <a:rPr lang="en-US" sz="4300" dirty="0"/>
              <a:t>Demonstrate the visual hierarchy of the page,</a:t>
            </a:r>
          </a:p>
          <a:p>
            <a:pPr fontAlgn="base"/>
            <a:r>
              <a:rPr lang="en-US" sz="4300" dirty="0"/>
              <a:t>Highlight the main and secondary elements,</a:t>
            </a:r>
          </a:p>
          <a:p>
            <a:pPr fontAlgn="base"/>
            <a:r>
              <a:rPr lang="en-US" sz="4300" dirty="0"/>
              <a:t> Set emphasis on important blocks on the page.</a:t>
            </a:r>
          </a:p>
          <a:p>
            <a:endParaRPr lang="en-US" dirty="0"/>
          </a:p>
          <a:p>
            <a:pPr marL="0" indent="0">
              <a:buNone/>
            </a:pPr>
            <a:endParaRPr lang="en-US" dirty="0"/>
          </a:p>
          <a:p>
            <a:endParaRPr lang="en-US" dirty="0"/>
          </a:p>
          <a:p>
            <a:endParaRPr lang="en-US" dirty="0"/>
          </a:p>
        </p:txBody>
      </p:sp>
      <p:pic>
        <p:nvPicPr>
          <p:cNvPr id="7" name="Picture 6" descr="A screenshot of a font&#10;&#10;AI-generated content may be incorrect.">
            <a:extLst>
              <a:ext uri="{FF2B5EF4-FFF2-40B4-BE49-F238E27FC236}">
                <a16:creationId xmlns:a16="http://schemas.microsoft.com/office/drawing/2014/main" id="{401D7CAD-D7C2-2FF3-18C7-B8846B20F8E6}"/>
              </a:ext>
            </a:extLst>
          </p:cNvPr>
          <p:cNvPicPr>
            <a:picLocks noChangeAspect="1"/>
          </p:cNvPicPr>
          <p:nvPr/>
        </p:nvPicPr>
        <p:blipFill>
          <a:blip r:embed="rId3"/>
          <a:stretch>
            <a:fillRect/>
          </a:stretch>
        </p:blipFill>
        <p:spPr>
          <a:xfrm>
            <a:off x="11739261" y="5160600"/>
            <a:ext cx="11138311" cy="3394800"/>
          </a:xfrm>
          <a:prstGeom prst="rect">
            <a:avLst/>
          </a:prstGeom>
        </p:spPr>
      </p:pic>
    </p:spTree>
    <p:extLst>
      <p:ext uri="{BB962C8B-B14F-4D97-AF65-F5344CB8AC3E}">
        <p14:creationId xmlns:p14="http://schemas.microsoft.com/office/powerpoint/2010/main" val="3526704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6C0E5-5AAD-C2A3-B10B-26CE6CA01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7C94C-1B2C-338F-814C-E07603BDC044}"/>
              </a:ext>
            </a:extLst>
          </p:cNvPr>
          <p:cNvSpPr>
            <a:spLocks noGrp="1"/>
          </p:cNvSpPr>
          <p:nvPr>
            <p:ph type="title"/>
          </p:nvPr>
        </p:nvSpPr>
        <p:spPr/>
        <p:txBody>
          <a:bodyPr/>
          <a:lstStyle/>
          <a:p>
            <a:r>
              <a:rPr lang="en-US" dirty="0"/>
              <a:t>BASIC TERMINOLOGY</a:t>
            </a:r>
          </a:p>
        </p:txBody>
      </p:sp>
      <p:sp>
        <p:nvSpPr>
          <p:cNvPr id="3" name="Content Placeholder 2">
            <a:extLst>
              <a:ext uri="{FF2B5EF4-FFF2-40B4-BE49-F238E27FC236}">
                <a16:creationId xmlns:a16="http://schemas.microsoft.com/office/drawing/2014/main" id="{8DDF5396-55E6-F818-E813-793DEA20644C}"/>
              </a:ext>
            </a:extLst>
          </p:cNvPr>
          <p:cNvSpPr>
            <a:spLocks noGrp="1"/>
          </p:cNvSpPr>
          <p:nvPr>
            <p:ph idx="1"/>
          </p:nvPr>
        </p:nvSpPr>
        <p:spPr>
          <a:xfrm>
            <a:off x="1676291" y="3651250"/>
            <a:ext cx="18440509" cy="7373801"/>
          </a:xfrm>
        </p:spPr>
        <p:txBody>
          <a:bodyPr>
            <a:normAutofit/>
          </a:bodyPr>
          <a:lstStyle/>
          <a:p>
            <a:r>
              <a:rPr lang="en-US" dirty="0"/>
              <a:t>The fundamental element of typography and font is the letter. Each letter is unique in its internal structure, which must be taken into account and which is transformed at the moment when the font is designed.</a:t>
            </a:r>
          </a:p>
          <a:p>
            <a:r>
              <a:rPr lang="en-US" dirty="0"/>
              <a:t>A set of letters and symbols that have certain design features is called </a:t>
            </a:r>
            <a:r>
              <a:rPr lang="en-US" b="1" dirty="0"/>
              <a:t>a typeface</a:t>
            </a:r>
            <a:r>
              <a:rPr lang="en-US" dirty="0"/>
              <a:t>.</a:t>
            </a:r>
          </a:p>
          <a:p>
            <a:pPr marL="0" indent="0">
              <a:buNone/>
            </a:pPr>
            <a:endParaRPr lang="en-US" dirty="0"/>
          </a:p>
          <a:p>
            <a:endParaRPr lang="en-US" dirty="0"/>
          </a:p>
          <a:p>
            <a:endParaRPr lang="en-US" dirty="0"/>
          </a:p>
        </p:txBody>
      </p:sp>
      <p:pic>
        <p:nvPicPr>
          <p:cNvPr id="6" name="Picture 5" descr="A close-up of a logo&#10;&#10;AI-generated content may be incorrect.">
            <a:extLst>
              <a:ext uri="{FF2B5EF4-FFF2-40B4-BE49-F238E27FC236}">
                <a16:creationId xmlns:a16="http://schemas.microsoft.com/office/drawing/2014/main" id="{E533B35F-6864-CB1F-3D49-4B90036D80F0}"/>
              </a:ext>
            </a:extLst>
          </p:cNvPr>
          <p:cNvPicPr>
            <a:picLocks noChangeAspect="1"/>
          </p:cNvPicPr>
          <p:nvPr/>
        </p:nvPicPr>
        <p:blipFill>
          <a:blip r:embed="rId3"/>
          <a:stretch>
            <a:fillRect/>
          </a:stretch>
        </p:blipFill>
        <p:spPr>
          <a:xfrm>
            <a:off x="1676291" y="8904277"/>
            <a:ext cx="16289391" cy="2651126"/>
          </a:xfrm>
          <a:prstGeom prst="rect">
            <a:avLst/>
          </a:prstGeom>
        </p:spPr>
      </p:pic>
    </p:spTree>
    <p:extLst>
      <p:ext uri="{BB962C8B-B14F-4D97-AF65-F5344CB8AC3E}">
        <p14:creationId xmlns:p14="http://schemas.microsoft.com/office/powerpoint/2010/main" val="3921835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DBEEF-7DF7-5172-B443-D8D3BBE774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4199CB-AEE8-CCEB-D699-BC21D21E93F9}"/>
              </a:ext>
            </a:extLst>
          </p:cNvPr>
          <p:cNvSpPr>
            <a:spLocks noGrp="1"/>
          </p:cNvSpPr>
          <p:nvPr>
            <p:ph type="title"/>
          </p:nvPr>
        </p:nvSpPr>
        <p:spPr/>
        <p:txBody>
          <a:bodyPr/>
          <a:lstStyle/>
          <a:p>
            <a:r>
              <a:rPr lang="en-US" dirty="0"/>
              <a:t>BASIC TERMINOLOGY</a:t>
            </a:r>
          </a:p>
        </p:txBody>
      </p:sp>
      <p:sp>
        <p:nvSpPr>
          <p:cNvPr id="3" name="Content Placeholder 2">
            <a:extLst>
              <a:ext uri="{FF2B5EF4-FFF2-40B4-BE49-F238E27FC236}">
                <a16:creationId xmlns:a16="http://schemas.microsoft.com/office/drawing/2014/main" id="{9394CEEA-BBB5-8961-5667-19B1A28C4CBE}"/>
              </a:ext>
            </a:extLst>
          </p:cNvPr>
          <p:cNvSpPr>
            <a:spLocks noGrp="1"/>
          </p:cNvSpPr>
          <p:nvPr>
            <p:ph idx="1"/>
          </p:nvPr>
        </p:nvSpPr>
        <p:spPr>
          <a:xfrm>
            <a:off x="1676291" y="3651250"/>
            <a:ext cx="21384877" cy="7373801"/>
          </a:xfrm>
        </p:spPr>
        <p:txBody>
          <a:bodyPr>
            <a:normAutofit/>
          </a:bodyPr>
          <a:lstStyle/>
          <a:p>
            <a:r>
              <a:rPr lang="en-US" sz="4300" dirty="0"/>
              <a:t>Within each typeface, there may be several sets of letters and symbols that differ in their style (weight, slant, density, and decorativeness) and size. These sets of letters and symbols are called </a:t>
            </a:r>
            <a:r>
              <a:rPr lang="en-US" sz="4300" b="1" dirty="0"/>
              <a:t>fonts</a:t>
            </a:r>
            <a:r>
              <a:rPr lang="en-US" sz="4300" dirty="0"/>
              <a:t>.</a:t>
            </a:r>
          </a:p>
          <a:p>
            <a:r>
              <a:rPr lang="en-US" sz="4300" dirty="0"/>
              <a:t>What ordinary people usually call a font is actually a typeface. For example, Arial, Helvetica, Roboto. But a group of symbols from a certain typeface with features of writing (for example, Light, Regular, Bold, etc.) is called a font. For example, Helvetica Light or Roboto Bold.</a:t>
            </a:r>
          </a:p>
          <a:p>
            <a:pPr marL="0" indent="0">
              <a:buNone/>
            </a:pPr>
            <a:endParaRPr lang="en-US" sz="4300" dirty="0"/>
          </a:p>
          <a:p>
            <a:endParaRPr lang="en-US" sz="4300" dirty="0"/>
          </a:p>
          <a:p>
            <a:endParaRPr lang="en-US" sz="4300" dirty="0"/>
          </a:p>
        </p:txBody>
      </p:sp>
      <p:pic>
        <p:nvPicPr>
          <p:cNvPr id="5" name="Picture 4" descr="A white square with black dots&#10;&#10;AI-generated content may be incorrect.">
            <a:extLst>
              <a:ext uri="{FF2B5EF4-FFF2-40B4-BE49-F238E27FC236}">
                <a16:creationId xmlns:a16="http://schemas.microsoft.com/office/drawing/2014/main" id="{33C85B81-5F28-1E9F-3D6D-A43E83108765}"/>
              </a:ext>
            </a:extLst>
          </p:cNvPr>
          <p:cNvPicPr>
            <a:picLocks noChangeAspect="1"/>
          </p:cNvPicPr>
          <p:nvPr/>
        </p:nvPicPr>
        <p:blipFill>
          <a:blip r:embed="rId3"/>
          <a:stretch>
            <a:fillRect/>
          </a:stretch>
        </p:blipFill>
        <p:spPr>
          <a:xfrm>
            <a:off x="2098873" y="9003333"/>
            <a:ext cx="13409215" cy="2291591"/>
          </a:xfrm>
          <a:prstGeom prst="rect">
            <a:avLst/>
          </a:prstGeom>
        </p:spPr>
      </p:pic>
    </p:spTree>
    <p:extLst>
      <p:ext uri="{BB962C8B-B14F-4D97-AF65-F5344CB8AC3E}">
        <p14:creationId xmlns:p14="http://schemas.microsoft.com/office/powerpoint/2010/main" val="3508860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65717-2AC3-47D0-0845-2C9922E94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1280C0-365D-856C-CBBF-B0EFAFDA25FF}"/>
              </a:ext>
            </a:extLst>
          </p:cNvPr>
          <p:cNvSpPr>
            <a:spLocks noGrp="1"/>
          </p:cNvSpPr>
          <p:nvPr>
            <p:ph type="title"/>
          </p:nvPr>
        </p:nvSpPr>
        <p:spPr/>
        <p:txBody>
          <a:bodyPr/>
          <a:lstStyle/>
          <a:p>
            <a:r>
              <a:rPr lang="en-US" dirty="0"/>
              <a:t>BASIC TERMINOLOGY</a:t>
            </a:r>
          </a:p>
        </p:txBody>
      </p:sp>
      <p:sp>
        <p:nvSpPr>
          <p:cNvPr id="3" name="Content Placeholder 2">
            <a:extLst>
              <a:ext uri="{FF2B5EF4-FFF2-40B4-BE49-F238E27FC236}">
                <a16:creationId xmlns:a16="http://schemas.microsoft.com/office/drawing/2014/main" id="{76B1A6F9-C4F6-4CD4-4A2F-BF102806A1C8}"/>
              </a:ext>
            </a:extLst>
          </p:cNvPr>
          <p:cNvSpPr>
            <a:spLocks noGrp="1"/>
          </p:cNvSpPr>
          <p:nvPr>
            <p:ph idx="1"/>
          </p:nvPr>
        </p:nvSpPr>
        <p:spPr>
          <a:xfrm>
            <a:off x="1676291" y="3651250"/>
            <a:ext cx="21384877" cy="7373801"/>
          </a:xfrm>
        </p:spPr>
        <p:txBody>
          <a:bodyPr>
            <a:normAutofit/>
          </a:bodyPr>
          <a:lstStyle/>
          <a:p>
            <a:pPr marL="0" indent="0">
              <a:buNone/>
            </a:pPr>
            <a:r>
              <a:rPr lang="en-US" sz="4300" dirty="0"/>
              <a:t>In CSS you can set this value using </a:t>
            </a:r>
            <a:r>
              <a:rPr lang="en-US" sz="4300" b="1" dirty="0"/>
              <a:t>font-family</a:t>
            </a:r>
          </a:p>
          <a:p>
            <a:r>
              <a:rPr lang="en-US" sz="4300" dirty="0"/>
              <a:t>Sets the typeface(s).</a:t>
            </a:r>
          </a:p>
          <a:p>
            <a:r>
              <a:rPr lang="en-US" sz="4300" dirty="0"/>
              <a:t>Example:</a:t>
            </a:r>
          </a:p>
          <a:p>
            <a:endParaRPr lang="en-US" sz="4300" dirty="0"/>
          </a:p>
          <a:p>
            <a:endParaRPr lang="en-US" sz="4300" dirty="0"/>
          </a:p>
        </p:txBody>
      </p:sp>
      <p:pic>
        <p:nvPicPr>
          <p:cNvPr id="6" name="Picture 5">
            <a:extLst>
              <a:ext uri="{FF2B5EF4-FFF2-40B4-BE49-F238E27FC236}">
                <a16:creationId xmlns:a16="http://schemas.microsoft.com/office/drawing/2014/main" id="{2D40A820-575F-0D26-D93B-33E0D95095CF}"/>
              </a:ext>
            </a:extLst>
          </p:cNvPr>
          <p:cNvPicPr>
            <a:picLocks noChangeAspect="1"/>
          </p:cNvPicPr>
          <p:nvPr/>
        </p:nvPicPr>
        <p:blipFill>
          <a:blip r:embed="rId3"/>
          <a:stretch>
            <a:fillRect/>
          </a:stretch>
        </p:blipFill>
        <p:spPr>
          <a:xfrm>
            <a:off x="1851503" y="6858000"/>
            <a:ext cx="18540714" cy="2185851"/>
          </a:xfrm>
          <a:prstGeom prst="rect">
            <a:avLst/>
          </a:prstGeom>
        </p:spPr>
      </p:pic>
    </p:spTree>
    <p:extLst>
      <p:ext uri="{BB962C8B-B14F-4D97-AF65-F5344CB8AC3E}">
        <p14:creationId xmlns:p14="http://schemas.microsoft.com/office/powerpoint/2010/main" val="3937720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318A1-1DBE-D564-71E4-6402B582E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881FB2-444E-74A0-8ABB-A55EA05733BC}"/>
              </a:ext>
            </a:extLst>
          </p:cNvPr>
          <p:cNvSpPr>
            <a:spLocks noGrp="1"/>
          </p:cNvSpPr>
          <p:nvPr>
            <p:ph type="title"/>
          </p:nvPr>
        </p:nvSpPr>
        <p:spPr/>
        <p:txBody>
          <a:bodyPr/>
          <a:lstStyle/>
          <a:p>
            <a:r>
              <a:rPr lang="en-US" dirty="0"/>
              <a:t>KEY MEASUREMENTS</a:t>
            </a:r>
          </a:p>
        </p:txBody>
      </p:sp>
      <p:sp>
        <p:nvSpPr>
          <p:cNvPr id="3" name="Content Placeholder 2">
            <a:extLst>
              <a:ext uri="{FF2B5EF4-FFF2-40B4-BE49-F238E27FC236}">
                <a16:creationId xmlns:a16="http://schemas.microsoft.com/office/drawing/2014/main" id="{89EB0E85-B2B5-F700-5B67-758687EA60E6}"/>
              </a:ext>
            </a:extLst>
          </p:cNvPr>
          <p:cNvSpPr>
            <a:spLocks noGrp="1"/>
          </p:cNvSpPr>
          <p:nvPr>
            <p:ph idx="1"/>
          </p:nvPr>
        </p:nvSpPr>
        <p:spPr>
          <a:xfrm>
            <a:off x="1676291" y="3651250"/>
            <a:ext cx="12222589" cy="7373801"/>
          </a:xfrm>
        </p:spPr>
        <p:txBody>
          <a:bodyPr>
            <a:normAutofit/>
          </a:bodyPr>
          <a:lstStyle/>
          <a:p>
            <a:r>
              <a:rPr lang="en-US" sz="4300" b="1" dirty="0"/>
              <a:t>Font size</a:t>
            </a:r>
            <a:r>
              <a:rPr lang="en-US" sz="4300" dirty="0"/>
              <a:t> is the vertical height of a letter. This size is measured in pixels. One of the important characteristics of typography is leading, which is the distance between the baselines of adjacent lines of text. Leading should not be confused with line spacing, which is the distance from the baseline to the top of the lowercase letters on the next line.</a:t>
            </a:r>
          </a:p>
          <a:p>
            <a:endParaRPr lang="en-US" sz="4300" dirty="0"/>
          </a:p>
          <a:p>
            <a:endParaRPr lang="en-US" sz="4300" dirty="0"/>
          </a:p>
        </p:txBody>
      </p:sp>
      <p:pic>
        <p:nvPicPr>
          <p:cNvPr id="8" name="Picture 7" descr="A white background with black text&#10;&#10;AI-generated content may be incorrect.">
            <a:extLst>
              <a:ext uri="{FF2B5EF4-FFF2-40B4-BE49-F238E27FC236}">
                <a16:creationId xmlns:a16="http://schemas.microsoft.com/office/drawing/2014/main" id="{68F6DB6C-FDA8-32D4-7438-93448F3A2AA0}"/>
              </a:ext>
            </a:extLst>
          </p:cNvPr>
          <p:cNvPicPr>
            <a:picLocks noChangeAspect="1"/>
          </p:cNvPicPr>
          <p:nvPr/>
        </p:nvPicPr>
        <p:blipFill>
          <a:blip r:embed="rId3"/>
          <a:stretch>
            <a:fillRect/>
          </a:stretch>
        </p:blipFill>
        <p:spPr>
          <a:xfrm>
            <a:off x="13898880" y="3381377"/>
            <a:ext cx="9387867" cy="5270617"/>
          </a:xfrm>
          <a:prstGeom prst="rect">
            <a:avLst/>
          </a:prstGeom>
        </p:spPr>
      </p:pic>
    </p:spTree>
    <p:extLst>
      <p:ext uri="{BB962C8B-B14F-4D97-AF65-F5344CB8AC3E}">
        <p14:creationId xmlns:p14="http://schemas.microsoft.com/office/powerpoint/2010/main" val="3409601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90AF3-0BDA-9D18-3AFA-3737CE754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45FD22-078D-08F0-F1DA-CE4A70C2120F}"/>
              </a:ext>
            </a:extLst>
          </p:cNvPr>
          <p:cNvSpPr>
            <a:spLocks noGrp="1"/>
          </p:cNvSpPr>
          <p:nvPr>
            <p:ph type="title"/>
          </p:nvPr>
        </p:nvSpPr>
        <p:spPr/>
        <p:txBody>
          <a:bodyPr/>
          <a:lstStyle/>
          <a:p>
            <a:r>
              <a:rPr lang="en-US" dirty="0"/>
              <a:t>KEY MEASUREMENTS</a:t>
            </a:r>
          </a:p>
        </p:txBody>
      </p:sp>
      <p:sp>
        <p:nvSpPr>
          <p:cNvPr id="3" name="Content Placeholder 2">
            <a:extLst>
              <a:ext uri="{FF2B5EF4-FFF2-40B4-BE49-F238E27FC236}">
                <a16:creationId xmlns:a16="http://schemas.microsoft.com/office/drawing/2014/main" id="{F75E66A3-B490-FC7A-E234-151318C09E56}"/>
              </a:ext>
            </a:extLst>
          </p:cNvPr>
          <p:cNvSpPr>
            <a:spLocks noGrp="1"/>
          </p:cNvSpPr>
          <p:nvPr>
            <p:ph idx="1"/>
          </p:nvPr>
        </p:nvSpPr>
        <p:spPr>
          <a:xfrm>
            <a:off x="1414239" y="3807847"/>
            <a:ext cx="10776967" cy="7373801"/>
          </a:xfrm>
        </p:spPr>
        <p:txBody>
          <a:bodyPr>
            <a:normAutofit/>
          </a:bodyPr>
          <a:lstStyle/>
          <a:p>
            <a:r>
              <a:rPr lang="en-US" sz="4300" b="1" dirty="0"/>
              <a:t>Font size</a:t>
            </a:r>
            <a:r>
              <a:rPr lang="en-US" sz="4300" dirty="0"/>
              <a:t> in CSS is set using</a:t>
            </a:r>
          </a:p>
          <a:p>
            <a:r>
              <a:rPr lang="en-US" sz="4300" b="1" dirty="0"/>
              <a:t>Example: </a:t>
            </a:r>
            <a:r>
              <a:rPr lang="en-US" sz="4300" dirty="0"/>
              <a:t>A user with visual impairment increases their </a:t>
            </a:r>
            <a:r>
              <a:rPr lang="en-US" sz="4300" b="1" dirty="0"/>
              <a:t>browser’s default font size</a:t>
            </a:r>
            <a:r>
              <a:rPr lang="en-US" sz="4300" dirty="0"/>
              <a:t>.</a:t>
            </a:r>
          </a:p>
          <a:p>
            <a:r>
              <a:rPr lang="en-US" sz="4300" dirty="0"/>
              <a:t>If your site uses </a:t>
            </a:r>
            <a:r>
              <a:rPr lang="en-US" sz="4300" b="1" dirty="0" err="1"/>
              <a:t>px</a:t>
            </a:r>
            <a:r>
              <a:rPr lang="en-US" sz="4300" b="1" dirty="0"/>
              <a:t>, the text stays small.</a:t>
            </a:r>
          </a:p>
          <a:p>
            <a:r>
              <a:rPr lang="en-US" sz="4300" dirty="0"/>
              <a:t>If your site uses </a:t>
            </a:r>
            <a:r>
              <a:rPr lang="en-US" sz="4300" b="1" dirty="0"/>
              <a:t>rem or %, </a:t>
            </a:r>
            <a:r>
              <a:rPr lang="en-US" sz="4300" dirty="0"/>
              <a:t>the text automatically grows with their setting.</a:t>
            </a:r>
          </a:p>
          <a:p>
            <a:endParaRPr lang="en-US" sz="4300" dirty="0"/>
          </a:p>
          <a:p>
            <a:endParaRPr lang="en-US" sz="4300" dirty="0"/>
          </a:p>
        </p:txBody>
      </p:sp>
      <p:pic>
        <p:nvPicPr>
          <p:cNvPr id="9" name="Picture 8" descr="A screenshot of a computer program&#10;&#10;AI-generated content may be incorrect.">
            <a:extLst>
              <a:ext uri="{FF2B5EF4-FFF2-40B4-BE49-F238E27FC236}">
                <a16:creationId xmlns:a16="http://schemas.microsoft.com/office/drawing/2014/main" id="{345C286B-FDC1-0594-032E-8A3B6FF7EDF8}"/>
              </a:ext>
            </a:extLst>
          </p:cNvPr>
          <p:cNvPicPr>
            <a:picLocks noChangeAspect="1"/>
          </p:cNvPicPr>
          <p:nvPr/>
        </p:nvPicPr>
        <p:blipFill>
          <a:blip r:embed="rId3"/>
          <a:stretch>
            <a:fillRect/>
          </a:stretch>
        </p:blipFill>
        <p:spPr>
          <a:xfrm>
            <a:off x="12453257" y="3807847"/>
            <a:ext cx="11307354" cy="4426120"/>
          </a:xfrm>
          <a:prstGeom prst="rect">
            <a:avLst/>
          </a:prstGeom>
        </p:spPr>
      </p:pic>
    </p:spTree>
    <p:extLst>
      <p:ext uri="{BB962C8B-B14F-4D97-AF65-F5344CB8AC3E}">
        <p14:creationId xmlns:p14="http://schemas.microsoft.com/office/powerpoint/2010/main" val="159368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D5770-866B-B5F7-214D-51F157262B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B767A-B31B-F771-4B8E-DD2CFD0F4896}"/>
              </a:ext>
            </a:extLst>
          </p:cNvPr>
          <p:cNvSpPr>
            <a:spLocks noGrp="1"/>
          </p:cNvSpPr>
          <p:nvPr>
            <p:ph type="title"/>
          </p:nvPr>
        </p:nvSpPr>
        <p:spPr/>
        <p:txBody>
          <a:bodyPr/>
          <a:lstStyle/>
          <a:p>
            <a:r>
              <a:rPr lang="en-US" dirty="0"/>
              <a:t>KEY MEASUREMENTS</a:t>
            </a:r>
          </a:p>
        </p:txBody>
      </p:sp>
      <p:graphicFrame>
        <p:nvGraphicFramePr>
          <p:cNvPr id="6" name="Table 5">
            <a:extLst>
              <a:ext uri="{FF2B5EF4-FFF2-40B4-BE49-F238E27FC236}">
                <a16:creationId xmlns:a16="http://schemas.microsoft.com/office/drawing/2014/main" id="{921E8FE3-BB78-DA8A-B4C7-E0B8AAE38BFC}"/>
              </a:ext>
            </a:extLst>
          </p:cNvPr>
          <p:cNvGraphicFramePr>
            <a:graphicFrameLocks noGrp="1"/>
          </p:cNvGraphicFramePr>
          <p:nvPr/>
        </p:nvGraphicFramePr>
        <p:xfrm>
          <a:off x="1938451" y="8442020"/>
          <a:ext cx="21029612" cy="2873130"/>
        </p:xfrm>
        <a:graphic>
          <a:graphicData uri="http://schemas.openxmlformats.org/drawingml/2006/table">
            <a:tbl>
              <a:tblPr/>
              <a:tblGrid>
                <a:gridCol w="10514806">
                  <a:extLst>
                    <a:ext uri="{9D8B030D-6E8A-4147-A177-3AD203B41FA5}">
                      <a16:colId xmlns:a16="http://schemas.microsoft.com/office/drawing/2014/main" val="818743235"/>
                    </a:ext>
                  </a:extLst>
                </a:gridCol>
                <a:gridCol w="10514806">
                  <a:extLst>
                    <a:ext uri="{9D8B030D-6E8A-4147-A177-3AD203B41FA5}">
                      <a16:colId xmlns:a16="http://schemas.microsoft.com/office/drawing/2014/main" val="3245042417"/>
                    </a:ext>
                  </a:extLst>
                </a:gridCol>
              </a:tblGrid>
              <a:tr h="566079">
                <a:tc>
                  <a:txBody>
                    <a:bodyPr/>
                    <a:lstStyle/>
                    <a:p>
                      <a:r>
                        <a:rPr lang="en-CA" sz="3600" b="1" dirty="0"/>
                        <a:t>Fixed Units (</a:t>
                      </a:r>
                      <a:r>
                        <a:rPr lang="en-CA" sz="3600" b="1" dirty="0" err="1"/>
                        <a:t>px</a:t>
                      </a:r>
                      <a:r>
                        <a:rPr lang="en-CA" sz="3600" b="1" dirty="0"/>
                        <a:t>)</a:t>
                      </a:r>
                    </a:p>
                  </a:txBody>
                  <a:tcPr anchor="ctr">
                    <a:lnL>
                      <a:noFill/>
                    </a:lnL>
                    <a:lnR>
                      <a:noFill/>
                    </a:lnR>
                    <a:lnT>
                      <a:noFill/>
                    </a:lnT>
                    <a:lnB>
                      <a:noFill/>
                    </a:lnB>
                    <a:noFill/>
                  </a:tcPr>
                </a:tc>
                <a:tc>
                  <a:txBody>
                    <a:bodyPr/>
                    <a:lstStyle/>
                    <a:p>
                      <a:r>
                        <a:rPr lang="en-CA" sz="3600" b="1" dirty="0"/>
                        <a:t>Relative Units (rem, </a:t>
                      </a:r>
                      <a:r>
                        <a:rPr lang="en-CA" sz="3600" b="1" dirty="0" err="1"/>
                        <a:t>em</a:t>
                      </a:r>
                      <a:r>
                        <a:rPr lang="en-CA" sz="3600" b="1" dirty="0"/>
                        <a:t>, %)</a:t>
                      </a:r>
                    </a:p>
                  </a:txBody>
                  <a:tcPr anchor="ctr">
                    <a:lnL>
                      <a:noFill/>
                    </a:lnL>
                    <a:lnR>
                      <a:noFill/>
                    </a:lnR>
                    <a:lnT>
                      <a:noFill/>
                    </a:lnT>
                    <a:lnB>
                      <a:noFill/>
                    </a:lnB>
                    <a:noFill/>
                  </a:tcPr>
                </a:tc>
                <a:extLst>
                  <a:ext uri="{0D108BD9-81ED-4DB2-BD59-A6C34878D82A}">
                    <a16:rowId xmlns:a16="http://schemas.microsoft.com/office/drawing/2014/main" val="3270910701"/>
                  </a:ext>
                </a:extLst>
              </a:tr>
              <a:tr h="566079">
                <a:tc>
                  <a:txBody>
                    <a:bodyPr/>
                    <a:lstStyle/>
                    <a:p>
                      <a:r>
                        <a:rPr lang="en-US" sz="3600"/>
                        <a:t>Set an exact, unchanging size</a:t>
                      </a:r>
                    </a:p>
                  </a:txBody>
                  <a:tcPr anchor="ctr">
                    <a:lnL>
                      <a:noFill/>
                    </a:lnL>
                    <a:lnR>
                      <a:noFill/>
                    </a:lnR>
                    <a:lnT>
                      <a:noFill/>
                    </a:lnT>
                    <a:lnB>
                      <a:noFill/>
                    </a:lnB>
                    <a:noFill/>
                  </a:tcPr>
                </a:tc>
                <a:tc>
                  <a:txBody>
                    <a:bodyPr/>
                    <a:lstStyle/>
                    <a:p>
                      <a:r>
                        <a:rPr lang="en-US" sz="3600" dirty="0"/>
                        <a:t>Scale up/down with user or device settings</a:t>
                      </a:r>
                    </a:p>
                  </a:txBody>
                  <a:tcPr anchor="ctr">
                    <a:lnL>
                      <a:noFill/>
                    </a:lnL>
                    <a:lnR>
                      <a:noFill/>
                    </a:lnR>
                    <a:lnT>
                      <a:noFill/>
                    </a:lnT>
                    <a:lnB>
                      <a:noFill/>
                    </a:lnB>
                    <a:noFill/>
                  </a:tcPr>
                </a:tc>
                <a:extLst>
                  <a:ext uri="{0D108BD9-81ED-4DB2-BD59-A6C34878D82A}">
                    <a16:rowId xmlns:a16="http://schemas.microsoft.com/office/drawing/2014/main" val="2300637981"/>
                  </a:ext>
                </a:extLst>
              </a:tr>
              <a:tr h="952890">
                <a:tc>
                  <a:txBody>
                    <a:bodyPr/>
                    <a:lstStyle/>
                    <a:p>
                      <a:r>
                        <a:rPr lang="en-CA" sz="3600" dirty="0"/>
                        <a:t>Don’t respect browser zoom</a:t>
                      </a:r>
                    </a:p>
                  </a:txBody>
                  <a:tcPr anchor="ctr">
                    <a:lnL>
                      <a:noFill/>
                    </a:lnL>
                    <a:lnR>
                      <a:noFill/>
                    </a:lnR>
                    <a:lnT>
                      <a:noFill/>
                    </a:lnT>
                    <a:lnB>
                      <a:noFill/>
                    </a:lnB>
                    <a:noFill/>
                  </a:tcPr>
                </a:tc>
                <a:tc>
                  <a:txBody>
                    <a:bodyPr/>
                    <a:lstStyle/>
                    <a:p>
                      <a:r>
                        <a:rPr lang="en-US" sz="3600"/>
                        <a:t>Fully respect user zoom preferences</a:t>
                      </a:r>
                    </a:p>
                  </a:txBody>
                  <a:tcPr anchor="ctr">
                    <a:lnL>
                      <a:noFill/>
                    </a:lnL>
                    <a:lnR>
                      <a:noFill/>
                    </a:lnR>
                    <a:lnT>
                      <a:noFill/>
                    </a:lnT>
                    <a:lnB>
                      <a:noFill/>
                    </a:lnB>
                    <a:noFill/>
                  </a:tcPr>
                </a:tc>
                <a:extLst>
                  <a:ext uri="{0D108BD9-81ED-4DB2-BD59-A6C34878D82A}">
                    <a16:rowId xmlns:a16="http://schemas.microsoft.com/office/drawing/2014/main" val="1727508951"/>
                  </a:ext>
                </a:extLst>
              </a:tr>
              <a:tr h="566079">
                <a:tc>
                  <a:txBody>
                    <a:bodyPr/>
                    <a:lstStyle/>
                    <a:p>
                      <a:r>
                        <a:rPr lang="en-CA" sz="3600"/>
                        <a:t>Can harm accessibility</a:t>
                      </a:r>
                    </a:p>
                  </a:txBody>
                  <a:tcPr anchor="ctr">
                    <a:lnL>
                      <a:noFill/>
                    </a:lnL>
                    <a:lnR>
                      <a:noFill/>
                    </a:lnR>
                    <a:lnT>
                      <a:noFill/>
                    </a:lnT>
                    <a:lnB>
                      <a:noFill/>
                    </a:lnB>
                    <a:noFill/>
                  </a:tcPr>
                </a:tc>
                <a:tc>
                  <a:txBody>
                    <a:bodyPr/>
                    <a:lstStyle/>
                    <a:p>
                      <a:r>
                        <a:rPr lang="en-US" sz="3600" dirty="0"/>
                        <a:t>Improve readability across screens and devices</a:t>
                      </a:r>
                    </a:p>
                  </a:txBody>
                  <a:tcPr anchor="ctr">
                    <a:lnL>
                      <a:noFill/>
                    </a:lnL>
                    <a:lnR>
                      <a:noFill/>
                    </a:lnR>
                    <a:lnT>
                      <a:noFill/>
                    </a:lnT>
                    <a:lnB>
                      <a:noFill/>
                    </a:lnB>
                    <a:noFill/>
                  </a:tcPr>
                </a:tc>
                <a:extLst>
                  <a:ext uri="{0D108BD9-81ED-4DB2-BD59-A6C34878D82A}">
                    <a16:rowId xmlns:a16="http://schemas.microsoft.com/office/drawing/2014/main" val="777396053"/>
                  </a:ext>
                </a:extLst>
              </a:tr>
            </a:tbl>
          </a:graphicData>
        </a:graphic>
      </p:graphicFrame>
      <p:sp>
        <p:nvSpPr>
          <p:cNvPr id="5" name="Content Placeholder 4">
            <a:extLst>
              <a:ext uri="{FF2B5EF4-FFF2-40B4-BE49-F238E27FC236}">
                <a16:creationId xmlns:a16="http://schemas.microsoft.com/office/drawing/2014/main" id="{3363757E-00F1-46DE-BE79-C977C40CC97B}"/>
              </a:ext>
            </a:extLst>
          </p:cNvPr>
          <p:cNvSpPr>
            <a:spLocks noGrp="1"/>
          </p:cNvSpPr>
          <p:nvPr>
            <p:ph idx="1"/>
          </p:nvPr>
        </p:nvSpPr>
        <p:spPr>
          <a:xfrm>
            <a:off x="1676291" y="3651250"/>
            <a:ext cx="17678509" cy="3925207"/>
          </a:xfrm>
        </p:spPr>
        <p:txBody>
          <a:bodyPr>
            <a:normAutofit fontScale="92500" lnSpcReduction="10000"/>
          </a:bodyPr>
          <a:lstStyle/>
          <a:p>
            <a:r>
              <a:rPr lang="en-US" b="1" dirty="0"/>
              <a:t>Best Practice</a:t>
            </a:r>
          </a:p>
          <a:p>
            <a:r>
              <a:rPr lang="en-US" dirty="0"/>
              <a:t>Use rem for consistent, accessible font sizing based on the root element.</a:t>
            </a:r>
          </a:p>
          <a:p>
            <a:r>
              <a:rPr lang="en-US" dirty="0"/>
              <a:t>Only use </a:t>
            </a:r>
            <a:r>
              <a:rPr lang="en-US" dirty="0" err="1"/>
              <a:t>px</a:t>
            </a:r>
            <a:r>
              <a:rPr lang="en-US" dirty="0"/>
              <a:t> for things that should not scale, like borders or precise layouts</a:t>
            </a:r>
            <a:endParaRPr lang="en-CA" dirty="0"/>
          </a:p>
        </p:txBody>
      </p:sp>
    </p:spTree>
    <p:extLst>
      <p:ext uri="{BB962C8B-B14F-4D97-AF65-F5344CB8AC3E}">
        <p14:creationId xmlns:p14="http://schemas.microsoft.com/office/powerpoint/2010/main" val="16487986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9C711-D576-2120-99C1-DA77CC9377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EF6C2F-9530-6184-E342-A254C40D54D5}"/>
              </a:ext>
            </a:extLst>
          </p:cNvPr>
          <p:cNvSpPr>
            <a:spLocks noGrp="1"/>
          </p:cNvSpPr>
          <p:nvPr>
            <p:ph type="title"/>
          </p:nvPr>
        </p:nvSpPr>
        <p:spPr/>
        <p:txBody>
          <a:bodyPr/>
          <a:lstStyle/>
          <a:p>
            <a:r>
              <a:rPr lang="en-US" dirty="0"/>
              <a:t>KEY MEASUREMENTS</a:t>
            </a:r>
          </a:p>
        </p:txBody>
      </p:sp>
      <p:pic>
        <p:nvPicPr>
          <p:cNvPr id="5" name="Picture 4" descr="A close-up of a typeface&#10;&#10;AI-generated content may be incorrect.">
            <a:extLst>
              <a:ext uri="{FF2B5EF4-FFF2-40B4-BE49-F238E27FC236}">
                <a16:creationId xmlns:a16="http://schemas.microsoft.com/office/drawing/2014/main" id="{9ACD3688-D8DB-60DC-5FD0-9A783130C1D5}"/>
              </a:ext>
            </a:extLst>
          </p:cNvPr>
          <p:cNvPicPr>
            <a:picLocks noChangeAspect="1"/>
          </p:cNvPicPr>
          <p:nvPr/>
        </p:nvPicPr>
        <p:blipFill>
          <a:blip r:embed="rId3"/>
          <a:stretch>
            <a:fillRect/>
          </a:stretch>
        </p:blipFill>
        <p:spPr>
          <a:xfrm>
            <a:off x="9995899" y="3381377"/>
            <a:ext cx="14217414" cy="6322314"/>
          </a:xfrm>
          <a:prstGeom prst="rect">
            <a:avLst/>
          </a:prstGeom>
        </p:spPr>
      </p:pic>
      <p:sp>
        <p:nvSpPr>
          <p:cNvPr id="3" name="Content Placeholder 2">
            <a:extLst>
              <a:ext uri="{FF2B5EF4-FFF2-40B4-BE49-F238E27FC236}">
                <a16:creationId xmlns:a16="http://schemas.microsoft.com/office/drawing/2014/main" id="{D5513261-5E49-834B-812B-4069BE3AD0FD}"/>
              </a:ext>
            </a:extLst>
          </p:cNvPr>
          <p:cNvSpPr>
            <a:spLocks noGrp="1"/>
          </p:cNvSpPr>
          <p:nvPr>
            <p:ph idx="1"/>
          </p:nvPr>
        </p:nvSpPr>
        <p:spPr>
          <a:xfrm>
            <a:off x="1676291" y="3651250"/>
            <a:ext cx="12222589" cy="7373801"/>
          </a:xfrm>
        </p:spPr>
        <p:txBody>
          <a:bodyPr>
            <a:normAutofit/>
          </a:bodyPr>
          <a:lstStyle/>
          <a:p>
            <a:r>
              <a:rPr lang="en-US" sz="4300" dirty="0"/>
              <a:t>One of the important characteristics of typography is </a:t>
            </a:r>
            <a:r>
              <a:rPr lang="en-US" sz="4300" b="1" dirty="0"/>
              <a:t>leading</a:t>
            </a:r>
            <a:r>
              <a:rPr lang="en-US" sz="4300" dirty="0"/>
              <a:t>, which is the distance between the baselines of adjacent lines of text.</a:t>
            </a:r>
          </a:p>
          <a:p>
            <a:r>
              <a:rPr lang="en-US" sz="4300" dirty="0"/>
              <a:t> </a:t>
            </a:r>
            <a:r>
              <a:rPr lang="en-US" sz="4300" b="1" dirty="0"/>
              <a:t>Leading </a:t>
            </a:r>
            <a:r>
              <a:rPr lang="en-US" sz="4300" dirty="0"/>
              <a:t>should not be confused with line spacing, which is the distance from the baseline to the top of the lowercase letters on the next line.</a:t>
            </a:r>
          </a:p>
          <a:p>
            <a:pPr marL="0" indent="0">
              <a:buNone/>
            </a:pPr>
            <a:endParaRPr lang="en-US" sz="4300" dirty="0"/>
          </a:p>
        </p:txBody>
      </p:sp>
    </p:spTree>
    <p:extLst>
      <p:ext uri="{BB962C8B-B14F-4D97-AF65-F5344CB8AC3E}">
        <p14:creationId xmlns:p14="http://schemas.microsoft.com/office/powerpoint/2010/main" val="31985888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3E140-A684-301D-BCAE-865F6C4EB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2F25B1-DC28-C990-A9EB-6802B79CC224}"/>
              </a:ext>
            </a:extLst>
          </p:cNvPr>
          <p:cNvSpPr>
            <a:spLocks noGrp="1"/>
          </p:cNvSpPr>
          <p:nvPr>
            <p:ph type="title"/>
          </p:nvPr>
        </p:nvSpPr>
        <p:spPr>
          <a:xfrm>
            <a:off x="1676291" y="730251"/>
            <a:ext cx="21029831" cy="2651126"/>
          </a:xfrm>
        </p:spPr>
        <p:txBody>
          <a:bodyPr anchor="ctr">
            <a:normAutofit/>
          </a:bodyPr>
          <a:lstStyle/>
          <a:p>
            <a:r>
              <a:rPr lang="en-US" dirty="0"/>
              <a:t>line-height: Spacing Between Lines</a:t>
            </a:r>
          </a:p>
        </p:txBody>
      </p:sp>
      <p:sp>
        <p:nvSpPr>
          <p:cNvPr id="3" name="Content Placeholder 2">
            <a:extLst>
              <a:ext uri="{FF2B5EF4-FFF2-40B4-BE49-F238E27FC236}">
                <a16:creationId xmlns:a16="http://schemas.microsoft.com/office/drawing/2014/main" id="{A9A7CD3E-8045-E874-37DA-8A25C8C1C9E1}"/>
              </a:ext>
            </a:extLst>
          </p:cNvPr>
          <p:cNvSpPr>
            <a:spLocks noGrp="1"/>
          </p:cNvSpPr>
          <p:nvPr>
            <p:ph sz="half" idx="1"/>
          </p:nvPr>
        </p:nvSpPr>
        <p:spPr>
          <a:xfrm>
            <a:off x="1676291" y="3651249"/>
            <a:ext cx="10362526" cy="9101365"/>
          </a:xfrm>
        </p:spPr>
        <p:txBody>
          <a:bodyPr>
            <a:normAutofit fontScale="77500" lnSpcReduction="20000"/>
          </a:bodyPr>
          <a:lstStyle/>
          <a:p>
            <a:pPr marL="0" indent="0">
              <a:buNone/>
            </a:pPr>
            <a:r>
              <a:rPr lang="en-US" b="1" dirty="0"/>
              <a:t>What it does:</a:t>
            </a:r>
          </a:p>
          <a:p>
            <a:r>
              <a:rPr lang="en-US" dirty="0"/>
              <a:t>Controls the vertical space between lines of text in a block (like paragraphs or headings).Helps make text more readable by avoiding cramped lines.</a:t>
            </a:r>
          </a:p>
          <a:p>
            <a:pPr marL="0" indent="0">
              <a:buNone/>
            </a:pPr>
            <a:r>
              <a:rPr lang="en-US" b="1" dirty="0"/>
              <a:t>Best practice:</a:t>
            </a:r>
          </a:p>
          <a:p>
            <a:r>
              <a:rPr lang="en-US" dirty="0"/>
              <a:t>Use unitless values like 1.5, not </a:t>
            </a:r>
            <a:r>
              <a:rPr lang="en-US" dirty="0" err="1"/>
              <a:t>px</a:t>
            </a:r>
            <a:r>
              <a:rPr lang="en-US" dirty="0"/>
              <a:t>, so it scales with the font size.</a:t>
            </a:r>
          </a:p>
          <a:p>
            <a:r>
              <a:rPr lang="en-US" dirty="0"/>
              <a:t>This keeps spacing consistent even when font size changes </a:t>
            </a:r>
            <a:r>
              <a:rPr lang="en-US" b="1" dirty="0"/>
              <a:t>responsively.</a:t>
            </a:r>
          </a:p>
          <a:p>
            <a:pPr marL="0" indent="0">
              <a:buNone/>
            </a:pPr>
            <a:r>
              <a:rPr lang="en-US" b="1" dirty="0"/>
              <a:t>Why it matters:</a:t>
            </a:r>
          </a:p>
          <a:p>
            <a:r>
              <a:rPr lang="en-US" dirty="0"/>
              <a:t>Good line-height improves readability, especially for body text.</a:t>
            </a:r>
          </a:p>
          <a:p>
            <a:r>
              <a:rPr lang="en-US" dirty="0"/>
              <a:t>Too tight? Hard to read. Too loose? Feels disconnected.</a:t>
            </a:r>
          </a:p>
        </p:txBody>
      </p:sp>
      <p:pic>
        <p:nvPicPr>
          <p:cNvPr id="5" name="Picture 4" descr="A close-up of a number&#10;&#10;AI-generated content may be incorrect.">
            <a:extLst>
              <a:ext uri="{FF2B5EF4-FFF2-40B4-BE49-F238E27FC236}">
                <a16:creationId xmlns:a16="http://schemas.microsoft.com/office/drawing/2014/main" id="{1D831892-BB01-646E-D1C8-0366B4D5CBCE}"/>
              </a:ext>
            </a:extLst>
          </p:cNvPr>
          <p:cNvPicPr>
            <a:picLocks noChangeAspect="1"/>
          </p:cNvPicPr>
          <p:nvPr/>
        </p:nvPicPr>
        <p:blipFill>
          <a:blip r:embed="rId3"/>
          <a:stretch>
            <a:fillRect/>
          </a:stretch>
        </p:blipFill>
        <p:spPr>
          <a:xfrm>
            <a:off x="11999490" y="3381377"/>
            <a:ext cx="12382923" cy="3197071"/>
          </a:xfrm>
          <a:prstGeom prst="rect">
            <a:avLst/>
          </a:prstGeom>
        </p:spPr>
      </p:pic>
    </p:spTree>
    <p:extLst>
      <p:ext uri="{BB962C8B-B14F-4D97-AF65-F5344CB8AC3E}">
        <p14:creationId xmlns:p14="http://schemas.microsoft.com/office/powerpoint/2010/main" val="18589714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9C8F0-57C1-7FA3-23DD-4E2CA59BDC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A7D1B0-26EB-1492-25D3-5AB185E4F268}"/>
              </a:ext>
            </a:extLst>
          </p:cNvPr>
          <p:cNvSpPr>
            <a:spLocks noGrp="1"/>
          </p:cNvSpPr>
          <p:nvPr>
            <p:ph type="title"/>
          </p:nvPr>
        </p:nvSpPr>
        <p:spPr>
          <a:xfrm>
            <a:off x="1676291" y="730251"/>
            <a:ext cx="21029831" cy="2651126"/>
          </a:xfrm>
        </p:spPr>
        <p:txBody>
          <a:bodyPr anchor="ctr">
            <a:normAutofit/>
          </a:bodyPr>
          <a:lstStyle/>
          <a:p>
            <a:r>
              <a:rPr lang="en-US" dirty="0"/>
              <a:t>letter-spacing: Space Between Letters</a:t>
            </a:r>
          </a:p>
        </p:txBody>
      </p:sp>
      <p:sp>
        <p:nvSpPr>
          <p:cNvPr id="3" name="Content Placeholder 2">
            <a:extLst>
              <a:ext uri="{FF2B5EF4-FFF2-40B4-BE49-F238E27FC236}">
                <a16:creationId xmlns:a16="http://schemas.microsoft.com/office/drawing/2014/main" id="{05E468CE-3BCD-915A-7BBD-F72F9667F905}"/>
              </a:ext>
            </a:extLst>
          </p:cNvPr>
          <p:cNvSpPr>
            <a:spLocks noGrp="1"/>
          </p:cNvSpPr>
          <p:nvPr>
            <p:ph sz="half" idx="1"/>
          </p:nvPr>
        </p:nvSpPr>
        <p:spPr>
          <a:xfrm>
            <a:off x="1676290" y="3651250"/>
            <a:ext cx="21029831" cy="5754008"/>
          </a:xfrm>
        </p:spPr>
        <p:txBody>
          <a:bodyPr>
            <a:normAutofit fontScale="62500" lnSpcReduction="20000"/>
          </a:bodyPr>
          <a:lstStyle/>
          <a:p>
            <a:pPr marL="0" indent="0">
              <a:buNone/>
            </a:pPr>
            <a:r>
              <a:rPr lang="en-US" b="1" dirty="0"/>
              <a:t>What it does:</a:t>
            </a:r>
          </a:p>
          <a:p>
            <a:r>
              <a:rPr lang="en-US" dirty="0"/>
              <a:t>Controls the </a:t>
            </a:r>
            <a:r>
              <a:rPr lang="en-US" b="1" dirty="0"/>
              <a:t>horizontal space between </a:t>
            </a:r>
            <a:r>
              <a:rPr lang="en-US" dirty="0"/>
              <a:t>characters in text.</a:t>
            </a:r>
          </a:p>
          <a:p>
            <a:r>
              <a:rPr lang="en-US" dirty="0"/>
              <a:t>Helps </a:t>
            </a:r>
            <a:r>
              <a:rPr lang="en-US" b="1" dirty="0"/>
              <a:t>improve legibility or adjust aesthetic </a:t>
            </a:r>
            <a:r>
              <a:rPr lang="en-US" dirty="0"/>
              <a:t>for headings/logo</a:t>
            </a:r>
          </a:p>
          <a:p>
            <a:pPr marL="0" indent="0">
              <a:buNone/>
            </a:pPr>
            <a:r>
              <a:rPr lang="en-US" b="1" dirty="0"/>
              <a:t>Use cases:</a:t>
            </a:r>
            <a:endParaRPr lang="en-US" dirty="0"/>
          </a:p>
          <a:p>
            <a:r>
              <a:rPr lang="en-US" dirty="0"/>
              <a:t>Slightly </a:t>
            </a:r>
            <a:r>
              <a:rPr lang="en-US" b="1" dirty="0"/>
              <a:t>increase spacing</a:t>
            </a:r>
            <a:r>
              <a:rPr lang="en-US" dirty="0"/>
              <a:t> for all-caps text or display fonts.</a:t>
            </a:r>
          </a:p>
          <a:p>
            <a:r>
              <a:rPr lang="en-US" b="1" dirty="0"/>
              <a:t>Tighten spacing</a:t>
            </a:r>
            <a:r>
              <a:rPr lang="en-US" dirty="0"/>
              <a:t> for large headlines or design-focused elements.</a:t>
            </a:r>
          </a:p>
          <a:p>
            <a:pPr marL="0" indent="0">
              <a:buNone/>
            </a:pPr>
            <a:r>
              <a:rPr lang="en-US" b="1" dirty="0"/>
              <a:t>Why it matters:</a:t>
            </a:r>
            <a:endParaRPr lang="en-US" dirty="0"/>
          </a:p>
          <a:p>
            <a:r>
              <a:rPr lang="en-US" dirty="0"/>
              <a:t>Can improve the visual flow of headings.</a:t>
            </a:r>
          </a:p>
          <a:p>
            <a:r>
              <a:rPr lang="en-US" dirty="0"/>
              <a:t>Enhances balance and legibility when used mindfully.</a:t>
            </a:r>
          </a:p>
          <a:p>
            <a:pPr marL="0" indent="0">
              <a:buNone/>
            </a:pPr>
            <a:endParaRPr lang="en-US" dirty="0"/>
          </a:p>
        </p:txBody>
      </p:sp>
      <p:pic>
        <p:nvPicPr>
          <p:cNvPr id="7" name="Picture 6" descr="A close-up of a computer code&#10;&#10;AI-generated content may be incorrect.">
            <a:extLst>
              <a:ext uri="{FF2B5EF4-FFF2-40B4-BE49-F238E27FC236}">
                <a16:creationId xmlns:a16="http://schemas.microsoft.com/office/drawing/2014/main" id="{F267428A-3BAA-40CD-4185-D2905157AF76}"/>
              </a:ext>
            </a:extLst>
          </p:cNvPr>
          <p:cNvPicPr>
            <a:picLocks noChangeAspect="1"/>
          </p:cNvPicPr>
          <p:nvPr/>
        </p:nvPicPr>
        <p:blipFill>
          <a:blip r:embed="rId3"/>
          <a:stretch>
            <a:fillRect/>
          </a:stretch>
        </p:blipFill>
        <p:spPr>
          <a:xfrm>
            <a:off x="1676291" y="9675131"/>
            <a:ext cx="13909702" cy="2650670"/>
          </a:xfrm>
          <a:prstGeom prst="rect">
            <a:avLst/>
          </a:prstGeom>
        </p:spPr>
      </p:pic>
    </p:spTree>
    <p:extLst>
      <p:ext uri="{BB962C8B-B14F-4D97-AF65-F5344CB8AC3E}">
        <p14:creationId xmlns:p14="http://schemas.microsoft.com/office/powerpoint/2010/main" val="2625004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FB6D1D-E21F-9CA8-D773-9009BFD002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7E41B-E7EA-E065-2297-FC4714F965E4}"/>
              </a:ext>
            </a:extLst>
          </p:cNvPr>
          <p:cNvSpPr>
            <a:spLocks noGrp="1"/>
          </p:cNvSpPr>
          <p:nvPr>
            <p:ph type="title"/>
          </p:nvPr>
        </p:nvSpPr>
        <p:spPr>
          <a:xfrm>
            <a:off x="1676291" y="730251"/>
            <a:ext cx="21029831" cy="2651126"/>
          </a:xfrm>
        </p:spPr>
        <p:txBody>
          <a:bodyPr anchor="ctr">
            <a:normAutofit/>
          </a:bodyPr>
          <a:lstStyle/>
          <a:p>
            <a:r>
              <a:rPr lang="en-US" dirty="0"/>
              <a:t>Other Font Styles</a:t>
            </a:r>
          </a:p>
        </p:txBody>
      </p:sp>
      <p:sp>
        <p:nvSpPr>
          <p:cNvPr id="3" name="Content Placeholder 2">
            <a:extLst>
              <a:ext uri="{FF2B5EF4-FFF2-40B4-BE49-F238E27FC236}">
                <a16:creationId xmlns:a16="http://schemas.microsoft.com/office/drawing/2014/main" id="{F34A6C73-DB5A-7646-728D-F922E1F4B2C8}"/>
              </a:ext>
            </a:extLst>
          </p:cNvPr>
          <p:cNvSpPr>
            <a:spLocks noGrp="1"/>
          </p:cNvSpPr>
          <p:nvPr>
            <p:ph sz="half" idx="1"/>
          </p:nvPr>
        </p:nvSpPr>
        <p:spPr>
          <a:xfrm>
            <a:off x="1872233" y="2990396"/>
            <a:ext cx="21029831" cy="9680575"/>
          </a:xfrm>
        </p:spPr>
        <p:txBody>
          <a:bodyPr>
            <a:normAutofit lnSpcReduction="10000"/>
          </a:bodyPr>
          <a:lstStyle/>
          <a:p>
            <a:pPr marL="0" indent="0">
              <a:buNone/>
            </a:pPr>
            <a:r>
              <a:rPr lang="en-US" b="1" dirty="0"/>
              <a:t>font-style: </a:t>
            </a:r>
            <a:r>
              <a:rPr lang="en-US" dirty="0"/>
              <a:t>normal, italic, oblique</a:t>
            </a:r>
          </a:p>
          <a:p>
            <a:pPr lvl="2"/>
            <a:r>
              <a:rPr lang="en-US" b="1" dirty="0"/>
              <a:t>Example: </a:t>
            </a:r>
            <a:r>
              <a:rPr lang="en-US" dirty="0"/>
              <a:t>font-style: italic;</a:t>
            </a:r>
          </a:p>
          <a:p>
            <a:pPr marL="0" indent="0">
              <a:buNone/>
            </a:pPr>
            <a:r>
              <a:rPr lang="en-US" b="1" dirty="0"/>
              <a:t>font-variant: </a:t>
            </a:r>
            <a:r>
              <a:rPr lang="en-US" dirty="0"/>
              <a:t>normal, small-caps</a:t>
            </a:r>
          </a:p>
          <a:p>
            <a:pPr lvl="2"/>
            <a:r>
              <a:rPr lang="en-US" b="1" dirty="0"/>
              <a:t>Example: </a:t>
            </a:r>
            <a:r>
              <a:rPr lang="en-US" dirty="0"/>
              <a:t>font-variant: small-caps;</a:t>
            </a:r>
          </a:p>
          <a:p>
            <a:pPr marL="0" indent="0">
              <a:buNone/>
            </a:pPr>
            <a:r>
              <a:rPr lang="en-US" b="1" dirty="0"/>
              <a:t>font-weight: </a:t>
            </a:r>
            <a:r>
              <a:rPr lang="en-US" dirty="0"/>
              <a:t>normal, bold, bolder, lighter, or numeric 100–900</a:t>
            </a:r>
          </a:p>
          <a:p>
            <a:pPr lvl="1"/>
            <a:r>
              <a:rPr lang="en-US" b="1" dirty="0"/>
              <a:t>Example: </a:t>
            </a:r>
          </a:p>
          <a:p>
            <a:pPr lvl="2"/>
            <a:r>
              <a:rPr lang="en-US" dirty="0"/>
              <a:t>font-weight: bold;</a:t>
            </a:r>
          </a:p>
          <a:p>
            <a:pPr lvl="2"/>
            <a:r>
              <a:rPr lang="en-US" dirty="0"/>
              <a:t>font-weight: 500;</a:t>
            </a:r>
          </a:p>
          <a:p>
            <a:pPr marL="0" indent="0">
              <a:buNone/>
            </a:pPr>
            <a:r>
              <a:rPr lang="en-US" b="1" dirty="0"/>
              <a:t>text-transform: </a:t>
            </a:r>
            <a:r>
              <a:rPr lang="en-US" dirty="0"/>
              <a:t>uppercase | lowercase | capitalize</a:t>
            </a:r>
          </a:p>
          <a:p>
            <a:pPr marL="0" indent="0">
              <a:buNone/>
            </a:pPr>
            <a:r>
              <a:rPr lang="en-US" b="1" dirty="0"/>
              <a:t>text-align: </a:t>
            </a:r>
            <a:r>
              <a:rPr lang="en-US" dirty="0"/>
              <a:t>left | center | right</a:t>
            </a:r>
          </a:p>
          <a:p>
            <a:pPr marL="0" indent="0">
              <a:buNone/>
            </a:pPr>
            <a:r>
              <a:rPr lang="en-US" b="1" dirty="0"/>
              <a:t>font-stretch: </a:t>
            </a:r>
            <a:r>
              <a:rPr lang="en-US" dirty="0"/>
              <a:t>ultra-condensed → ultra-expanded (only works if font supports)</a:t>
            </a:r>
          </a:p>
        </p:txBody>
      </p:sp>
    </p:spTree>
    <p:extLst>
      <p:ext uri="{BB962C8B-B14F-4D97-AF65-F5344CB8AC3E}">
        <p14:creationId xmlns:p14="http://schemas.microsoft.com/office/powerpoint/2010/main" val="5505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1557B-BAE5-B8C4-F14C-C9C676D74541}"/>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9A707A5-E8AB-7EBB-1B8F-BBBEF5897659}"/>
              </a:ext>
            </a:extLst>
          </p:cNvPr>
          <p:cNvSpPr>
            <a:spLocks noGrp="1"/>
          </p:cNvSpPr>
          <p:nvPr>
            <p:ph type="body" sz="quarter" idx="10"/>
          </p:nvPr>
        </p:nvSpPr>
        <p:spPr>
          <a:xfrm>
            <a:off x="3662665" y="5705856"/>
            <a:ext cx="17057081" cy="3450109"/>
          </a:xfrm>
        </p:spPr>
        <p:txBody>
          <a:bodyPr>
            <a:normAutofit/>
          </a:bodyPr>
          <a:lstStyle/>
          <a:p>
            <a:r>
              <a:rPr lang="en-US" b="1" dirty="0"/>
              <a:t>FONT CLASSIFICATIONS</a:t>
            </a:r>
          </a:p>
        </p:txBody>
      </p:sp>
    </p:spTree>
    <p:extLst>
      <p:ext uri="{BB962C8B-B14F-4D97-AF65-F5344CB8AC3E}">
        <p14:creationId xmlns:p14="http://schemas.microsoft.com/office/powerpoint/2010/main" val="3913100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22AD4-6CFE-3B45-D825-502ED0A6AD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365D82-6BE6-8265-8430-B9A05AE55A1A}"/>
              </a:ext>
            </a:extLst>
          </p:cNvPr>
          <p:cNvSpPr>
            <a:spLocks noGrp="1"/>
          </p:cNvSpPr>
          <p:nvPr>
            <p:ph type="title"/>
          </p:nvPr>
        </p:nvSpPr>
        <p:spPr>
          <a:xfrm>
            <a:off x="1676291" y="730251"/>
            <a:ext cx="21029831" cy="2651126"/>
          </a:xfrm>
        </p:spPr>
        <p:txBody>
          <a:bodyPr anchor="ctr">
            <a:normAutofit/>
          </a:bodyPr>
          <a:lstStyle/>
          <a:p>
            <a:r>
              <a:rPr lang="en-US" dirty="0"/>
              <a:t>Serif Fonts</a:t>
            </a:r>
          </a:p>
        </p:txBody>
      </p:sp>
      <p:sp>
        <p:nvSpPr>
          <p:cNvPr id="3" name="Content Placeholder 2">
            <a:extLst>
              <a:ext uri="{FF2B5EF4-FFF2-40B4-BE49-F238E27FC236}">
                <a16:creationId xmlns:a16="http://schemas.microsoft.com/office/drawing/2014/main" id="{8E2D3900-1806-64D7-D3E5-102D662BF525}"/>
              </a:ext>
            </a:extLst>
          </p:cNvPr>
          <p:cNvSpPr>
            <a:spLocks noGrp="1"/>
          </p:cNvSpPr>
          <p:nvPr>
            <p:ph sz="half" idx="1"/>
          </p:nvPr>
        </p:nvSpPr>
        <p:spPr>
          <a:xfrm>
            <a:off x="1676291" y="3651249"/>
            <a:ext cx="10362526" cy="9101365"/>
          </a:xfrm>
        </p:spPr>
        <p:txBody>
          <a:bodyPr>
            <a:normAutofit/>
          </a:bodyPr>
          <a:lstStyle/>
          <a:p>
            <a:r>
              <a:rPr lang="en-US" sz="4300" dirty="0"/>
              <a:t> Serif fonts are one of the most popular and widespread types of fonts. These are elegant and sophisticated fonts that emphasize the high status of the project in which they are used.</a:t>
            </a:r>
          </a:p>
          <a:p>
            <a:r>
              <a:rPr lang="en-US" sz="4300" dirty="0"/>
              <a:t> Such fonts are traditionally associated with a high level of intelligence, wealth and confidence.</a:t>
            </a:r>
          </a:p>
          <a:p>
            <a:r>
              <a:rPr lang="en-US" sz="4300" dirty="0"/>
              <a:t> They are often used to create identities and websites of law firms, various insurance companies, translation agencies and banks.</a:t>
            </a:r>
          </a:p>
          <a:p>
            <a:endParaRPr lang="en-US" sz="4300" dirty="0"/>
          </a:p>
          <a:p>
            <a:endParaRPr lang="en-US" sz="4300" dirty="0"/>
          </a:p>
        </p:txBody>
      </p:sp>
      <p:pic>
        <p:nvPicPr>
          <p:cNvPr id="5" name="Picture 4" descr="A black and white text&#10;&#10;AI-generated content may be incorrect.">
            <a:extLst>
              <a:ext uri="{FF2B5EF4-FFF2-40B4-BE49-F238E27FC236}">
                <a16:creationId xmlns:a16="http://schemas.microsoft.com/office/drawing/2014/main" id="{13632C60-F3CE-BB15-C5DE-2F99FA300424}"/>
              </a:ext>
            </a:extLst>
          </p:cNvPr>
          <p:cNvPicPr>
            <a:picLocks noChangeAspect="1"/>
          </p:cNvPicPr>
          <p:nvPr/>
        </p:nvPicPr>
        <p:blipFill>
          <a:blip r:embed="rId3"/>
          <a:srcRect l="19841" r="26404"/>
          <a:stretch>
            <a:fillRect/>
          </a:stretch>
        </p:blipFill>
        <p:spPr>
          <a:xfrm>
            <a:off x="12705546" y="3651249"/>
            <a:ext cx="10706904" cy="7566479"/>
          </a:xfrm>
          <a:prstGeom prst="rect">
            <a:avLst/>
          </a:prstGeom>
          <a:noFill/>
        </p:spPr>
      </p:pic>
    </p:spTree>
    <p:extLst>
      <p:ext uri="{BB962C8B-B14F-4D97-AF65-F5344CB8AC3E}">
        <p14:creationId xmlns:p14="http://schemas.microsoft.com/office/powerpoint/2010/main" val="33999581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4A1ABE7-35BB-0D77-DFD7-63D7EC0632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0D1150-0BF2-F6C5-11ED-83E3F9F49A02}"/>
              </a:ext>
            </a:extLst>
          </p:cNvPr>
          <p:cNvSpPr>
            <a:spLocks noGrp="1"/>
          </p:cNvSpPr>
          <p:nvPr>
            <p:ph type="title"/>
          </p:nvPr>
        </p:nvSpPr>
        <p:spPr>
          <a:xfrm>
            <a:off x="961963" y="7505698"/>
            <a:ext cx="6581345" cy="4905374"/>
          </a:xfrm>
        </p:spPr>
        <p:txBody>
          <a:bodyPr vert="horz" lIns="91440" tIns="45720" rIns="91440" bIns="45720" rtlCol="0" anchor="ctr">
            <a:normAutofit/>
          </a:bodyPr>
          <a:lstStyle/>
          <a:p>
            <a:pPr defTabSz="914400"/>
            <a:r>
              <a:rPr lang="en-US" dirty="0">
                <a:latin typeface="+mj-lt"/>
                <a:cs typeface="+mj-cs"/>
              </a:rPr>
              <a:t>Slab serif fonts</a:t>
            </a:r>
          </a:p>
        </p:txBody>
      </p:sp>
      <p:pic>
        <p:nvPicPr>
          <p:cNvPr id="6" name="Picture 5" descr="A close-up of a font&#10;&#10;AI-generated content may be incorrect.">
            <a:extLst>
              <a:ext uri="{FF2B5EF4-FFF2-40B4-BE49-F238E27FC236}">
                <a16:creationId xmlns:a16="http://schemas.microsoft.com/office/drawing/2014/main" id="{B2E65BFC-D3D4-C340-BF5E-17B2A3E9BE21}"/>
              </a:ext>
            </a:extLst>
          </p:cNvPr>
          <p:cNvPicPr>
            <a:picLocks noChangeAspect="1"/>
          </p:cNvPicPr>
          <p:nvPr/>
        </p:nvPicPr>
        <p:blipFill>
          <a:blip r:embed="rId3"/>
          <a:srcRect t="14512" b="32324"/>
          <a:stretch>
            <a:fillRect/>
          </a:stretch>
        </p:blipFill>
        <p:spPr>
          <a:xfrm>
            <a:off x="20" y="10"/>
            <a:ext cx="24382392" cy="7421216"/>
          </a:xfrm>
          <a:custGeom>
            <a:avLst/>
            <a:gdLst/>
            <a:ahLst/>
            <a:cxnLst/>
            <a:rect l="l" t="t" r="r" b="b"/>
            <a:pathLst>
              <a:path w="12192000" h="3692092">
                <a:moveTo>
                  <a:pt x="0" y="0"/>
                </a:moveTo>
                <a:lnTo>
                  <a:pt x="12192000" y="0"/>
                </a:lnTo>
                <a:lnTo>
                  <a:pt x="12192000" y="3504824"/>
                </a:lnTo>
                <a:lnTo>
                  <a:pt x="12024691" y="3517794"/>
                </a:lnTo>
                <a:cubicBezTo>
                  <a:pt x="8077523" y="3783195"/>
                  <a:pt x="4094678" y="3026959"/>
                  <a:pt x="160485" y="3663863"/>
                </a:cubicBezTo>
                <a:lnTo>
                  <a:pt x="0" y="3692092"/>
                </a:lnTo>
                <a:close/>
              </a:path>
            </a:pathLst>
          </a:custGeom>
        </p:spPr>
      </p:pic>
      <p:sp>
        <p:nvSpPr>
          <p:cNvPr id="3" name="Content Placeholder 2">
            <a:extLst>
              <a:ext uri="{FF2B5EF4-FFF2-40B4-BE49-F238E27FC236}">
                <a16:creationId xmlns:a16="http://schemas.microsoft.com/office/drawing/2014/main" id="{7B3E632F-7D2D-D121-6786-FF78BF21DC6B}"/>
              </a:ext>
            </a:extLst>
          </p:cNvPr>
          <p:cNvSpPr>
            <a:spLocks noGrp="1"/>
          </p:cNvSpPr>
          <p:nvPr>
            <p:ph sz="half" idx="1"/>
          </p:nvPr>
        </p:nvSpPr>
        <p:spPr>
          <a:xfrm>
            <a:off x="8447414" y="7505700"/>
            <a:ext cx="14969851" cy="4905374"/>
          </a:xfrm>
        </p:spPr>
        <p:txBody>
          <a:bodyPr vert="horz" lIns="91440" tIns="45720" rIns="91440" bIns="45720" rtlCol="0" anchor="ctr">
            <a:normAutofit/>
          </a:bodyPr>
          <a:lstStyle/>
          <a:p>
            <a:pPr indent="-228600" defTabSz="914400"/>
            <a:r>
              <a:rPr lang="en-US" sz="3300" dirty="0">
                <a:latin typeface="+mn-lt"/>
                <a:cs typeface="+mn-cs"/>
              </a:rPr>
              <a:t>They are similar to serif fonts, but they have more boldness and independence. The distinctive feature of these fonts is their square serifs. </a:t>
            </a:r>
          </a:p>
          <a:p>
            <a:pPr indent="-228600" defTabSz="914400"/>
            <a:r>
              <a:rPr lang="en-US" sz="3300" dirty="0">
                <a:latin typeface="+mn-lt"/>
                <a:cs typeface="+mn-cs"/>
              </a:rPr>
              <a:t>The symbols and letters in these fonts look quite massive. These fonts are distinguished by their originality, but at the same time, they are clear and easy to perceive.</a:t>
            </a:r>
          </a:p>
          <a:p>
            <a:pPr indent="-228600" defTabSz="914400"/>
            <a:r>
              <a:rPr lang="en-US" sz="3300" dirty="0">
                <a:latin typeface="+mn-lt"/>
                <a:cs typeface="+mn-cs"/>
              </a:rPr>
              <a:t> Slab serif fonts are suitable for those brands that want to maintain a certain amount of conservatism in their identity, but are ready for non-standard solutions.</a:t>
            </a:r>
          </a:p>
          <a:p>
            <a:pPr indent="-228600" defTabSz="914400"/>
            <a:endParaRPr lang="en-US" sz="3300" dirty="0">
              <a:latin typeface="+mn-lt"/>
              <a:cs typeface="+mn-cs"/>
            </a:endParaRPr>
          </a:p>
        </p:txBody>
      </p:sp>
    </p:spTree>
    <p:extLst>
      <p:ext uri="{BB962C8B-B14F-4D97-AF65-F5344CB8AC3E}">
        <p14:creationId xmlns:p14="http://schemas.microsoft.com/office/powerpoint/2010/main" val="27747087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E66F1-BD3E-304C-C8A3-76CD0FA18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5965B3-06AA-BC1E-D755-404667D7581F}"/>
              </a:ext>
            </a:extLst>
          </p:cNvPr>
          <p:cNvSpPr>
            <a:spLocks noGrp="1"/>
          </p:cNvSpPr>
          <p:nvPr>
            <p:ph type="title"/>
          </p:nvPr>
        </p:nvSpPr>
        <p:spPr>
          <a:xfrm>
            <a:off x="1676291" y="730251"/>
            <a:ext cx="21029831" cy="2651126"/>
          </a:xfrm>
        </p:spPr>
        <p:txBody>
          <a:bodyPr anchor="ctr">
            <a:normAutofit/>
          </a:bodyPr>
          <a:lstStyle/>
          <a:p>
            <a:r>
              <a:rPr lang="en-US"/>
              <a:t>Sans-Serif Fonts</a:t>
            </a:r>
            <a:endParaRPr lang="en-US" dirty="0"/>
          </a:p>
        </p:txBody>
      </p:sp>
      <p:sp>
        <p:nvSpPr>
          <p:cNvPr id="3" name="Content Placeholder 2">
            <a:extLst>
              <a:ext uri="{FF2B5EF4-FFF2-40B4-BE49-F238E27FC236}">
                <a16:creationId xmlns:a16="http://schemas.microsoft.com/office/drawing/2014/main" id="{5117FB1F-D6E9-B9D9-600C-D7BC89862ED2}"/>
              </a:ext>
            </a:extLst>
          </p:cNvPr>
          <p:cNvSpPr>
            <a:spLocks noGrp="1"/>
          </p:cNvSpPr>
          <p:nvPr>
            <p:ph sz="half" idx="1"/>
          </p:nvPr>
        </p:nvSpPr>
        <p:spPr>
          <a:xfrm>
            <a:off x="1676291" y="3651249"/>
            <a:ext cx="9205069" cy="9101365"/>
          </a:xfrm>
        </p:spPr>
        <p:txBody>
          <a:bodyPr>
            <a:normAutofit/>
          </a:bodyPr>
          <a:lstStyle/>
          <a:p>
            <a:r>
              <a:rPr lang="en-US" sz="4300"/>
              <a:t>These are modern fonts that have gained recognition in minimalist design projects.</a:t>
            </a:r>
          </a:p>
          <a:p>
            <a:r>
              <a:rPr lang="en-US" sz="4300"/>
              <a:t> They are distinguished by their neatness, asceticism and simplicity.</a:t>
            </a:r>
          </a:p>
          <a:p>
            <a:r>
              <a:rPr lang="en-US" sz="4300"/>
              <a:t> Such fonts can be called universal, as they allow you to clearly convey the necessary message, and do not overload the interface.</a:t>
            </a:r>
          </a:p>
          <a:p>
            <a:endParaRPr lang="en-US" sz="4300" dirty="0"/>
          </a:p>
        </p:txBody>
      </p:sp>
      <p:pic>
        <p:nvPicPr>
          <p:cNvPr id="6" name="Picture 5" descr="A black and white font with red lines&#10;&#10;AI-generated content may be incorrect.">
            <a:extLst>
              <a:ext uri="{FF2B5EF4-FFF2-40B4-BE49-F238E27FC236}">
                <a16:creationId xmlns:a16="http://schemas.microsoft.com/office/drawing/2014/main" id="{72E334F4-998F-01ED-4EB3-53BE6FB417A0}"/>
              </a:ext>
            </a:extLst>
          </p:cNvPr>
          <p:cNvPicPr>
            <a:picLocks noChangeAspect="1"/>
          </p:cNvPicPr>
          <p:nvPr/>
        </p:nvPicPr>
        <p:blipFill>
          <a:blip r:embed="rId3"/>
          <a:stretch>
            <a:fillRect/>
          </a:stretch>
        </p:blipFill>
        <p:spPr>
          <a:xfrm>
            <a:off x="10881360" y="4267061"/>
            <a:ext cx="12954693" cy="5181878"/>
          </a:xfrm>
          <a:prstGeom prst="rect">
            <a:avLst/>
          </a:prstGeom>
        </p:spPr>
      </p:pic>
    </p:spTree>
    <p:extLst>
      <p:ext uri="{BB962C8B-B14F-4D97-AF65-F5344CB8AC3E}">
        <p14:creationId xmlns:p14="http://schemas.microsoft.com/office/powerpoint/2010/main" val="19213174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0A6DA2-5FDE-369B-2060-5F5691FEAB6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7" y="0"/>
            <a:ext cx="24376317"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white background with flowers&#10;&#10;AI-generated content may be incorrect.">
            <a:extLst>
              <a:ext uri="{FF2B5EF4-FFF2-40B4-BE49-F238E27FC236}">
                <a16:creationId xmlns:a16="http://schemas.microsoft.com/office/drawing/2014/main" id="{332C4749-167C-5C72-3CF6-9B99F59C64E4}"/>
              </a:ext>
            </a:extLst>
          </p:cNvPr>
          <p:cNvPicPr>
            <a:picLocks noChangeAspect="1"/>
          </p:cNvPicPr>
          <p:nvPr/>
        </p:nvPicPr>
        <p:blipFill>
          <a:blip r:embed="rId3"/>
          <a:srcRect b="9358"/>
          <a:stretch>
            <a:fillRect/>
          </a:stretch>
        </p:blipFill>
        <p:spPr>
          <a:xfrm>
            <a:off x="5044383" y="10"/>
            <a:ext cx="19338025" cy="13715990"/>
          </a:xfrm>
          <a:prstGeom prst="rect">
            <a:avLst/>
          </a:prstGeom>
        </p:spPr>
      </p:pic>
      <p:sp>
        <p:nvSpPr>
          <p:cNvPr id="12" name="Rectangle 11">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779562"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FDD1906-DBD5-B3D2-7037-0F458081756A}"/>
              </a:ext>
            </a:extLst>
          </p:cNvPr>
          <p:cNvSpPr>
            <a:spLocks noGrp="1"/>
          </p:cNvSpPr>
          <p:nvPr>
            <p:ph type="title"/>
          </p:nvPr>
        </p:nvSpPr>
        <p:spPr>
          <a:xfrm>
            <a:off x="1676290" y="730250"/>
            <a:ext cx="7643881" cy="3799824"/>
          </a:xfrm>
        </p:spPr>
        <p:txBody>
          <a:bodyPr vert="horz" lIns="91440" tIns="45720" rIns="91440" bIns="45720" rtlCol="0" anchor="ctr">
            <a:normAutofit/>
          </a:bodyPr>
          <a:lstStyle/>
          <a:p>
            <a:pPr defTabSz="914400"/>
            <a:r>
              <a:rPr lang="en-US" sz="7400" dirty="0">
                <a:latin typeface="+mj-lt"/>
                <a:cs typeface="+mj-cs"/>
              </a:rPr>
              <a:t>Handwritten fonts</a:t>
            </a:r>
          </a:p>
        </p:txBody>
      </p:sp>
      <p:sp>
        <p:nvSpPr>
          <p:cNvPr id="3" name="Content Placeholder 2">
            <a:extLst>
              <a:ext uri="{FF2B5EF4-FFF2-40B4-BE49-F238E27FC236}">
                <a16:creationId xmlns:a16="http://schemas.microsoft.com/office/drawing/2014/main" id="{7FC09B78-4CB8-5314-7F92-4D43C2596B2C}"/>
              </a:ext>
            </a:extLst>
          </p:cNvPr>
          <p:cNvSpPr>
            <a:spLocks noGrp="1"/>
          </p:cNvSpPr>
          <p:nvPr>
            <p:ph sz="half" idx="1"/>
          </p:nvPr>
        </p:nvSpPr>
        <p:spPr>
          <a:xfrm>
            <a:off x="1319431" y="5443165"/>
            <a:ext cx="8766158" cy="7485524"/>
          </a:xfrm>
        </p:spPr>
        <p:txBody>
          <a:bodyPr vert="horz" lIns="91440" tIns="45720" rIns="91440" bIns="45720" rtlCol="0">
            <a:noAutofit/>
          </a:bodyPr>
          <a:lstStyle/>
          <a:p>
            <a:pPr indent="-228600" defTabSz="914400"/>
            <a:r>
              <a:rPr lang="en-US" sz="4300" dirty="0"/>
              <a:t>These fonts are distinguished by their decorativeness, elegance and creativity.</a:t>
            </a:r>
          </a:p>
          <a:p>
            <a:pPr indent="-228600" defTabSz="914400"/>
            <a:r>
              <a:rPr lang="en-US" sz="4300" dirty="0"/>
              <a:t> They can be difficult to implement into a project, as they have a very original style.</a:t>
            </a:r>
          </a:p>
          <a:p>
            <a:pPr indent="-228600" defTabSz="914400"/>
            <a:r>
              <a:rPr lang="en-US" sz="4300" dirty="0"/>
              <a:t> Handwritten fonts can overload the design, so they should be used in small quantities.</a:t>
            </a:r>
            <a:endParaRPr lang="en-US" sz="4300" dirty="0">
              <a:latin typeface="+mn-lt"/>
              <a:cs typeface="+mn-cs"/>
            </a:endParaRPr>
          </a:p>
        </p:txBody>
      </p:sp>
    </p:spTree>
    <p:extLst>
      <p:ext uri="{BB962C8B-B14F-4D97-AF65-F5344CB8AC3E}">
        <p14:creationId xmlns:p14="http://schemas.microsoft.com/office/powerpoint/2010/main" val="191641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8AB3C0-8231-B303-02B0-52B9031DA44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B876ECC-0D18-36D6-2013-9059B3A180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7" y="0"/>
            <a:ext cx="24376317" cy="1371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5D80C8D-BE04-DCDF-922B-39E7BB03CB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4779562" cy="13716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84144F2-6564-F430-425E-63EEE852E60F}"/>
              </a:ext>
            </a:extLst>
          </p:cNvPr>
          <p:cNvSpPr>
            <a:spLocks noGrp="1"/>
          </p:cNvSpPr>
          <p:nvPr>
            <p:ph type="title"/>
          </p:nvPr>
        </p:nvSpPr>
        <p:spPr>
          <a:xfrm>
            <a:off x="1676290" y="730250"/>
            <a:ext cx="7643881" cy="3799824"/>
          </a:xfrm>
        </p:spPr>
        <p:txBody>
          <a:bodyPr vert="horz" lIns="91440" tIns="45720" rIns="91440" bIns="45720" rtlCol="0" anchor="ctr">
            <a:normAutofit/>
          </a:bodyPr>
          <a:lstStyle/>
          <a:p>
            <a:pPr defTabSz="914400"/>
            <a:r>
              <a:rPr lang="en-US" dirty="0"/>
              <a:t>Modern fonts</a:t>
            </a:r>
            <a:endParaRPr lang="en-US" sz="7400" dirty="0">
              <a:latin typeface="+mj-lt"/>
              <a:cs typeface="+mj-cs"/>
            </a:endParaRPr>
          </a:p>
        </p:txBody>
      </p:sp>
      <p:sp>
        <p:nvSpPr>
          <p:cNvPr id="3" name="Content Placeholder 2">
            <a:extLst>
              <a:ext uri="{FF2B5EF4-FFF2-40B4-BE49-F238E27FC236}">
                <a16:creationId xmlns:a16="http://schemas.microsoft.com/office/drawing/2014/main" id="{5E98991D-5CA3-8B7E-7047-4370A87246E5}"/>
              </a:ext>
            </a:extLst>
          </p:cNvPr>
          <p:cNvSpPr>
            <a:spLocks noGrp="1"/>
          </p:cNvSpPr>
          <p:nvPr>
            <p:ph sz="half" idx="1"/>
          </p:nvPr>
        </p:nvSpPr>
        <p:spPr>
          <a:xfrm>
            <a:off x="1357742" y="4154026"/>
            <a:ext cx="8766158" cy="7485524"/>
          </a:xfrm>
        </p:spPr>
        <p:txBody>
          <a:bodyPr vert="horz" lIns="91440" tIns="45720" rIns="91440" bIns="45720" rtlCol="0">
            <a:noAutofit/>
          </a:bodyPr>
          <a:lstStyle/>
          <a:p>
            <a:r>
              <a:rPr lang="en-US" sz="4300" dirty="0"/>
              <a:t>These fonts are distinguished by their versatility and create the effect of novelty. </a:t>
            </a:r>
          </a:p>
          <a:p>
            <a:r>
              <a:rPr lang="en-US" sz="4300" dirty="0"/>
              <a:t>They often have a futuristic character.</a:t>
            </a:r>
          </a:p>
          <a:p>
            <a:r>
              <a:rPr lang="en-US" sz="4300" dirty="0"/>
              <a:t> Modern fonts are great for technology projects, the IT sphere, and projects related to education.</a:t>
            </a:r>
          </a:p>
          <a:p>
            <a:pPr marL="0" indent="0">
              <a:buNone/>
            </a:pPr>
            <a:br>
              <a:rPr lang="en-US" sz="4400" dirty="0"/>
            </a:br>
            <a:endParaRPr lang="en-US" sz="4300" dirty="0">
              <a:latin typeface="+mn-lt"/>
              <a:cs typeface="+mn-cs"/>
            </a:endParaRPr>
          </a:p>
        </p:txBody>
      </p:sp>
      <p:pic>
        <p:nvPicPr>
          <p:cNvPr id="6" name="Picture 5" descr="A white and black logo&#10;&#10;AI-generated content may be incorrect.">
            <a:extLst>
              <a:ext uri="{FF2B5EF4-FFF2-40B4-BE49-F238E27FC236}">
                <a16:creationId xmlns:a16="http://schemas.microsoft.com/office/drawing/2014/main" id="{1CECB51B-5B65-BAE7-B372-44D3AFF4C249}"/>
              </a:ext>
            </a:extLst>
          </p:cNvPr>
          <p:cNvPicPr>
            <a:picLocks noChangeAspect="1"/>
          </p:cNvPicPr>
          <p:nvPr/>
        </p:nvPicPr>
        <p:blipFill>
          <a:blip r:embed="rId3"/>
          <a:stretch>
            <a:fillRect/>
          </a:stretch>
        </p:blipFill>
        <p:spPr>
          <a:xfrm>
            <a:off x="10599358" y="3506326"/>
            <a:ext cx="13307598" cy="7485524"/>
          </a:xfrm>
          <a:prstGeom prst="rect">
            <a:avLst/>
          </a:prstGeom>
        </p:spPr>
      </p:pic>
    </p:spTree>
    <p:extLst>
      <p:ext uri="{BB962C8B-B14F-4D97-AF65-F5344CB8AC3E}">
        <p14:creationId xmlns:p14="http://schemas.microsoft.com/office/powerpoint/2010/main" val="714209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0A416D-A147-BDF9-C8B2-E604FF4AE4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F28D81-4AF6-C3BD-80E5-EDA78FF6E6D1}"/>
              </a:ext>
            </a:extLst>
          </p:cNvPr>
          <p:cNvSpPr>
            <a:spLocks noGrp="1"/>
          </p:cNvSpPr>
          <p:nvPr>
            <p:ph type="title"/>
          </p:nvPr>
        </p:nvSpPr>
        <p:spPr>
          <a:xfrm>
            <a:off x="15819540" y="1482782"/>
            <a:ext cx="6886579" cy="3232406"/>
          </a:xfrm>
        </p:spPr>
        <p:txBody>
          <a:bodyPr vert="horz" lIns="91440" tIns="45720" rIns="91440" bIns="45720" rtlCol="0" anchor="b">
            <a:normAutofit/>
          </a:bodyPr>
          <a:lstStyle/>
          <a:p>
            <a:pPr defTabSz="914400"/>
            <a:r>
              <a:rPr lang="en-US" sz="6400" kern="1200" dirty="0">
                <a:latin typeface="+mj-lt"/>
                <a:ea typeface="+mj-ea"/>
                <a:cs typeface="+mj-cs"/>
              </a:rPr>
              <a:t>Decorative Font</a:t>
            </a:r>
          </a:p>
        </p:txBody>
      </p:sp>
      <p:pic>
        <p:nvPicPr>
          <p:cNvPr id="5" name="Picture 4" descr="A white and black logo&#10;&#10;AI-generated content may be incorrect.">
            <a:extLst>
              <a:ext uri="{FF2B5EF4-FFF2-40B4-BE49-F238E27FC236}">
                <a16:creationId xmlns:a16="http://schemas.microsoft.com/office/drawing/2014/main" id="{45287E08-8394-7C0A-D8F7-29C4D9D32DF8}"/>
              </a:ext>
            </a:extLst>
          </p:cNvPr>
          <p:cNvPicPr>
            <a:picLocks noChangeAspect="1"/>
          </p:cNvPicPr>
          <p:nvPr/>
        </p:nvPicPr>
        <p:blipFill>
          <a:blip r:embed="rId3"/>
          <a:stretch>
            <a:fillRect/>
          </a:stretch>
        </p:blipFill>
        <p:spPr>
          <a:xfrm>
            <a:off x="1574125" y="2498687"/>
            <a:ext cx="12898258" cy="8577341"/>
          </a:xfrm>
          <a:prstGeom prst="rect">
            <a:avLst/>
          </a:prstGeom>
        </p:spPr>
      </p:pic>
      <p:sp>
        <p:nvSpPr>
          <p:cNvPr id="3" name="Content Placeholder 2">
            <a:extLst>
              <a:ext uri="{FF2B5EF4-FFF2-40B4-BE49-F238E27FC236}">
                <a16:creationId xmlns:a16="http://schemas.microsoft.com/office/drawing/2014/main" id="{2E908C30-EE67-99FA-78AA-5C29A85FD12A}"/>
              </a:ext>
            </a:extLst>
          </p:cNvPr>
          <p:cNvSpPr>
            <a:spLocks noGrp="1"/>
          </p:cNvSpPr>
          <p:nvPr>
            <p:ph sz="half" idx="1"/>
          </p:nvPr>
        </p:nvSpPr>
        <p:spPr>
          <a:xfrm>
            <a:off x="15819540" y="5066952"/>
            <a:ext cx="6886579" cy="6895664"/>
          </a:xfrm>
        </p:spPr>
        <p:txBody>
          <a:bodyPr vert="horz" lIns="91440" tIns="45720" rIns="91440" bIns="45720" rtlCol="0" anchor="t">
            <a:normAutofit fontScale="47500" lnSpcReduction="20000"/>
          </a:bodyPr>
          <a:lstStyle/>
          <a:p>
            <a:pPr indent="-228600" defTabSz="914400"/>
            <a:r>
              <a:rPr lang="en-US" sz="6900" dirty="0"/>
              <a:t>Fantasy, fairy tale and unusual. Decorative fonts are distinguished by the maximum level of decorativeness. </a:t>
            </a:r>
          </a:p>
          <a:p>
            <a:pPr indent="-228600" defTabSz="914400"/>
            <a:r>
              <a:rPr lang="en-US" sz="6900" dirty="0"/>
              <a:t>These are fonts that should be used very sparingly, as they themselves are a bright decorative element and will compete with other elements of the page. </a:t>
            </a:r>
          </a:p>
          <a:p>
            <a:pPr indent="-228600" defTabSz="914400"/>
            <a:r>
              <a:rPr lang="en-US" sz="6900" dirty="0"/>
              <a:t>Decorative fonts are suitable for youth projects, creative companies and organizations specializing in art.</a:t>
            </a:r>
            <a:br>
              <a:rPr lang="en-US" sz="3700" dirty="0">
                <a:latin typeface="+mn-lt"/>
                <a:cs typeface="+mn-cs"/>
              </a:rPr>
            </a:br>
            <a:endParaRPr lang="en-US" sz="3700" dirty="0">
              <a:latin typeface="+mn-lt"/>
              <a:cs typeface="+mn-cs"/>
            </a:endParaRPr>
          </a:p>
        </p:txBody>
      </p:sp>
      <p:grpSp>
        <p:nvGrpSpPr>
          <p:cNvPr id="17" name="Group 16">
            <a:extLst>
              <a:ext uri="{FF2B5EF4-FFF2-40B4-BE49-F238E27FC236}">
                <a16:creationId xmlns:a16="http://schemas.microsoft.com/office/drawing/2014/main" id="{31C49F18-8757-4E87-5C2E-9D6D7B82BA3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049" y="13475436"/>
            <a:ext cx="24412810" cy="246726"/>
            <a:chOff x="-5025" y="6737718"/>
            <a:chExt cx="12207200" cy="123363"/>
          </a:xfrm>
        </p:grpSpPr>
        <p:sp>
          <p:nvSpPr>
            <p:cNvPr id="18" name="Rectangle 17">
              <a:extLst>
                <a:ext uri="{FF2B5EF4-FFF2-40B4-BE49-F238E27FC236}">
                  <a16:creationId xmlns:a16="http://schemas.microsoft.com/office/drawing/2014/main" id="{25C84D91-E5BF-B919-ACEF-4A25262CEE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D889E38-27CA-E23F-B646-8D7B4BB17D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16083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158928-795A-7428-59F8-81A5BC723BE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E2EB51E-7CC6-D401-EEB9-D6100D32F324}"/>
              </a:ext>
            </a:extLst>
          </p:cNvPr>
          <p:cNvSpPr>
            <a:spLocks noGrp="1"/>
          </p:cNvSpPr>
          <p:nvPr>
            <p:ph type="body" sz="quarter" idx="10"/>
          </p:nvPr>
        </p:nvSpPr>
        <p:spPr>
          <a:xfrm>
            <a:off x="5272009" y="5132605"/>
            <a:ext cx="13289753" cy="3340381"/>
          </a:xfrm>
        </p:spPr>
        <p:txBody>
          <a:bodyPr>
            <a:normAutofit/>
          </a:bodyPr>
          <a:lstStyle/>
          <a:p>
            <a:r>
              <a:rPr lang="en-US" b="1" dirty="0"/>
              <a:t> RULES OF TEXT FORMATTING</a:t>
            </a:r>
          </a:p>
        </p:txBody>
      </p:sp>
    </p:spTree>
    <p:extLst>
      <p:ext uri="{BB962C8B-B14F-4D97-AF65-F5344CB8AC3E}">
        <p14:creationId xmlns:p14="http://schemas.microsoft.com/office/powerpoint/2010/main" val="31861418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8E346-0E61-46F5-30A8-E7344F74A6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FA061-9B7B-6841-506E-3BF7303F66C7}"/>
              </a:ext>
            </a:extLst>
          </p:cNvPr>
          <p:cNvSpPr>
            <a:spLocks noGrp="1"/>
          </p:cNvSpPr>
          <p:nvPr>
            <p:ph type="title"/>
          </p:nvPr>
        </p:nvSpPr>
        <p:spPr/>
        <p:txBody>
          <a:bodyPr/>
          <a:lstStyle/>
          <a:p>
            <a:r>
              <a:rPr lang="en-US" dirty="0"/>
              <a:t>HIERARCHY AND STRUCTURE</a:t>
            </a:r>
          </a:p>
        </p:txBody>
      </p:sp>
      <p:sp>
        <p:nvSpPr>
          <p:cNvPr id="3" name="Content Placeholder 2">
            <a:extLst>
              <a:ext uri="{FF2B5EF4-FFF2-40B4-BE49-F238E27FC236}">
                <a16:creationId xmlns:a16="http://schemas.microsoft.com/office/drawing/2014/main" id="{C7F14A97-8409-473C-97AF-09255823BB00}"/>
              </a:ext>
            </a:extLst>
          </p:cNvPr>
          <p:cNvSpPr>
            <a:spLocks noGrp="1"/>
          </p:cNvSpPr>
          <p:nvPr>
            <p:ph idx="1"/>
          </p:nvPr>
        </p:nvSpPr>
        <p:spPr>
          <a:xfrm>
            <a:off x="1676291" y="3651250"/>
            <a:ext cx="11161885" cy="7373801"/>
          </a:xfrm>
        </p:spPr>
        <p:txBody>
          <a:bodyPr>
            <a:normAutofit fontScale="85000" lnSpcReduction="20000"/>
          </a:bodyPr>
          <a:lstStyle/>
          <a:p>
            <a:r>
              <a:rPr lang="en-US" dirty="0"/>
              <a:t>All content on a web page should be structured by importance and priority. Only one font cannot be used for text formatting. The page should always have a heading and main text.</a:t>
            </a:r>
          </a:p>
          <a:p>
            <a:r>
              <a:rPr lang="en-US" dirty="0"/>
              <a:t> Additional subheadings and hint text, explanations, and additional information, which are formatted in the smallest font size, can also be used.</a:t>
            </a:r>
          </a:p>
          <a:p>
            <a:r>
              <a:rPr lang="en-US" dirty="0"/>
              <a:t>Elements such as size, </a:t>
            </a:r>
            <a:r>
              <a:rPr lang="en-US" dirty="0" err="1"/>
              <a:t>colour</a:t>
            </a:r>
            <a:r>
              <a:rPr lang="en-US" dirty="0"/>
              <a:t>, scale, frames and lines are used to highlight headings, subheadings and button texts. </a:t>
            </a:r>
          </a:p>
          <a:p>
            <a:pPr marL="0" indent="0">
              <a:buNone/>
            </a:pPr>
            <a:endParaRPr lang="en-US" dirty="0"/>
          </a:p>
          <a:p>
            <a:endParaRPr lang="en-US" dirty="0"/>
          </a:p>
          <a:p>
            <a:pPr marL="0" indent="0" algn="ctr">
              <a:buNone/>
            </a:pPr>
            <a:endParaRPr lang="en-US" b="1" dirty="0"/>
          </a:p>
          <a:p>
            <a:pPr marL="0" indent="0">
              <a:buNone/>
            </a:pPr>
            <a:endParaRPr lang="en-US" dirty="0"/>
          </a:p>
          <a:p>
            <a:endParaRPr lang="en-US" dirty="0"/>
          </a:p>
          <a:p>
            <a:endParaRPr lang="en-US" dirty="0"/>
          </a:p>
        </p:txBody>
      </p:sp>
      <p:pic>
        <p:nvPicPr>
          <p:cNvPr id="8" name="Picture 7">
            <a:extLst>
              <a:ext uri="{FF2B5EF4-FFF2-40B4-BE49-F238E27FC236}">
                <a16:creationId xmlns:a16="http://schemas.microsoft.com/office/drawing/2014/main" id="{067A16E8-6A09-DDA8-F434-EBC18C8F19DD}"/>
              </a:ext>
            </a:extLst>
          </p:cNvPr>
          <p:cNvPicPr>
            <a:picLocks noChangeAspect="1"/>
          </p:cNvPicPr>
          <p:nvPr/>
        </p:nvPicPr>
        <p:blipFill>
          <a:blip r:embed="rId3"/>
          <a:stretch>
            <a:fillRect/>
          </a:stretch>
        </p:blipFill>
        <p:spPr>
          <a:xfrm>
            <a:off x="12838176" y="4343866"/>
            <a:ext cx="10736448" cy="5028268"/>
          </a:xfrm>
          <a:prstGeom prst="rect">
            <a:avLst/>
          </a:prstGeom>
        </p:spPr>
      </p:pic>
    </p:spTree>
    <p:extLst>
      <p:ext uri="{BB962C8B-B14F-4D97-AF65-F5344CB8AC3E}">
        <p14:creationId xmlns:p14="http://schemas.microsoft.com/office/powerpoint/2010/main" val="29577256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6277F-5526-C75C-A39E-0781B3540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451957-9CED-5916-C352-5467A7CF2388}"/>
              </a:ext>
            </a:extLst>
          </p:cNvPr>
          <p:cNvSpPr>
            <a:spLocks noGrp="1"/>
          </p:cNvSpPr>
          <p:nvPr>
            <p:ph type="title"/>
          </p:nvPr>
        </p:nvSpPr>
        <p:spPr/>
        <p:txBody>
          <a:bodyPr/>
          <a:lstStyle/>
          <a:p>
            <a:r>
              <a:rPr lang="en-US" dirty="0"/>
              <a:t>ALIGNMENT</a:t>
            </a:r>
          </a:p>
        </p:txBody>
      </p:sp>
      <p:sp>
        <p:nvSpPr>
          <p:cNvPr id="3" name="Content Placeholder 2">
            <a:extLst>
              <a:ext uri="{FF2B5EF4-FFF2-40B4-BE49-F238E27FC236}">
                <a16:creationId xmlns:a16="http://schemas.microsoft.com/office/drawing/2014/main" id="{A92971B1-26CB-91E5-5853-89314591D9F9}"/>
              </a:ext>
            </a:extLst>
          </p:cNvPr>
          <p:cNvSpPr>
            <a:spLocks noGrp="1"/>
          </p:cNvSpPr>
          <p:nvPr>
            <p:ph idx="1"/>
          </p:nvPr>
        </p:nvSpPr>
        <p:spPr>
          <a:xfrm>
            <a:off x="1676291" y="3651251"/>
            <a:ext cx="18403933" cy="4998974"/>
          </a:xfrm>
        </p:spPr>
        <p:txBody>
          <a:bodyPr>
            <a:normAutofit/>
          </a:bodyPr>
          <a:lstStyle/>
          <a:p>
            <a:r>
              <a:rPr lang="en-US" dirty="0"/>
              <a:t>Left alignment </a:t>
            </a:r>
            <a:r>
              <a:rPr lang="en-US" i="1" dirty="0"/>
              <a:t>is</a:t>
            </a:r>
            <a:r>
              <a:rPr lang="en-US" dirty="0"/>
              <a:t> the most convenient for reading text alignment. In rare cases, headings/subheadings and main text may be </a:t>
            </a:r>
            <a:r>
              <a:rPr lang="en-US" dirty="0" err="1"/>
              <a:t>centred</a:t>
            </a:r>
            <a:r>
              <a:rPr lang="en-US" dirty="0"/>
              <a:t>. </a:t>
            </a:r>
          </a:p>
          <a:p>
            <a:r>
              <a:rPr lang="en-US" dirty="0"/>
              <a:t>Right alignment is not used for texts (except for numeric values ​​in tables).</a:t>
            </a:r>
          </a:p>
          <a:p>
            <a:pPr marL="0" indent="0">
              <a:buNone/>
            </a:pPr>
            <a:endParaRPr lang="en-US" dirty="0"/>
          </a:p>
          <a:p>
            <a:endParaRPr lang="en-US" dirty="0"/>
          </a:p>
          <a:p>
            <a:pPr marL="0" indent="0" algn="ctr">
              <a:buNone/>
            </a:pPr>
            <a:endParaRPr lang="en-US" b="1" dirty="0"/>
          </a:p>
          <a:p>
            <a:pPr marL="0" indent="0">
              <a:buNone/>
            </a:pPr>
            <a:endParaRPr lang="en-US" dirty="0"/>
          </a:p>
          <a:p>
            <a:endParaRPr lang="en-US" dirty="0"/>
          </a:p>
          <a:p>
            <a:endParaRPr lang="en-US" dirty="0"/>
          </a:p>
        </p:txBody>
      </p:sp>
      <p:pic>
        <p:nvPicPr>
          <p:cNvPr id="5" name="Picture 4" descr="A black lines on a white background&#10;&#10;AI-generated content may be incorrect.">
            <a:extLst>
              <a:ext uri="{FF2B5EF4-FFF2-40B4-BE49-F238E27FC236}">
                <a16:creationId xmlns:a16="http://schemas.microsoft.com/office/drawing/2014/main" id="{68DEE330-8AC2-A488-AFEA-02B9492FBB1F}"/>
              </a:ext>
            </a:extLst>
          </p:cNvPr>
          <p:cNvPicPr>
            <a:picLocks noChangeAspect="1"/>
          </p:cNvPicPr>
          <p:nvPr/>
        </p:nvPicPr>
        <p:blipFill>
          <a:blip r:embed="rId3"/>
          <a:stretch>
            <a:fillRect/>
          </a:stretch>
        </p:blipFill>
        <p:spPr>
          <a:xfrm>
            <a:off x="1844609" y="8316378"/>
            <a:ext cx="12191426" cy="3515958"/>
          </a:xfrm>
          <a:prstGeom prst="rect">
            <a:avLst/>
          </a:prstGeom>
        </p:spPr>
      </p:pic>
    </p:spTree>
    <p:extLst>
      <p:ext uri="{BB962C8B-B14F-4D97-AF65-F5344CB8AC3E}">
        <p14:creationId xmlns:p14="http://schemas.microsoft.com/office/powerpoint/2010/main" val="1523747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C790F-E3B9-D0EC-54E4-17BE958124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9504C-E0C7-D1B3-69F1-D5111B6B6170}"/>
              </a:ext>
            </a:extLst>
          </p:cNvPr>
          <p:cNvSpPr>
            <a:spLocks noGrp="1"/>
          </p:cNvSpPr>
          <p:nvPr>
            <p:ph type="title"/>
          </p:nvPr>
        </p:nvSpPr>
        <p:spPr/>
        <p:txBody>
          <a:bodyPr/>
          <a:lstStyle/>
          <a:p>
            <a:r>
              <a:rPr lang="en-US" dirty="0"/>
              <a:t>LIMIT LINE LENGTH</a:t>
            </a:r>
          </a:p>
        </p:txBody>
      </p:sp>
      <p:sp>
        <p:nvSpPr>
          <p:cNvPr id="3" name="Content Placeholder 2">
            <a:extLst>
              <a:ext uri="{FF2B5EF4-FFF2-40B4-BE49-F238E27FC236}">
                <a16:creationId xmlns:a16="http://schemas.microsoft.com/office/drawing/2014/main" id="{CA1823E8-1709-81FA-987B-69442E48CDDE}"/>
              </a:ext>
            </a:extLst>
          </p:cNvPr>
          <p:cNvSpPr>
            <a:spLocks noGrp="1"/>
          </p:cNvSpPr>
          <p:nvPr>
            <p:ph idx="1"/>
          </p:nvPr>
        </p:nvSpPr>
        <p:spPr>
          <a:xfrm>
            <a:off x="1676292" y="3651251"/>
            <a:ext cx="8491836" cy="6667626"/>
          </a:xfrm>
        </p:spPr>
        <p:txBody>
          <a:bodyPr>
            <a:normAutofit/>
          </a:bodyPr>
          <a:lstStyle/>
          <a:p>
            <a:r>
              <a:rPr lang="en-US" sz="4600" dirty="0"/>
              <a:t>One of the main principles of typography </a:t>
            </a:r>
            <a:r>
              <a:rPr lang="en-US" sz="4600" i="1" dirty="0"/>
              <a:t>is</a:t>
            </a:r>
            <a:r>
              <a:rPr lang="en-US" sz="4600" dirty="0"/>
              <a:t> readability. Line length directly affects it. </a:t>
            </a:r>
          </a:p>
          <a:p>
            <a:r>
              <a:rPr lang="en-US" sz="4600" dirty="0"/>
              <a:t>The optimal line length for the user to maintain concentration and comfortably navigate the page is 45-70 characters.</a:t>
            </a:r>
          </a:p>
          <a:p>
            <a:endParaRPr lang="en-US" dirty="0"/>
          </a:p>
          <a:p>
            <a:pPr marL="0" indent="0" algn="ctr">
              <a:buNone/>
            </a:pPr>
            <a:endParaRPr lang="en-US" b="1" dirty="0"/>
          </a:p>
          <a:p>
            <a:pPr marL="0" indent="0">
              <a:buNone/>
            </a:pPr>
            <a:endParaRPr lang="en-US" dirty="0"/>
          </a:p>
          <a:p>
            <a:endParaRPr lang="en-US" dirty="0"/>
          </a:p>
          <a:p>
            <a:endParaRPr lang="en-US" dirty="0"/>
          </a:p>
        </p:txBody>
      </p:sp>
      <p:pic>
        <p:nvPicPr>
          <p:cNvPr id="6" name="Picture 5" descr="A close-up of a brochure&#10;&#10;AI-generated content may be incorrect.">
            <a:extLst>
              <a:ext uri="{FF2B5EF4-FFF2-40B4-BE49-F238E27FC236}">
                <a16:creationId xmlns:a16="http://schemas.microsoft.com/office/drawing/2014/main" id="{8A47EBD5-DD02-B3D1-6E08-E9BCBA7495E9}"/>
              </a:ext>
            </a:extLst>
          </p:cNvPr>
          <p:cNvPicPr>
            <a:picLocks noChangeAspect="1"/>
          </p:cNvPicPr>
          <p:nvPr/>
        </p:nvPicPr>
        <p:blipFill>
          <a:blip r:embed="rId3"/>
          <a:stretch>
            <a:fillRect/>
          </a:stretch>
        </p:blipFill>
        <p:spPr>
          <a:xfrm>
            <a:off x="10791389" y="3381377"/>
            <a:ext cx="12487500" cy="6937500"/>
          </a:xfrm>
          <a:prstGeom prst="rect">
            <a:avLst/>
          </a:prstGeom>
        </p:spPr>
      </p:pic>
    </p:spTree>
    <p:extLst>
      <p:ext uri="{BB962C8B-B14F-4D97-AF65-F5344CB8AC3E}">
        <p14:creationId xmlns:p14="http://schemas.microsoft.com/office/powerpoint/2010/main" val="14637388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694FB2-56AA-6FB2-7BCC-33F6E8462A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5AD7AE-00D1-5EF3-4027-75C2FE9B30DC}"/>
              </a:ext>
            </a:extLst>
          </p:cNvPr>
          <p:cNvSpPr>
            <a:spLocks noGrp="1"/>
          </p:cNvSpPr>
          <p:nvPr>
            <p:ph type="title"/>
          </p:nvPr>
        </p:nvSpPr>
        <p:spPr/>
        <p:txBody>
          <a:bodyPr/>
          <a:lstStyle/>
          <a:p>
            <a:r>
              <a:rPr lang="en-US" dirty="0"/>
              <a:t>GIVE PREFERENCE TO STANDARD FONTS</a:t>
            </a:r>
          </a:p>
        </p:txBody>
      </p:sp>
      <p:sp>
        <p:nvSpPr>
          <p:cNvPr id="3" name="Content Placeholder 2">
            <a:extLst>
              <a:ext uri="{FF2B5EF4-FFF2-40B4-BE49-F238E27FC236}">
                <a16:creationId xmlns:a16="http://schemas.microsoft.com/office/drawing/2014/main" id="{31EA7A8A-E8ED-342E-389B-BE04F262BAFE}"/>
              </a:ext>
            </a:extLst>
          </p:cNvPr>
          <p:cNvSpPr>
            <a:spLocks noGrp="1"/>
          </p:cNvSpPr>
          <p:nvPr>
            <p:ph idx="1"/>
          </p:nvPr>
        </p:nvSpPr>
        <p:spPr>
          <a:xfrm>
            <a:off x="1676292" y="3651251"/>
            <a:ext cx="20653356" cy="6667626"/>
          </a:xfrm>
        </p:spPr>
        <p:txBody>
          <a:bodyPr>
            <a:normAutofit fontScale="85000" lnSpcReduction="10000"/>
          </a:bodyPr>
          <a:lstStyle/>
          <a:p>
            <a:r>
              <a:rPr lang="en-US" dirty="0"/>
              <a:t>Despite the fact that various services and sources offer many font options and ready-made </a:t>
            </a:r>
            <a:r>
              <a:rPr lang="en-US" dirty="0" err="1"/>
              <a:t>colour</a:t>
            </a:r>
            <a:r>
              <a:rPr lang="en-US" dirty="0"/>
              <a:t> schemes for projects, their use is often not justified. The fact is that users are accustomed to standard fonts, so it is more difficult for them to perceive the original author’s fonts. They should be used only when necessary.</a:t>
            </a:r>
            <a:endParaRPr lang="en-US" sz="4800" dirty="0"/>
          </a:p>
          <a:p>
            <a:r>
              <a:rPr lang="en-US" dirty="0"/>
              <a:t>When choosing fonts, you also need to limit yourself in their number. It would be optimal to have up to 3 fonts on one site. Using more fonts makes the page visually less structured and spoils the layout on the page. </a:t>
            </a:r>
          </a:p>
          <a:p>
            <a:r>
              <a:rPr lang="en-US" dirty="0"/>
              <a:t>When choosing a typeface or font, make sure that the text remains readable at any size.</a:t>
            </a:r>
            <a:endParaRPr lang="en-US" sz="4800" dirty="0"/>
          </a:p>
          <a:p>
            <a:pPr marL="0" indent="0">
              <a:buNone/>
            </a:pPr>
            <a:endParaRPr lang="en-US" dirty="0"/>
          </a:p>
          <a:p>
            <a:pPr marL="0" indent="0" algn="ctr">
              <a:buNone/>
            </a:pPr>
            <a:endParaRPr lang="en-US" b="1"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606100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72AFE-1635-F4E4-81EF-4CC2FE407F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C4B53D-D93E-54AC-D483-296B8B141825}"/>
              </a:ext>
            </a:extLst>
          </p:cNvPr>
          <p:cNvSpPr>
            <a:spLocks noGrp="1"/>
          </p:cNvSpPr>
          <p:nvPr>
            <p:ph type="title"/>
          </p:nvPr>
        </p:nvSpPr>
        <p:spPr/>
        <p:txBody>
          <a:bodyPr/>
          <a:lstStyle/>
          <a:p>
            <a:r>
              <a:rPr lang="en-US" dirty="0"/>
              <a:t>WEB SAFE FONTS:</a:t>
            </a:r>
          </a:p>
        </p:txBody>
      </p:sp>
      <p:sp>
        <p:nvSpPr>
          <p:cNvPr id="3" name="Content Placeholder 2">
            <a:extLst>
              <a:ext uri="{FF2B5EF4-FFF2-40B4-BE49-F238E27FC236}">
                <a16:creationId xmlns:a16="http://schemas.microsoft.com/office/drawing/2014/main" id="{F0DC91F6-AD65-CD5F-06DE-C47894971019}"/>
              </a:ext>
            </a:extLst>
          </p:cNvPr>
          <p:cNvSpPr>
            <a:spLocks noGrp="1"/>
          </p:cNvSpPr>
          <p:nvPr>
            <p:ph idx="1"/>
          </p:nvPr>
        </p:nvSpPr>
        <p:spPr>
          <a:xfrm>
            <a:off x="1676291" y="3085192"/>
            <a:ext cx="20653356" cy="8410121"/>
          </a:xfrm>
        </p:spPr>
        <p:txBody>
          <a:bodyPr>
            <a:normAutofit lnSpcReduction="10000"/>
          </a:bodyPr>
          <a:lstStyle/>
          <a:p>
            <a:pPr marL="0" indent="0">
              <a:buNone/>
            </a:pPr>
            <a:r>
              <a:rPr lang="en-US" dirty="0"/>
              <a:t>Fonts that are pre-installed across most operating systems. </a:t>
            </a:r>
            <a:r>
              <a:rPr lang="en-US" b="1" dirty="0"/>
              <a:t>Resources:</a:t>
            </a:r>
          </a:p>
          <a:p>
            <a:pPr lvl="1"/>
            <a:r>
              <a:rPr lang="en-US" dirty="0">
                <a:hlinkClick r:id="rId3"/>
              </a:rPr>
              <a:t>Common Fonts for Windows/Mac</a:t>
            </a:r>
            <a:endParaRPr lang="en-US" dirty="0"/>
          </a:p>
          <a:p>
            <a:pPr lvl="1"/>
            <a:r>
              <a:rPr lang="en-US" dirty="0">
                <a:hlinkClick r:id="rId4"/>
              </a:rPr>
              <a:t>CSS Font Stack</a:t>
            </a:r>
            <a:endParaRPr lang="en-US" dirty="0"/>
          </a:p>
          <a:p>
            <a:pPr marL="0" indent="0">
              <a:buNone/>
            </a:pPr>
            <a:r>
              <a:rPr lang="en-US" b="1" dirty="0"/>
              <a:t>Web Fonts:</a:t>
            </a:r>
          </a:p>
          <a:p>
            <a:pPr lvl="1"/>
            <a:r>
              <a:rPr lang="en-US" dirty="0"/>
              <a:t>Steps to Use Hosted Web Fonts:</a:t>
            </a:r>
          </a:p>
          <a:p>
            <a:pPr lvl="1"/>
            <a:r>
              <a:rPr lang="en-US" dirty="0"/>
              <a:t>Choose a font.</a:t>
            </a:r>
          </a:p>
          <a:p>
            <a:pPr lvl="1"/>
            <a:r>
              <a:rPr lang="en-US" dirty="0"/>
              <a:t>Preview the font.</a:t>
            </a:r>
          </a:p>
          <a:p>
            <a:pPr lvl="1"/>
            <a:r>
              <a:rPr lang="en-US" dirty="0"/>
              <a:t>Choose styles, copy the </a:t>
            </a:r>
            <a:r>
              <a:rPr lang="en-US" b="1" dirty="0"/>
              <a:t>&lt;link&gt; or @import code.</a:t>
            </a:r>
          </a:p>
          <a:p>
            <a:pPr lvl="1"/>
            <a:r>
              <a:rPr lang="en-US" dirty="0"/>
              <a:t>Paste it inside your </a:t>
            </a:r>
            <a:r>
              <a:rPr lang="en-US" b="1" dirty="0"/>
              <a:t>&lt;head&gt; </a:t>
            </a:r>
            <a:r>
              <a:rPr lang="en-US" dirty="0"/>
              <a:t>section.</a:t>
            </a:r>
          </a:p>
          <a:p>
            <a:pPr lvl="1"/>
            <a:r>
              <a:rPr lang="en-US" dirty="0"/>
              <a:t>Copy corresponding CSS font-family rule into your style.css. Done!</a:t>
            </a:r>
            <a:endParaRPr lang="en-US" b="1"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29130185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4"/>
          <p:cNvSpPr txBox="1"/>
          <p:nvPr/>
        </p:nvSpPr>
        <p:spPr>
          <a:xfrm>
            <a:off x="4127731" y="5996056"/>
            <a:ext cx="16126950" cy="1723436"/>
          </a:xfrm>
          <a:prstGeom prst="rect">
            <a:avLst/>
          </a:prstGeom>
          <a:noFill/>
          <a:ln>
            <a:noFill/>
          </a:ln>
        </p:spPr>
        <p:txBody>
          <a:bodyPr spcFirstLastPara="1" wrap="square" lIns="243784" tIns="243784" rIns="243784" bIns="243784" anchor="t" anchorCtr="0">
            <a:spAutoFit/>
          </a:bodyPr>
          <a:lstStyle/>
          <a:p>
            <a:pPr algn="ctr"/>
            <a:r>
              <a:rPr lang="en-GB" sz="8000" dirty="0">
                <a:latin typeface="Avenir"/>
                <a:ea typeface="Avenir"/>
                <a:cs typeface="Avenir"/>
                <a:sym typeface="Avenir"/>
              </a:rPr>
              <a:t>:nth-child( )</a:t>
            </a:r>
            <a:endParaRPr sz="8000" dirty="0">
              <a:latin typeface="Avenir"/>
              <a:ea typeface="Avenir"/>
              <a:cs typeface="Avenir"/>
              <a:sym typeface="Aveni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5"/>
          <p:cNvSpPr txBox="1"/>
          <p:nvPr/>
        </p:nvSpPr>
        <p:spPr>
          <a:xfrm>
            <a:off x="2409443" y="3095845"/>
            <a:ext cx="19563526" cy="7524310"/>
          </a:xfrm>
          <a:prstGeom prst="rect">
            <a:avLst/>
          </a:prstGeom>
          <a:noFill/>
          <a:ln>
            <a:noFill/>
          </a:ln>
        </p:spPr>
        <p:txBody>
          <a:bodyPr spcFirstLastPara="1" wrap="square" lIns="243784" tIns="243784" rIns="243784" bIns="243784" anchor="ctr" anchorCtr="0">
            <a:noAutofit/>
          </a:bodyPr>
          <a:lstStyle/>
          <a:p>
            <a:r>
              <a:rPr lang="en-GB" sz="6400">
                <a:solidFill>
                  <a:srgbClr val="4C5258"/>
                </a:solidFill>
                <a:latin typeface="Consolas"/>
                <a:ea typeface="Consolas"/>
                <a:cs typeface="Consolas"/>
                <a:sym typeface="Consolas"/>
              </a:rPr>
              <a:t>:nth-child(n)</a:t>
            </a:r>
            <a:endParaRPr sz="6400">
              <a:solidFill>
                <a:srgbClr val="4C5258"/>
              </a:solidFill>
              <a:latin typeface="Consolas"/>
              <a:ea typeface="Consolas"/>
              <a:cs typeface="Consolas"/>
              <a:sym typeface="Consolas"/>
            </a:endParaRPr>
          </a:p>
          <a:p>
            <a:pPr marL="1219124"/>
            <a:r>
              <a:rPr lang="en-GB" sz="6400">
                <a:solidFill>
                  <a:srgbClr val="4C5258"/>
                </a:solidFill>
                <a:latin typeface="Avenir"/>
                <a:ea typeface="Avenir"/>
                <a:cs typeface="Avenir"/>
                <a:sym typeface="Avenir"/>
              </a:rPr>
              <a:t>Selects an element from a list of siblings.</a:t>
            </a:r>
            <a:endParaRPr sz="6400">
              <a:solidFill>
                <a:srgbClr val="4C5258"/>
              </a:solidFill>
              <a:latin typeface="Avenir"/>
              <a:ea typeface="Avenir"/>
              <a:cs typeface="Avenir"/>
              <a:sym typeface="Aveni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6"/>
          <p:cNvSpPr txBox="1"/>
          <p:nvPr/>
        </p:nvSpPr>
        <p:spPr>
          <a:xfrm>
            <a:off x="2409443" y="3095845"/>
            <a:ext cx="19563526" cy="7524310"/>
          </a:xfrm>
          <a:prstGeom prst="rect">
            <a:avLst/>
          </a:prstGeom>
          <a:noFill/>
          <a:ln>
            <a:noFill/>
          </a:ln>
        </p:spPr>
        <p:txBody>
          <a:bodyPr spcFirstLastPara="1" wrap="square" lIns="243784" tIns="243784" rIns="243784" bIns="243784" anchor="ctr" anchorCtr="0">
            <a:noAutofit/>
          </a:bodyPr>
          <a:lstStyle/>
          <a:p>
            <a:r>
              <a:rPr lang="en-GB" sz="6400">
                <a:solidFill>
                  <a:srgbClr val="4C5258"/>
                </a:solidFill>
                <a:latin typeface="Avenir"/>
                <a:ea typeface="Avenir"/>
                <a:cs typeface="Avenir"/>
                <a:sym typeface="Avenir"/>
              </a:rPr>
              <a:t>Examples</a:t>
            </a:r>
            <a:endParaRPr sz="6400">
              <a:solidFill>
                <a:srgbClr val="4C5258"/>
              </a:solidFill>
              <a:latin typeface="Avenir"/>
              <a:ea typeface="Avenir"/>
              <a:cs typeface="Avenir"/>
              <a:sym typeface="Avenir"/>
            </a:endParaRPr>
          </a:p>
          <a:p>
            <a:endParaRPr sz="6400">
              <a:solidFill>
                <a:srgbClr val="4C5258"/>
              </a:solidFill>
              <a:latin typeface="Avenir"/>
              <a:ea typeface="Avenir"/>
              <a:cs typeface="Avenir"/>
              <a:sym typeface="Avenir"/>
            </a:endParaRPr>
          </a:p>
          <a:p>
            <a:pPr marL="1219124"/>
            <a:r>
              <a:rPr lang="en-GB" sz="6400">
                <a:solidFill>
                  <a:srgbClr val="4C5258"/>
                </a:solidFill>
                <a:latin typeface="Consolas"/>
                <a:ea typeface="Consolas"/>
                <a:cs typeface="Consolas"/>
                <a:sym typeface="Consolas"/>
              </a:rPr>
              <a:t>section p:nth-child(3)</a:t>
            </a:r>
            <a:r>
              <a:rPr lang="en-GB" sz="6400">
                <a:solidFill>
                  <a:srgbClr val="4C5258"/>
                </a:solidFill>
                <a:latin typeface="Avenir"/>
                <a:ea typeface="Avenir"/>
                <a:cs typeface="Avenir"/>
                <a:sym typeface="Avenir"/>
              </a:rPr>
              <a:t> selects the third paragraph in a section.</a:t>
            </a:r>
            <a:endParaRPr sz="6400">
              <a:solidFill>
                <a:srgbClr val="4C5258"/>
              </a:solidFill>
              <a:latin typeface="Avenir"/>
              <a:ea typeface="Avenir"/>
              <a:cs typeface="Avenir"/>
              <a:sym typeface="Avenir"/>
            </a:endParaRPr>
          </a:p>
          <a:p>
            <a:pPr marL="1219124"/>
            <a:endParaRPr sz="6400">
              <a:solidFill>
                <a:srgbClr val="4C5258"/>
              </a:solidFill>
              <a:latin typeface="Avenir"/>
              <a:ea typeface="Avenir"/>
              <a:cs typeface="Avenir"/>
              <a:sym typeface="Avenir"/>
            </a:endParaRPr>
          </a:p>
          <a:p>
            <a:pPr marL="1219124"/>
            <a:r>
              <a:rPr lang="en-GB" sz="6400">
                <a:solidFill>
                  <a:srgbClr val="4C5258"/>
                </a:solidFill>
                <a:latin typeface="Consolas"/>
                <a:ea typeface="Consolas"/>
                <a:cs typeface="Consolas"/>
                <a:sym typeface="Consolas"/>
              </a:rPr>
              <a:t>li:nth-child(4n)</a:t>
            </a:r>
            <a:r>
              <a:rPr lang="en-GB" sz="6400">
                <a:solidFill>
                  <a:srgbClr val="4C5258"/>
                </a:solidFill>
                <a:latin typeface="Avenir"/>
                <a:ea typeface="Avenir"/>
                <a:cs typeface="Avenir"/>
                <a:sym typeface="Avenir"/>
              </a:rPr>
              <a:t> selects every fourth list item.</a:t>
            </a:r>
            <a:endParaRPr sz="6400">
              <a:solidFill>
                <a:srgbClr val="4C5258"/>
              </a:solidFill>
              <a:latin typeface="Avenir"/>
              <a:ea typeface="Avenir"/>
              <a:cs typeface="Avenir"/>
              <a:sym typeface="Avenir"/>
            </a:endParaRPr>
          </a:p>
          <a:p>
            <a:pPr marL="1219124"/>
            <a:endParaRPr sz="6400">
              <a:solidFill>
                <a:srgbClr val="4C5258"/>
              </a:solidFill>
              <a:latin typeface="Avenir"/>
              <a:ea typeface="Avenir"/>
              <a:cs typeface="Avenir"/>
              <a:sym typeface="Avenir"/>
            </a:endParaRPr>
          </a:p>
          <a:p>
            <a:pPr marL="1219124">
              <a:buClr>
                <a:schemeClr val="dk1"/>
              </a:buClr>
              <a:buSzPts val="1100"/>
            </a:pPr>
            <a:r>
              <a:rPr lang="en-GB" sz="6400">
                <a:solidFill>
                  <a:srgbClr val="4C5258"/>
                </a:solidFill>
                <a:latin typeface="Consolas"/>
                <a:ea typeface="Consolas"/>
                <a:cs typeface="Consolas"/>
                <a:sym typeface="Consolas"/>
              </a:rPr>
              <a:t>tr:nth-child(even)</a:t>
            </a:r>
            <a:r>
              <a:rPr lang="en-GB" sz="6400">
                <a:solidFill>
                  <a:srgbClr val="4C5258"/>
                </a:solidFill>
                <a:latin typeface="Avenir"/>
                <a:ea typeface="Avenir"/>
                <a:cs typeface="Avenir"/>
                <a:sym typeface="Avenir"/>
              </a:rPr>
              <a:t> selects every even table row (starting with the second row).</a:t>
            </a:r>
            <a:endParaRPr sz="6400">
              <a:solidFill>
                <a:srgbClr val="4C5258"/>
              </a:solidFill>
              <a:latin typeface="Avenir"/>
              <a:ea typeface="Avenir"/>
              <a:cs typeface="Avenir"/>
              <a:sym typeface="Aveni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0"/>
          <p:cNvSpPr txBox="1"/>
          <p:nvPr/>
        </p:nvSpPr>
        <p:spPr>
          <a:xfrm>
            <a:off x="4127731" y="4764936"/>
            <a:ext cx="16126950" cy="4185648"/>
          </a:xfrm>
          <a:prstGeom prst="rect">
            <a:avLst/>
          </a:prstGeom>
          <a:noFill/>
          <a:ln>
            <a:noFill/>
          </a:ln>
        </p:spPr>
        <p:txBody>
          <a:bodyPr spcFirstLastPara="1" wrap="square" lIns="243784" tIns="243784" rIns="243784" bIns="243784" anchor="t" anchorCtr="0">
            <a:spAutoFit/>
          </a:bodyPr>
          <a:lstStyle/>
          <a:p>
            <a:pPr algn="ctr"/>
            <a:r>
              <a:rPr lang="en-GB" sz="8000" dirty="0">
                <a:latin typeface="Avenir"/>
                <a:ea typeface="Avenir"/>
                <a:cs typeface="Avenir"/>
                <a:sym typeface="Avenir"/>
              </a:rPr>
              <a:t>:first-child,</a:t>
            </a:r>
            <a:endParaRPr sz="8000" dirty="0">
              <a:latin typeface="Avenir"/>
              <a:ea typeface="Avenir"/>
              <a:cs typeface="Avenir"/>
              <a:sym typeface="Avenir"/>
            </a:endParaRPr>
          </a:p>
          <a:p>
            <a:pPr algn="ctr"/>
            <a:r>
              <a:rPr lang="en-GB" sz="8000" dirty="0">
                <a:latin typeface="Avenir"/>
                <a:ea typeface="Avenir"/>
                <a:cs typeface="Avenir"/>
                <a:sym typeface="Avenir"/>
              </a:rPr>
              <a:t>:last-child,</a:t>
            </a:r>
            <a:endParaRPr sz="8000" dirty="0">
              <a:latin typeface="Avenir"/>
              <a:ea typeface="Avenir"/>
              <a:cs typeface="Avenir"/>
              <a:sym typeface="Avenir"/>
            </a:endParaRPr>
          </a:p>
          <a:p>
            <a:pPr algn="ctr"/>
            <a:r>
              <a:rPr lang="en-GB" sz="8000" dirty="0">
                <a:latin typeface="Avenir"/>
                <a:ea typeface="Avenir"/>
                <a:cs typeface="Avenir"/>
                <a:sym typeface="Avenir"/>
              </a:rPr>
              <a:t>&amp; :only-child</a:t>
            </a:r>
            <a:endParaRPr sz="8000" dirty="0">
              <a:latin typeface="Avenir"/>
              <a:ea typeface="Avenir"/>
              <a:cs typeface="Avenir"/>
              <a:sym typeface="Aveni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31"/>
          <p:cNvSpPr txBox="1"/>
          <p:nvPr/>
        </p:nvSpPr>
        <p:spPr>
          <a:xfrm>
            <a:off x="2409443" y="3095845"/>
            <a:ext cx="19563526" cy="7524310"/>
          </a:xfrm>
          <a:prstGeom prst="rect">
            <a:avLst/>
          </a:prstGeom>
          <a:noFill/>
          <a:ln>
            <a:noFill/>
          </a:ln>
        </p:spPr>
        <p:txBody>
          <a:bodyPr spcFirstLastPara="1" wrap="square" lIns="243784" tIns="243784" rIns="243784" bIns="243784" anchor="ctr" anchorCtr="0">
            <a:noAutofit/>
          </a:bodyPr>
          <a:lstStyle/>
          <a:p>
            <a:r>
              <a:rPr lang="en-GB" sz="6400">
                <a:solidFill>
                  <a:srgbClr val="4C5258"/>
                </a:solidFill>
                <a:latin typeface="Consolas"/>
                <a:ea typeface="Consolas"/>
                <a:cs typeface="Consolas"/>
                <a:sym typeface="Consolas"/>
              </a:rPr>
              <a:t>:first-child</a:t>
            </a:r>
            <a:endParaRPr sz="6400">
              <a:solidFill>
                <a:srgbClr val="4C5258"/>
              </a:solidFill>
              <a:latin typeface="Consolas"/>
              <a:ea typeface="Consolas"/>
              <a:cs typeface="Consolas"/>
              <a:sym typeface="Consolas"/>
            </a:endParaRPr>
          </a:p>
          <a:p>
            <a:pPr marL="1219124"/>
            <a:r>
              <a:rPr lang="en-GB" sz="6400">
                <a:solidFill>
                  <a:srgbClr val="4C5258"/>
                </a:solidFill>
                <a:latin typeface="Avenir"/>
                <a:ea typeface="Avenir"/>
                <a:cs typeface="Avenir"/>
                <a:sym typeface="Avenir"/>
              </a:rPr>
              <a:t>This selects the first element in a list of siblings.</a:t>
            </a:r>
            <a:endParaRPr sz="6400">
              <a:solidFill>
                <a:srgbClr val="4C5258"/>
              </a:solidFill>
              <a:latin typeface="Avenir"/>
              <a:ea typeface="Avenir"/>
              <a:cs typeface="Avenir"/>
              <a:sym typeface="Avenir"/>
            </a:endParaRPr>
          </a:p>
          <a:p>
            <a:pPr marL="1219124"/>
            <a:endParaRPr sz="6400">
              <a:solidFill>
                <a:srgbClr val="4C5258"/>
              </a:solidFill>
              <a:latin typeface="Avenir"/>
              <a:ea typeface="Avenir"/>
              <a:cs typeface="Avenir"/>
              <a:sym typeface="Avenir"/>
            </a:endParaRPr>
          </a:p>
          <a:p>
            <a:pPr>
              <a:buClr>
                <a:schemeClr val="dk1"/>
              </a:buClr>
              <a:buSzPts val="1100"/>
            </a:pPr>
            <a:r>
              <a:rPr lang="en-GB" sz="6400">
                <a:solidFill>
                  <a:srgbClr val="4C5258"/>
                </a:solidFill>
                <a:latin typeface="Consolas"/>
                <a:ea typeface="Consolas"/>
                <a:cs typeface="Consolas"/>
                <a:sym typeface="Consolas"/>
              </a:rPr>
              <a:t>:last-child</a:t>
            </a:r>
            <a:endParaRPr sz="6400">
              <a:solidFill>
                <a:srgbClr val="4C5258"/>
              </a:solidFill>
              <a:latin typeface="Consolas"/>
              <a:ea typeface="Consolas"/>
              <a:cs typeface="Consolas"/>
              <a:sym typeface="Consolas"/>
            </a:endParaRPr>
          </a:p>
          <a:p>
            <a:pPr marL="1219124">
              <a:buClr>
                <a:schemeClr val="dk1"/>
              </a:buClr>
              <a:buSzPts val="1100"/>
            </a:pPr>
            <a:r>
              <a:rPr lang="en-GB" sz="6400">
                <a:solidFill>
                  <a:srgbClr val="4C5258"/>
                </a:solidFill>
                <a:latin typeface="Avenir"/>
                <a:ea typeface="Avenir"/>
                <a:cs typeface="Avenir"/>
                <a:sym typeface="Avenir"/>
              </a:rPr>
              <a:t>This selects the last element in a list of siblings.</a:t>
            </a:r>
            <a:endParaRPr sz="6400">
              <a:solidFill>
                <a:srgbClr val="4C5258"/>
              </a:solidFill>
              <a:latin typeface="Avenir"/>
              <a:ea typeface="Avenir"/>
              <a:cs typeface="Avenir"/>
              <a:sym typeface="Aveni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2"/>
          <p:cNvSpPr txBox="1"/>
          <p:nvPr/>
        </p:nvSpPr>
        <p:spPr>
          <a:xfrm>
            <a:off x="2409443" y="3095845"/>
            <a:ext cx="19563526" cy="7524310"/>
          </a:xfrm>
          <a:prstGeom prst="rect">
            <a:avLst/>
          </a:prstGeom>
          <a:noFill/>
          <a:ln>
            <a:noFill/>
          </a:ln>
        </p:spPr>
        <p:txBody>
          <a:bodyPr spcFirstLastPara="1" wrap="square" lIns="243784" tIns="243784" rIns="243784" bIns="243784" anchor="ctr" anchorCtr="0">
            <a:noAutofit/>
          </a:bodyPr>
          <a:lstStyle/>
          <a:p>
            <a:r>
              <a:rPr lang="en-GB" sz="6400">
                <a:solidFill>
                  <a:srgbClr val="4C5258"/>
                </a:solidFill>
                <a:latin typeface="Avenir"/>
                <a:ea typeface="Avenir"/>
                <a:cs typeface="Avenir"/>
                <a:sym typeface="Avenir"/>
              </a:rPr>
              <a:t>Examples</a:t>
            </a:r>
            <a:endParaRPr sz="6400">
              <a:solidFill>
                <a:srgbClr val="4C5258"/>
              </a:solidFill>
              <a:latin typeface="Avenir"/>
              <a:ea typeface="Avenir"/>
              <a:cs typeface="Avenir"/>
              <a:sym typeface="Avenir"/>
            </a:endParaRPr>
          </a:p>
          <a:p>
            <a:endParaRPr sz="6400">
              <a:solidFill>
                <a:srgbClr val="4C5258"/>
              </a:solidFill>
              <a:latin typeface="Avenir"/>
              <a:ea typeface="Avenir"/>
              <a:cs typeface="Avenir"/>
              <a:sym typeface="Avenir"/>
            </a:endParaRPr>
          </a:p>
          <a:p>
            <a:pPr marL="1219124"/>
            <a:r>
              <a:rPr lang="en-GB" sz="6400">
                <a:solidFill>
                  <a:srgbClr val="4C5258"/>
                </a:solidFill>
                <a:latin typeface="Consolas"/>
                <a:ea typeface="Consolas"/>
                <a:cs typeface="Consolas"/>
                <a:sym typeface="Consolas"/>
              </a:rPr>
              <a:t>section p:first-child</a:t>
            </a:r>
            <a:r>
              <a:rPr lang="en-GB" sz="6400">
                <a:solidFill>
                  <a:srgbClr val="4C5258"/>
                </a:solidFill>
                <a:latin typeface="Avenir"/>
                <a:ea typeface="Avenir"/>
                <a:cs typeface="Avenir"/>
                <a:sym typeface="Avenir"/>
              </a:rPr>
              <a:t> selects the first paragraph in any section.</a:t>
            </a:r>
            <a:endParaRPr sz="6400">
              <a:solidFill>
                <a:srgbClr val="4C5258"/>
              </a:solidFill>
              <a:latin typeface="Avenir"/>
              <a:ea typeface="Avenir"/>
              <a:cs typeface="Avenir"/>
              <a:sym typeface="Avenir"/>
            </a:endParaRPr>
          </a:p>
          <a:p>
            <a:pPr marL="1219124"/>
            <a:endParaRPr sz="6400">
              <a:solidFill>
                <a:srgbClr val="4C5258"/>
              </a:solidFill>
              <a:latin typeface="Avenir"/>
              <a:ea typeface="Avenir"/>
              <a:cs typeface="Avenir"/>
              <a:sym typeface="Avenir"/>
            </a:endParaRPr>
          </a:p>
          <a:p>
            <a:pPr marL="1219124"/>
            <a:r>
              <a:rPr lang="en-GB" sz="6400">
                <a:solidFill>
                  <a:srgbClr val="4C5258"/>
                </a:solidFill>
                <a:latin typeface="Consolas"/>
                <a:ea typeface="Consolas"/>
                <a:cs typeface="Consolas"/>
                <a:sym typeface="Consolas"/>
              </a:rPr>
              <a:t>li:last-child</a:t>
            </a:r>
            <a:r>
              <a:rPr lang="en-GB" sz="6400">
                <a:solidFill>
                  <a:srgbClr val="4C5258"/>
                </a:solidFill>
                <a:latin typeface="Avenir"/>
                <a:ea typeface="Avenir"/>
                <a:cs typeface="Avenir"/>
                <a:sym typeface="Avenir"/>
              </a:rPr>
              <a:t> selects the last list item.</a:t>
            </a:r>
            <a:endParaRPr sz="6400">
              <a:solidFill>
                <a:srgbClr val="4C5258"/>
              </a:solidFill>
              <a:latin typeface="Avenir"/>
              <a:ea typeface="Avenir"/>
              <a:cs typeface="Avenir"/>
              <a:sym typeface="Aveni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33"/>
          <p:cNvSpPr txBox="1"/>
          <p:nvPr/>
        </p:nvSpPr>
        <p:spPr>
          <a:xfrm>
            <a:off x="2409443" y="3095845"/>
            <a:ext cx="19563526" cy="7524310"/>
          </a:xfrm>
          <a:prstGeom prst="rect">
            <a:avLst/>
          </a:prstGeom>
          <a:noFill/>
          <a:ln>
            <a:noFill/>
          </a:ln>
        </p:spPr>
        <p:txBody>
          <a:bodyPr spcFirstLastPara="1" wrap="square" lIns="243784" tIns="243784" rIns="243784" bIns="243784" anchor="ctr" anchorCtr="0">
            <a:noAutofit/>
          </a:bodyPr>
          <a:lstStyle/>
          <a:p>
            <a:r>
              <a:rPr lang="en-GB" sz="6400">
                <a:solidFill>
                  <a:srgbClr val="4C5258"/>
                </a:solidFill>
                <a:latin typeface="Consolas"/>
                <a:ea typeface="Consolas"/>
                <a:cs typeface="Consolas"/>
                <a:sym typeface="Consolas"/>
              </a:rPr>
              <a:t>:only-child</a:t>
            </a:r>
            <a:endParaRPr sz="6400">
              <a:solidFill>
                <a:srgbClr val="4C5258"/>
              </a:solidFill>
              <a:latin typeface="Consolas"/>
              <a:ea typeface="Consolas"/>
              <a:cs typeface="Consolas"/>
              <a:sym typeface="Consolas"/>
            </a:endParaRPr>
          </a:p>
          <a:p>
            <a:pPr marL="1219124"/>
            <a:r>
              <a:rPr lang="en-GB" sz="6400">
                <a:solidFill>
                  <a:srgbClr val="4C5258"/>
                </a:solidFill>
                <a:latin typeface="Avenir"/>
                <a:ea typeface="Avenir"/>
                <a:cs typeface="Avenir"/>
                <a:sym typeface="Avenir"/>
              </a:rPr>
              <a:t>If there’s an element without any siblings, it will get selected.</a:t>
            </a:r>
            <a:endParaRPr sz="6400">
              <a:solidFill>
                <a:srgbClr val="4C5258"/>
              </a:solidFill>
              <a:latin typeface="Avenir"/>
              <a:ea typeface="Avenir"/>
              <a:cs typeface="Avenir"/>
              <a:sym typeface="Aveni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4"/>
          <p:cNvSpPr txBox="1"/>
          <p:nvPr/>
        </p:nvSpPr>
        <p:spPr>
          <a:xfrm>
            <a:off x="1042548" y="3287434"/>
            <a:ext cx="14252672" cy="7140303"/>
          </a:xfrm>
          <a:prstGeom prst="rect">
            <a:avLst/>
          </a:prstGeom>
          <a:noFill/>
          <a:ln>
            <a:noFill/>
          </a:ln>
        </p:spPr>
        <p:txBody>
          <a:bodyPr spcFirstLastPara="1" wrap="square" lIns="243784" tIns="243784" rIns="243784" bIns="243784" anchor="t" anchorCtr="0">
            <a:spAutoFit/>
          </a:bodyPr>
          <a:lstStyle/>
          <a:p>
            <a:r>
              <a:rPr lang="en-GB" sz="4800" dirty="0">
                <a:latin typeface="Consolas"/>
                <a:ea typeface="Consolas"/>
                <a:cs typeface="Consolas"/>
                <a:sym typeface="Consolas"/>
              </a:rPr>
              <a:t>&lt;!-- HTML --&gt;</a:t>
            </a:r>
            <a:endParaRPr sz="4800" dirty="0">
              <a:latin typeface="Consolas"/>
              <a:ea typeface="Consolas"/>
              <a:cs typeface="Consolas"/>
              <a:sym typeface="Consolas"/>
            </a:endParaRPr>
          </a:p>
          <a:p>
            <a:endParaRPr sz="4800" dirty="0">
              <a:latin typeface="Consolas"/>
              <a:ea typeface="Consolas"/>
              <a:cs typeface="Consolas"/>
              <a:sym typeface="Consolas"/>
            </a:endParaRPr>
          </a:p>
          <a:p>
            <a:r>
              <a:rPr lang="en-GB" sz="4800" dirty="0">
                <a:latin typeface="Consolas"/>
                <a:ea typeface="Consolas"/>
                <a:cs typeface="Consolas"/>
                <a:sym typeface="Consolas"/>
              </a:rPr>
              <a:t>&lt;div&gt;</a:t>
            </a:r>
            <a:endParaRPr sz="4800" dirty="0">
              <a:latin typeface="Consolas"/>
              <a:ea typeface="Consolas"/>
              <a:cs typeface="Consolas"/>
              <a:sym typeface="Consolas"/>
            </a:endParaRPr>
          </a:p>
          <a:p>
            <a:r>
              <a:rPr lang="en-GB" sz="4800" dirty="0">
                <a:latin typeface="Consolas"/>
                <a:ea typeface="Consolas"/>
                <a:cs typeface="Consolas"/>
                <a:sym typeface="Consolas"/>
              </a:rPr>
              <a:t>	&lt;div&gt;I’m the first sibling.&lt;/div&gt;</a:t>
            </a:r>
            <a:endParaRPr sz="4800" dirty="0">
              <a:latin typeface="Consolas"/>
              <a:ea typeface="Consolas"/>
              <a:cs typeface="Consolas"/>
              <a:sym typeface="Consolas"/>
            </a:endParaRPr>
          </a:p>
          <a:p>
            <a:pPr marL="1219124"/>
            <a:r>
              <a:rPr lang="en-GB" sz="4800" dirty="0">
                <a:latin typeface="Consolas"/>
                <a:ea typeface="Consolas"/>
                <a:cs typeface="Consolas"/>
                <a:sym typeface="Consolas"/>
              </a:rPr>
              <a:t>&lt;div&gt;I’m the second sibling.&lt;/div&gt;</a:t>
            </a:r>
            <a:endParaRPr sz="4800" dirty="0">
              <a:latin typeface="Consolas"/>
              <a:ea typeface="Consolas"/>
              <a:cs typeface="Consolas"/>
              <a:sym typeface="Consolas"/>
            </a:endParaRPr>
          </a:p>
          <a:p>
            <a:pPr marL="1219124"/>
            <a:r>
              <a:rPr lang="en-GB" sz="4800" dirty="0">
                <a:latin typeface="Consolas"/>
                <a:ea typeface="Consolas"/>
                <a:cs typeface="Consolas"/>
                <a:sym typeface="Consolas"/>
              </a:rPr>
              <a:t>&lt;div&gt;I’m the third sibling, </a:t>
            </a:r>
            <a:endParaRPr sz="4800" dirty="0">
              <a:latin typeface="Consolas"/>
              <a:ea typeface="Consolas"/>
              <a:cs typeface="Consolas"/>
              <a:sym typeface="Consolas"/>
            </a:endParaRPr>
          </a:p>
          <a:p>
            <a:pPr marL="2438248"/>
            <a:r>
              <a:rPr lang="en-GB" sz="4800" dirty="0">
                <a:latin typeface="Consolas"/>
                <a:ea typeface="Consolas"/>
                <a:cs typeface="Consolas"/>
                <a:sym typeface="Consolas"/>
              </a:rPr>
              <a:t>&lt;div&gt;but I’m an only child&lt;/div&gt;.</a:t>
            </a:r>
            <a:endParaRPr sz="4800" dirty="0">
              <a:latin typeface="Consolas"/>
              <a:ea typeface="Consolas"/>
              <a:cs typeface="Consolas"/>
              <a:sym typeface="Consolas"/>
            </a:endParaRPr>
          </a:p>
          <a:p>
            <a:pPr marL="1219124"/>
            <a:r>
              <a:rPr lang="en-GB" sz="4800" dirty="0">
                <a:latin typeface="Consolas"/>
                <a:ea typeface="Consolas"/>
                <a:cs typeface="Consolas"/>
                <a:sym typeface="Consolas"/>
              </a:rPr>
              <a:t>&lt;/div&gt;</a:t>
            </a:r>
            <a:endParaRPr sz="4800" dirty="0">
              <a:latin typeface="Consolas"/>
              <a:ea typeface="Consolas"/>
              <a:cs typeface="Consolas"/>
              <a:sym typeface="Consolas"/>
            </a:endParaRPr>
          </a:p>
          <a:p>
            <a:r>
              <a:rPr lang="en-GB" sz="4800" dirty="0">
                <a:latin typeface="Consolas"/>
                <a:ea typeface="Consolas"/>
                <a:cs typeface="Consolas"/>
                <a:sym typeface="Consolas"/>
              </a:rPr>
              <a:t>&lt;/div&gt;</a:t>
            </a:r>
            <a:endParaRPr sz="4800" dirty="0">
              <a:latin typeface="Consolas"/>
              <a:ea typeface="Consolas"/>
              <a:cs typeface="Consolas"/>
              <a:sym typeface="Consolas"/>
            </a:endParaRPr>
          </a:p>
        </p:txBody>
      </p:sp>
      <p:sp>
        <p:nvSpPr>
          <p:cNvPr id="162" name="Google Shape;162;p34"/>
          <p:cNvSpPr txBox="1"/>
          <p:nvPr/>
        </p:nvSpPr>
        <p:spPr>
          <a:xfrm>
            <a:off x="16137933" y="4764946"/>
            <a:ext cx="7201931" cy="4185648"/>
          </a:xfrm>
          <a:prstGeom prst="rect">
            <a:avLst/>
          </a:prstGeom>
          <a:noFill/>
          <a:ln>
            <a:noFill/>
          </a:ln>
        </p:spPr>
        <p:txBody>
          <a:bodyPr spcFirstLastPara="1" wrap="square" lIns="243784" tIns="243784" rIns="243784" bIns="243784" anchor="t" anchorCtr="0">
            <a:spAutoFit/>
          </a:bodyPr>
          <a:lstStyle/>
          <a:p>
            <a:r>
              <a:rPr lang="en-GB" sz="4800" dirty="0">
                <a:latin typeface="Consolas"/>
                <a:ea typeface="Consolas"/>
                <a:cs typeface="Consolas"/>
                <a:sym typeface="Consolas"/>
              </a:rPr>
              <a:t>/* CSS */</a:t>
            </a:r>
            <a:endParaRPr sz="4800" dirty="0">
              <a:latin typeface="Consolas"/>
              <a:ea typeface="Consolas"/>
              <a:cs typeface="Consolas"/>
              <a:sym typeface="Consolas"/>
            </a:endParaRPr>
          </a:p>
          <a:p>
            <a:endParaRPr sz="4800" dirty="0">
              <a:latin typeface="Consolas"/>
              <a:ea typeface="Consolas"/>
              <a:cs typeface="Consolas"/>
              <a:sym typeface="Consolas"/>
            </a:endParaRPr>
          </a:p>
          <a:p>
            <a:pPr>
              <a:buClr>
                <a:schemeClr val="dk1"/>
              </a:buClr>
              <a:buSzPts val="1100"/>
            </a:pPr>
            <a:r>
              <a:rPr lang="en-GB" sz="4800" dirty="0" err="1">
                <a:latin typeface="Consolas"/>
                <a:ea typeface="Consolas"/>
                <a:cs typeface="Consolas"/>
                <a:sym typeface="Consolas"/>
              </a:rPr>
              <a:t>div:only-child</a:t>
            </a:r>
            <a:r>
              <a:rPr lang="en-GB" sz="4800" dirty="0">
                <a:latin typeface="Consolas"/>
                <a:ea typeface="Consolas"/>
                <a:cs typeface="Consolas"/>
                <a:sym typeface="Consolas"/>
              </a:rPr>
              <a:t> {</a:t>
            </a:r>
            <a:endParaRPr sz="4800" dirty="0">
              <a:latin typeface="Consolas"/>
              <a:ea typeface="Consolas"/>
              <a:cs typeface="Consolas"/>
              <a:sym typeface="Consolas"/>
            </a:endParaRPr>
          </a:p>
          <a:p>
            <a:pPr>
              <a:buClr>
                <a:schemeClr val="dk1"/>
              </a:buClr>
              <a:buSzPts val="1100"/>
            </a:pPr>
            <a:r>
              <a:rPr lang="en-GB" sz="4800" dirty="0">
                <a:latin typeface="Consolas"/>
                <a:ea typeface="Consolas"/>
                <a:cs typeface="Consolas"/>
                <a:sym typeface="Consolas"/>
              </a:rPr>
              <a:t>  </a:t>
            </a:r>
            <a:r>
              <a:rPr lang="en-GB" sz="4800" i="1" dirty="0" err="1">
                <a:latin typeface="Consolas"/>
                <a:ea typeface="Consolas"/>
                <a:cs typeface="Consolas"/>
                <a:sym typeface="Consolas"/>
              </a:rPr>
              <a:t>color</a:t>
            </a:r>
            <a:r>
              <a:rPr lang="en-GB" sz="4800" dirty="0">
                <a:latin typeface="Consolas"/>
                <a:ea typeface="Consolas"/>
                <a:cs typeface="Consolas"/>
                <a:sym typeface="Consolas"/>
              </a:rPr>
              <a:t>: chartreuse;</a:t>
            </a:r>
            <a:endParaRPr sz="4800" dirty="0">
              <a:latin typeface="Consolas"/>
              <a:ea typeface="Consolas"/>
              <a:cs typeface="Consolas"/>
              <a:sym typeface="Consolas"/>
            </a:endParaRPr>
          </a:p>
          <a:p>
            <a:r>
              <a:rPr lang="en-GB" sz="4800" dirty="0">
                <a:latin typeface="Consolas"/>
                <a:ea typeface="Consolas"/>
                <a:cs typeface="Consolas"/>
                <a:sym typeface="Consolas"/>
              </a:rPr>
              <a:t>}</a:t>
            </a:r>
            <a:endParaRPr sz="4800" dirty="0">
              <a:latin typeface="Consolas"/>
              <a:ea typeface="Consolas"/>
              <a:cs typeface="Consolas"/>
              <a:sym typeface="Consola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34517-760C-6E96-3BAF-480CC6E909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61C7C-0694-82C7-9830-7E837235B8C4}"/>
              </a:ext>
            </a:extLst>
          </p:cNvPr>
          <p:cNvSpPr>
            <a:spLocks noGrp="1"/>
          </p:cNvSpPr>
          <p:nvPr>
            <p:ph type="ctrTitle"/>
          </p:nvPr>
        </p:nvSpPr>
        <p:spPr>
          <a:xfrm>
            <a:off x="1133856" y="5742433"/>
            <a:ext cx="21370149" cy="7059168"/>
          </a:xfrm>
        </p:spPr>
        <p:txBody>
          <a:bodyPr/>
          <a:lstStyle/>
          <a:p>
            <a:r>
              <a:rPr lang="en-US" dirty="0"/>
              <a:t>Summary and Reflection</a:t>
            </a:r>
            <a:br>
              <a:rPr lang="en-US" dirty="0"/>
            </a:br>
            <a:br>
              <a:rPr lang="en-US" b="1" i="1" dirty="0"/>
            </a:br>
            <a:endParaRPr lang="LID4096" dirty="0">
              <a:solidFill>
                <a:schemeClr val="accent1"/>
              </a:solidFill>
            </a:endParaRPr>
          </a:p>
        </p:txBody>
      </p:sp>
    </p:spTree>
    <p:extLst>
      <p:ext uri="{BB962C8B-B14F-4D97-AF65-F5344CB8AC3E}">
        <p14:creationId xmlns:p14="http://schemas.microsoft.com/office/powerpoint/2010/main" val="1985197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76870-CB0A-A8DC-A888-D432F47C73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0ED47B-9900-B131-1545-D3FC5E70CC0F}"/>
              </a:ext>
            </a:extLst>
          </p:cNvPr>
          <p:cNvSpPr>
            <a:spLocks noGrp="1"/>
          </p:cNvSpPr>
          <p:nvPr>
            <p:ph type="title"/>
          </p:nvPr>
        </p:nvSpPr>
        <p:spPr/>
        <p:txBody>
          <a:bodyPr>
            <a:normAutofit/>
          </a:bodyPr>
          <a:lstStyle/>
          <a:p>
            <a:r>
              <a:rPr lang="en-US" dirty="0"/>
              <a:t>REFLECTION PROMPT</a:t>
            </a:r>
          </a:p>
        </p:txBody>
      </p:sp>
      <p:sp>
        <p:nvSpPr>
          <p:cNvPr id="3" name="Content Placeholder 2">
            <a:extLst>
              <a:ext uri="{FF2B5EF4-FFF2-40B4-BE49-F238E27FC236}">
                <a16:creationId xmlns:a16="http://schemas.microsoft.com/office/drawing/2014/main" id="{ABEF43A9-41E0-9697-0E37-E882460F84FA}"/>
              </a:ext>
            </a:extLst>
          </p:cNvPr>
          <p:cNvSpPr>
            <a:spLocks noGrp="1"/>
          </p:cNvSpPr>
          <p:nvPr>
            <p:ph idx="1"/>
          </p:nvPr>
        </p:nvSpPr>
        <p:spPr>
          <a:xfrm>
            <a:off x="1676291" y="3651250"/>
            <a:ext cx="17599261" cy="7373801"/>
          </a:xfrm>
        </p:spPr>
        <p:txBody>
          <a:bodyPr>
            <a:normAutofit/>
          </a:bodyPr>
          <a:lstStyle/>
          <a:p>
            <a:pPr fontAlgn="base"/>
            <a:r>
              <a:rPr lang="en-US" dirty="0"/>
              <a:t>What typography techniques will you apply in your web projects?</a:t>
            </a:r>
          </a:p>
        </p:txBody>
      </p:sp>
    </p:spTree>
    <p:extLst>
      <p:ext uri="{BB962C8B-B14F-4D97-AF65-F5344CB8AC3E}">
        <p14:creationId xmlns:p14="http://schemas.microsoft.com/office/powerpoint/2010/main" val="29039197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1B916-DBD6-6B18-E48D-DC902CD622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6D00B4-CDF2-11D4-A123-55CCD8AB4ABE}"/>
              </a:ext>
            </a:extLst>
          </p:cNvPr>
          <p:cNvSpPr>
            <a:spLocks noGrp="1"/>
          </p:cNvSpPr>
          <p:nvPr>
            <p:ph type="title"/>
          </p:nvPr>
        </p:nvSpPr>
        <p:spPr>
          <a:xfrm>
            <a:off x="1676291" y="2485899"/>
            <a:ext cx="21029831" cy="2651126"/>
          </a:xfrm>
        </p:spPr>
        <p:txBody>
          <a:bodyPr/>
          <a:lstStyle/>
          <a:p>
            <a:r>
              <a:rPr lang="en-US" dirty="0"/>
              <a:t>NEXT STEPS:</a:t>
            </a:r>
          </a:p>
        </p:txBody>
      </p:sp>
      <p:sp>
        <p:nvSpPr>
          <p:cNvPr id="3" name="Content Placeholder 2">
            <a:extLst>
              <a:ext uri="{FF2B5EF4-FFF2-40B4-BE49-F238E27FC236}">
                <a16:creationId xmlns:a16="http://schemas.microsoft.com/office/drawing/2014/main" id="{F6C8C2B9-3784-0CE8-684D-C6D6616BF569}"/>
              </a:ext>
            </a:extLst>
          </p:cNvPr>
          <p:cNvSpPr>
            <a:spLocks noGrp="1"/>
          </p:cNvSpPr>
          <p:nvPr>
            <p:ph idx="1"/>
          </p:nvPr>
        </p:nvSpPr>
        <p:spPr>
          <a:xfrm>
            <a:off x="1676291" y="5772658"/>
            <a:ext cx="21029831" cy="2651127"/>
          </a:xfrm>
        </p:spPr>
        <p:txBody>
          <a:bodyPr>
            <a:normAutofit/>
          </a:bodyPr>
          <a:lstStyle/>
          <a:p>
            <a:r>
              <a:rPr lang="en-US" dirty="0"/>
              <a:t>Explore Google Fonts and apply different font pairings in a practice web page and complete Homework exercise.</a:t>
            </a:r>
          </a:p>
        </p:txBody>
      </p:sp>
    </p:spTree>
    <p:extLst>
      <p:ext uri="{BB962C8B-B14F-4D97-AF65-F5344CB8AC3E}">
        <p14:creationId xmlns:p14="http://schemas.microsoft.com/office/powerpoint/2010/main" val="3505468902"/>
      </p:ext>
    </p:extLst>
  </p:cSld>
  <p:clrMapOvr>
    <a:masterClrMapping/>
  </p:clrMapOvr>
</p:sld>
</file>

<file path=ppt/theme/theme1.xml><?xml version="1.0" encoding="utf-8"?>
<a:theme xmlns:a="http://schemas.openxmlformats.org/drawingml/2006/main" name="Office Theme">
  <a:themeElements>
    <a:clrScheme name="NAIT 2020">
      <a:dk1>
        <a:sysClr val="windowText" lastClr="000000"/>
      </a:dk1>
      <a:lt1>
        <a:sysClr val="window" lastClr="FFFFFF"/>
      </a:lt1>
      <a:dk2>
        <a:srgbClr val="63666A"/>
      </a:dk2>
      <a:lt2>
        <a:srgbClr val="F2F2F2"/>
      </a:lt2>
      <a:accent1>
        <a:srgbClr val="002D74"/>
      </a:accent1>
      <a:accent2>
        <a:srgbClr val="00A0DF"/>
      </a:accent2>
      <a:accent3>
        <a:srgbClr val="005CB9"/>
      </a:accent3>
      <a:accent4>
        <a:srgbClr val="2AD2C9"/>
      </a:accent4>
      <a:accent5>
        <a:srgbClr val="97D700"/>
      </a:accent5>
      <a:accent6>
        <a:srgbClr val="F2A900"/>
      </a:accent6>
      <a:hlink>
        <a:srgbClr val="00AEFF"/>
      </a:hlink>
      <a:folHlink>
        <a:srgbClr val="981D9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IT PPT TEMPLATE" id="{48C832B7-36DA-FF42-A033-DC69DF6E754B}" vid="{12E7E523-AC5B-2043-BD48-32C2D6EE822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28175f85-aaa6-450f-8e62-bb2d8657c111">
      <Value>197</Value>
    </TaxCatchAll>
    <lcf76f155ced4ddcb4097134ff3c332f xmlns="c0636a0e-6a5d-4f3a-8cec-2ed9d7e96064">
      <Terms xmlns="http://schemas.microsoft.com/office/infopath/2007/PartnerControls"/>
    </lcf76f155ced4ddcb4097134ff3c332f>
    <DocumentType xmlns="c0636a0e-6a5d-4f3a-8cec-2ed9d7e9606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BB085E912FEB648B2192060B32B0D81" ma:contentTypeVersion="13" ma:contentTypeDescription="Create a new document." ma:contentTypeScope="" ma:versionID="86d586ee750db57df4bf82dbbd148a8d">
  <xsd:schema xmlns:xsd="http://www.w3.org/2001/XMLSchema" xmlns:xs="http://www.w3.org/2001/XMLSchema" xmlns:p="http://schemas.microsoft.com/office/2006/metadata/properties" xmlns:ns2="c0636a0e-6a5d-4f3a-8cec-2ed9d7e96064" xmlns:ns3="28175f85-aaa6-450f-8e62-bb2d8657c111" targetNamespace="http://schemas.microsoft.com/office/2006/metadata/properties" ma:root="true" ma:fieldsID="b83bdf18099a32914c9c196890c95f2f" ns2:_="" ns3:_="">
    <xsd:import namespace="c0636a0e-6a5d-4f3a-8cec-2ed9d7e96064"/>
    <xsd:import namespace="28175f85-aaa6-450f-8e62-bb2d8657c11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Document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636a0e-6a5d-4f3a-8cec-2ed9d7e960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ce3a7a1-84a7-46f6-b9ea-52be05fcf1b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DocumentType" ma:index="20" nillable="true" ma:displayName="Document Type" ma:format="Dropdown" ma:internalName="DocumentType">
      <xsd:simpleType>
        <xsd:union memberTypes="dms:Text">
          <xsd:simpleType>
            <xsd:restriction base="dms:Choice">
              <xsd:enumeration value="Source of truth"/>
              <xsd:enumeration value="Archive"/>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28175f85-aaa6-450f-8e62-bb2d8657c11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1229875-1db7-498c-8d13-35c205bc76f3}" ma:internalName="TaxCatchAll" ma:showField="CatchAllData" ma:web="28175f85-aaa6-450f-8e62-bb2d8657c1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77E4845-7472-4B0C-A0C7-BE9A32CE6DC0}">
  <ds:schemaRefs>
    <ds:schemaRef ds:uri="http://schemas.microsoft.com/sharepoint/v3/contenttype/forms"/>
  </ds:schemaRefs>
</ds:datastoreItem>
</file>

<file path=customXml/itemProps2.xml><?xml version="1.0" encoding="utf-8"?>
<ds:datastoreItem xmlns:ds="http://schemas.openxmlformats.org/officeDocument/2006/customXml" ds:itemID="{2856E63F-A8C0-4586-AFCD-69964B5AAAEB}">
  <ds:schemaRefs>
    <ds:schemaRef ds:uri="http://purl.org/dc/elements/1.1/"/>
    <ds:schemaRef ds:uri="52bb52fc-fb4a-47ec-96af-1ca16eda3341"/>
    <ds:schemaRef ds:uri="http://purl.org/dc/dcmitype/"/>
    <ds:schemaRef ds:uri="http://schemas.microsoft.com/office/infopath/2007/PartnerControls"/>
    <ds:schemaRef ds:uri="http://schemas.openxmlformats.org/package/2006/metadata/core-properties"/>
    <ds:schemaRef ds:uri="http://schemas.microsoft.com/office/2006/documentManagement/types"/>
    <ds:schemaRef ds:uri="82b3bded-9174-49ad-922b-f495aa64e0c3"/>
    <ds:schemaRef ds:uri="a1931c98-6bbb-40b1-967f-8cf7447a3553"/>
    <ds:schemaRef ds:uri="http://schemas.microsoft.com/sharepoint/v3"/>
    <ds:schemaRef ds:uri="http://schemas.microsoft.com/office/2006/metadata/properties"/>
    <ds:schemaRef ds:uri="http://www.w3.org/XML/1998/namespace"/>
    <ds:schemaRef ds:uri="http://purl.org/dc/terms/"/>
    <ds:schemaRef ds:uri="28175f85-aaa6-450f-8e62-bb2d8657c111"/>
    <ds:schemaRef ds:uri="c0636a0e-6a5d-4f3a-8cec-2ed9d7e96064"/>
  </ds:schemaRefs>
</ds:datastoreItem>
</file>

<file path=customXml/itemProps3.xml><?xml version="1.0" encoding="utf-8"?>
<ds:datastoreItem xmlns:ds="http://schemas.openxmlformats.org/officeDocument/2006/customXml" ds:itemID="{748BED25-15FC-487C-82FE-F21FB54585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636a0e-6a5d-4f3a-8cec-2ed9d7e96064"/>
    <ds:schemaRef ds:uri="28175f85-aaa6-450f-8e62-bb2d8657c1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Digital_Design-PPT_TEMPLATE_2025</Template>
  <TotalTime>4482</TotalTime>
  <Words>2144</Words>
  <Application>Microsoft Office PowerPoint</Application>
  <PresentationFormat>Custom</PresentationFormat>
  <Paragraphs>233</Paragraphs>
  <Slides>41</Slides>
  <Notes>39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Aptos</vt:lpstr>
      <vt:lpstr>Arial</vt:lpstr>
      <vt:lpstr>Avenir</vt:lpstr>
      <vt:lpstr>Calibri</vt:lpstr>
      <vt:lpstr>Consolas</vt:lpstr>
      <vt:lpstr>Office Theme</vt:lpstr>
      <vt:lpstr>sdev1701</vt:lpstr>
      <vt:lpstr>PowerPoint Presentation</vt:lpstr>
      <vt:lpstr>INTRODUCTION TO TYPOGRAPHY</vt:lpstr>
      <vt:lpstr>TYPOGRAPHY'S ROLE IN DESIGN</vt:lpstr>
      <vt:lpstr>COMMUNICATION</vt:lpstr>
      <vt:lpstr>AESTHETIC</vt:lpstr>
      <vt:lpstr>IMPORTANT FUNCTIONS OF TYPOGRAPHY</vt:lpstr>
      <vt:lpstr>BASIC TERMINOLOGY</vt:lpstr>
      <vt:lpstr>BASIC TERMINOLOGY</vt:lpstr>
      <vt:lpstr>BASIC TERMINOLOGY</vt:lpstr>
      <vt:lpstr>KEY MEASUREMENTS</vt:lpstr>
      <vt:lpstr>KEY MEASUREMENTS</vt:lpstr>
      <vt:lpstr>KEY MEASUREMENTS</vt:lpstr>
      <vt:lpstr>KEY MEASUREMENTS</vt:lpstr>
      <vt:lpstr>line-height: Spacing Between Lines</vt:lpstr>
      <vt:lpstr>letter-spacing: Space Between Letters</vt:lpstr>
      <vt:lpstr>Other Font Styles</vt:lpstr>
      <vt:lpstr>PowerPoint Presentation</vt:lpstr>
      <vt:lpstr>Serif Fonts</vt:lpstr>
      <vt:lpstr>Slab serif fonts</vt:lpstr>
      <vt:lpstr>Sans-Serif Fonts</vt:lpstr>
      <vt:lpstr>Handwritten fonts</vt:lpstr>
      <vt:lpstr>Modern fonts</vt:lpstr>
      <vt:lpstr>Decorative Font</vt:lpstr>
      <vt:lpstr>PowerPoint Presentation</vt:lpstr>
      <vt:lpstr>HIERARCHY AND STRUCTURE</vt:lpstr>
      <vt:lpstr>ALIGNMENT</vt:lpstr>
      <vt:lpstr>LIMIT LINE LENGTH</vt:lpstr>
      <vt:lpstr>GIVE PREFERENCE TO STANDARD FONTS</vt:lpstr>
      <vt:lpstr>WEB SAFE FONTS: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and Reflection  </vt:lpstr>
      <vt:lpstr>REFLECTION PROMPT</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Dorian Bibbey</dc:creator>
  <cp:lastModifiedBy>Larisa Pitchko</cp:lastModifiedBy>
  <cp:revision>27</cp:revision>
  <cp:lastPrinted>2019-08-01T00:13:24Z</cp:lastPrinted>
  <dcterms:created xsi:type="dcterms:W3CDTF">2025-01-22T14:53:54Z</dcterms:created>
  <dcterms:modified xsi:type="dcterms:W3CDTF">2025-10-22T23:52:46Z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 Department">
    <vt:lpwstr>197;#Brand|943f07b5-0abf-4eba-9a92-bb911ec4797c</vt:lpwstr>
  </property>
  <property fmtid="{D5CDD505-2E9C-101B-9397-08002B2CF9AE}" pid="3" name="Topic">
    <vt:lpwstr/>
  </property>
  <property fmtid="{D5CDD505-2E9C-101B-9397-08002B2CF9AE}" pid="4" name="Building">
    <vt:lpwstr/>
  </property>
  <property fmtid="{D5CDD505-2E9C-101B-9397-08002B2CF9AE}" pid="5" name="ContentTypeId">
    <vt:lpwstr>0x0101007BB085E912FEB648B2192060B32B0D81</vt:lpwstr>
  </property>
  <property fmtid="{D5CDD505-2E9C-101B-9397-08002B2CF9AE}" pid="6" name="Target Audience">
    <vt:lpwstr/>
  </property>
  <property fmtid="{D5CDD505-2E9C-101B-9397-08002B2CF9AE}" pid="7" name="_dlc_DocIdItemGuid">
    <vt:lpwstr>a4d56298-c866-45f0-a3db-be918181ebef</vt:lpwstr>
  </property>
  <property fmtid="{D5CDD505-2E9C-101B-9397-08002B2CF9AE}" pid="8" name="PublishedDocument.Location">
    <vt:lpwstr/>
  </property>
  <property fmtid="{D5CDD505-2E9C-101B-9397-08002B2CF9AE}" pid="9" name="Program">
    <vt:lpwstr/>
  </property>
  <property fmtid="{D5CDD505-2E9C-101B-9397-08002B2CF9AE}" pid="10" name="MSIP_Label_10877899-02b0-462c-b2a9-b7d15c4f96fe_Enabled">
    <vt:lpwstr>true</vt:lpwstr>
  </property>
  <property fmtid="{D5CDD505-2E9C-101B-9397-08002B2CF9AE}" pid="11" name="MSIP_Label_10877899-02b0-462c-b2a9-b7d15c4f96fe_SetDate">
    <vt:lpwstr>2025-04-25T04:03:37Z</vt:lpwstr>
  </property>
  <property fmtid="{D5CDD505-2E9C-101B-9397-08002B2CF9AE}" pid="12" name="MSIP_Label_10877899-02b0-462c-b2a9-b7d15c4f96fe_Method">
    <vt:lpwstr>Standard</vt:lpwstr>
  </property>
  <property fmtid="{D5CDD505-2E9C-101B-9397-08002B2CF9AE}" pid="13" name="MSIP_Label_10877899-02b0-462c-b2a9-b7d15c4f96fe_Name">
    <vt:lpwstr>Protected [Protected A]</vt:lpwstr>
  </property>
  <property fmtid="{D5CDD505-2E9C-101B-9397-08002B2CF9AE}" pid="14" name="MSIP_Label_10877899-02b0-462c-b2a9-b7d15c4f96fe_SiteId">
    <vt:lpwstr>5c98fb47-d3b9-4649-9d94-f88cbdd9729c</vt:lpwstr>
  </property>
  <property fmtid="{D5CDD505-2E9C-101B-9397-08002B2CF9AE}" pid="15" name="MSIP_Label_10877899-02b0-462c-b2a9-b7d15c4f96fe_ActionId">
    <vt:lpwstr>a9b82927-b51c-4c6d-b3ff-061f8f651531</vt:lpwstr>
  </property>
  <property fmtid="{D5CDD505-2E9C-101B-9397-08002B2CF9AE}" pid="16" name="MSIP_Label_10877899-02b0-462c-b2a9-b7d15c4f96fe_ContentBits">
    <vt:lpwstr>0</vt:lpwstr>
  </property>
  <property fmtid="{D5CDD505-2E9C-101B-9397-08002B2CF9AE}" pid="17" name="MSIP_Label_10877899-02b0-462c-b2a9-b7d15c4f96fe_Tag">
    <vt:lpwstr>10, 3, 0, 1</vt:lpwstr>
  </property>
</Properties>
</file>