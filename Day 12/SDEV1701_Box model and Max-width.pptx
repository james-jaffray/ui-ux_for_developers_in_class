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37"/>
  </p:notesMasterIdLst>
  <p:handoutMasterIdLst>
    <p:handoutMasterId r:id="rId38"/>
  </p:handoutMasterIdLst>
  <p:sldIdLst>
    <p:sldId id="271" r:id="rId5"/>
    <p:sldId id="301" r:id="rId6"/>
    <p:sldId id="632" r:id="rId7"/>
    <p:sldId id="630" r:id="rId8"/>
    <p:sldId id="645" r:id="rId9"/>
    <p:sldId id="670" r:id="rId10"/>
    <p:sldId id="646" r:id="rId11"/>
    <p:sldId id="669" r:id="rId12"/>
    <p:sldId id="660" r:id="rId13"/>
    <p:sldId id="654" r:id="rId14"/>
    <p:sldId id="672" r:id="rId15"/>
    <p:sldId id="674" r:id="rId16"/>
    <p:sldId id="671" r:id="rId17"/>
    <p:sldId id="673" r:id="rId18"/>
    <p:sldId id="571" r:id="rId19"/>
    <p:sldId id="676" r:id="rId20"/>
    <p:sldId id="677" r:id="rId21"/>
    <p:sldId id="679" r:id="rId22"/>
    <p:sldId id="680" r:id="rId23"/>
    <p:sldId id="681" r:id="rId24"/>
    <p:sldId id="682" r:id="rId25"/>
    <p:sldId id="678" r:id="rId26"/>
    <p:sldId id="683" r:id="rId27"/>
    <p:sldId id="684" r:id="rId28"/>
    <p:sldId id="685" r:id="rId29"/>
    <p:sldId id="686" r:id="rId30"/>
    <p:sldId id="687" r:id="rId31"/>
    <p:sldId id="688" r:id="rId32"/>
    <p:sldId id="689" r:id="rId33"/>
    <p:sldId id="675" r:id="rId34"/>
    <p:sldId id="572" r:id="rId35"/>
    <p:sldId id="574" r:id="rId36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/>
    <p:restoredTop sz="94694"/>
  </p:normalViewPr>
  <p:slideViewPr>
    <p:cSldViewPr snapToGrid="0" snapToObjects="1" showGuides="1">
      <p:cViewPr varScale="1">
        <p:scale>
          <a:sx n="24" d="100"/>
          <a:sy n="24" d="100"/>
        </p:scale>
        <p:origin x="106" y="73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3F030-25FA-A543-BFBF-761F02F6E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FF95-1FB2-5A4B-9A6E-D20FD3F8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85D7A-CA92-5443-B821-58789E6DAB7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67D0-AB74-6C43-A583-F67E29C68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816A-9129-4E41-8433-93B18C20AF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43503-5B3B-BC4A-B035-E280D658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2952A-E45C-4CFD-B19C-8BAB0D92CAF5}" type="datetimeFigureOut">
              <a:rPr lang="LID4096" smtClean="0"/>
              <a:t>06/28/2025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9B0BC-D092-4379-8AA3-497AF585871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500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550D-D130-9635-92BE-8B6E117A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04504-2D30-8E0F-FD53-74757D210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FDDAD-1F28-6070-FFF7-00BF584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56DFE-27C7-DC51-3C5A-B388C1981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4125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0049-31C9-FF6B-8918-B44882898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F4BE9-A283-C584-9C69-B180B8ECA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439D5-A608-C460-34ED-EA69B20A9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err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AA44C-88BE-671A-DD4F-9455E6CD7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0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4177-0646-0E41-56FA-BDAE30AD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60F34-B0A1-1D01-EBAB-A26460099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CB26C-75C2-CF3E-F31F-F03AC4323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87569-9EA9-808F-AACD-E1745774A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7407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1E9E-8859-FFD4-0501-C8CB1020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B2E96-0FB4-B3A8-3B0F-428E784F1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EE390-57DF-E80C-9230-1C66245CD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02D9B-7F09-458E-B29A-2F12FDFF4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0893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528D2-2819-F8B5-BB0C-BFE10D4D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F3014-88DF-014A-CDA0-5EDBE232F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F74B8-4F76-73F2-CDE2-A8B64C5E2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20E9E-95B3-A26A-CD45-02D2EED0B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5141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6461-AE4B-04BA-E246-BDB41BEC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1B637-D35C-124D-8C3D-F13FC475B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950A5-FA3E-FAA5-20C3-F797C3862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5FEF4-D21B-331D-DCCA-ED0C8997F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5992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4913A-DB57-6D9F-A88F-B6757A7A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EA829-9330-CB6C-F758-146B57B54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A6C77-3D83-46CC-DFCE-AB8703F36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5D593-85E4-7874-DE8E-369B605B1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4982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4AE4C-B1B1-3E79-9826-334E99CA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3F47C-201D-E259-DD35-3A7743133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1FF8D-0DA3-A551-B892-2D256705A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96781-47D5-D91C-8B94-160A378D8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1751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1704-8ADE-5A1F-0186-57E3A3C0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34069-17FE-BFA8-50E0-A3456DC64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17F2F-60BB-0BEF-7BA1-8AC0B73F9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F1529-14B9-876F-6CBD-834517907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7533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6560-FC24-BC00-D647-79FCF97C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5AF89-6307-C231-DD42-AD110AD92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79438-BB29-5C72-5813-378BA0A26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9AC8-3419-5F14-C864-345601630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8917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0EBB2-7A87-6111-76B7-28250358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21C96-4357-9797-7223-1E1A46A11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F4707-06FA-9F3C-3D06-D236F0608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8C5EE-4518-3669-A463-3C4ADBBC9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669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BEB0-5038-0620-5D28-98B2D010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F2CC1-674B-F437-86E3-970201053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093FB-F5E5-43F3-E47B-5E8DBF114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FD5C5-EBBC-C0C1-FC0A-66EF5E24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1115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92665-2C33-B001-B2D2-021AFDFB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9B94E-E09B-121D-AA02-E4133F725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B2ADB-886A-ED6A-7862-A12C501E0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97915-D933-B0A1-9106-F390372F2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2725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6FC9B-6800-41F3-5146-4C12C053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3AAFC-6484-9BA4-5310-5B5A5355B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F7D26-BFD6-335F-B7A0-8544B12D4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4F79D-87EC-69A9-86A1-A121862E9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9544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22177-F1DA-A901-77F0-E76A4E1C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5DE1F-CD0B-EE60-C65A-737A56BD9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0C4FC-17FF-DCC9-01CB-E8BB61C7B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5D113-4896-23DB-DC6A-233F2E55C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0393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EF573-1891-8D6D-BA1E-28A05E9F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67E7A-1E41-8851-9841-7C67D1949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35A8A-D865-9D41-3218-E50FEF018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6B0A0-50ED-B53C-9BD4-4A490AD21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8526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51F9-D63D-B432-75AC-019B57F4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66A36-C3A8-6948-AE53-45D67B32F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CF331-008F-C98C-257E-73B46BD64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7B7F-B31C-ABC1-4DA2-5A4362F5D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2385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AEC6-D710-2606-C9F5-8BB659E6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DE65D-3572-4BC2-B628-F615C0351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22F56-5188-026C-2828-980E0313C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1A6E1-CE7A-C102-EC46-C2E179252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2271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1A3F-412D-613E-E0C3-3036805B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EA3A3-698A-A4C2-EC6F-6962DC766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8CE47-87BC-9271-034F-11CBC0437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D5D32-5A37-15E3-1871-4F5248E7F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3570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AEF0-795C-C6D6-8237-622498315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D0315-BDCE-8D93-9875-E5DD77024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800B0-3124-C198-A148-3FD2D08BF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F7B98-EE0A-0669-BF99-1314CE718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0122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58B9-7B06-6C8B-76C1-23333BA3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A194C-7717-7667-4A40-AE4478C28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53ED4-CFC6-5D19-1917-BFC0B69DB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3F711-F370-0D9B-2DC7-7BC2E4482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33862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E9C9-FD9E-C165-8B42-891D67CA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F6B36-7D30-B354-4991-93E0BB71A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2C06E-14AF-FE33-9374-0EE9DB1CB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5833A-75E1-B722-DC85-7B1E02936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66395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FBB2E-3BAE-0CF4-7941-495B1BB5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5E093-7593-F5F9-EF27-3B0F889AC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06283-15CB-8B2C-F5DB-07A118196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6CF38-8CF8-D5AF-E233-98D97F059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91782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9FAD-7AAE-0060-EDE3-147B2544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2E745-4442-90DA-BA8F-166B298DD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B0EDF-F7E9-08E9-E9DC-1EE9BD5B2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AD4A4-1E09-DC70-18D5-15022E865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4518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35DF-54FD-E980-6AAE-0F2E49D8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F1CEA-24F3-7203-E389-6062994A4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0FF64-BD4F-3784-4BC5-0621778D9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84DE-B68C-D7DC-ECE4-66B3BB62D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86570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E8D7-93CA-1A00-874A-4A69B7D3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A7FBC-BFCC-EBEE-FBB1-4B252D9A7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AA6F8-A7D2-92A2-5986-1AC5DBDC3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18802-0230-BBA2-AAE4-B7A6EBC6D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0473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42B4-6A27-DBF3-5F58-EA4A776D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A7A40-E279-00A9-954A-7710F22C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25EA2-3C10-E3A7-AB8C-87D6C5BD4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2325F-9DD1-B928-DEE1-5762E228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3510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361B-C519-ADA2-D44A-C92A78DC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1CF4D-138C-5100-4E21-33B66AA80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7632C-630C-34C7-062B-14B767BA9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C6E28-B8D9-4C2B-7874-40539B19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9652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5799" y="5078186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9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799" y="8752114"/>
            <a:ext cx="21210814" cy="2269673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73738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 userDrawn="1"/>
        </p:nvSpPr>
        <p:spPr>
          <a:xfrm>
            <a:off x="3962400" y="1359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49"/>
            <a:ext cx="10362526" cy="9101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7566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9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696232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4574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5570555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8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5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39495" y="6091583"/>
            <a:ext cx="12730921" cy="1857374"/>
          </a:xfrm>
        </p:spPr>
        <p:txBody>
          <a:bodyPr>
            <a:norm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</a:defRPr>
            </a:lvl1pPr>
            <a:lvl2pPr marL="914354" indent="0">
              <a:buNone/>
              <a:defRPr/>
            </a:lvl2pPr>
            <a:lvl3pPr marL="1828709" indent="0">
              <a:buNone/>
              <a:defRPr/>
            </a:lvl3pPr>
            <a:lvl4pPr marL="2743063" indent="0">
              <a:buNone/>
              <a:defRPr/>
            </a:lvl4pPr>
            <a:lvl5pPr marL="3657417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1027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4256BD-EBF6-F04C-B88C-52582AC3F228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8" r:id="rId2"/>
    <p:sldLayoutId id="2147483695" r:id="rId3"/>
    <p:sldLayoutId id="2147483676" r:id="rId4"/>
    <p:sldLayoutId id="2147483703" r:id="rId5"/>
    <p:sldLayoutId id="2147483704" r:id="rId6"/>
    <p:sldLayoutId id="2147483705" r:id="rId7"/>
    <p:sldLayoutId id="2147483706" r:id="rId8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ccalil.li/blog/a-modern-css-rese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ecolas.github.io/normalize.cs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iccalil.li/blog/a-modern-css-rese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2/getting-started/download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iccalil.li/blog/a-modern-css-reset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F75-93C1-9D40-86A3-4C13A50E20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SDEV1701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672B5-6320-EE4E-B160-EE8483FDF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Day 12 Box Model and Max-width</a:t>
            </a:r>
          </a:p>
        </p:txBody>
      </p:sp>
    </p:spTree>
    <p:extLst>
      <p:ext uri="{BB962C8B-B14F-4D97-AF65-F5344CB8AC3E}">
        <p14:creationId xmlns:p14="http://schemas.microsoft.com/office/powerpoint/2010/main" val="108859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6BA01-6A29-8B1C-C3B2-9D02106E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241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85D90-7B0E-6517-2F0D-836812C2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789" y="1279040"/>
            <a:ext cx="6857554" cy="34381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Today’s focus</a:t>
            </a:r>
            <a:endParaRPr lang="en-US" sz="10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472" y="5147512"/>
            <a:ext cx="6509766" cy="36576"/>
          </a:xfrm>
          <a:custGeom>
            <a:avLst/>
            <a:gdLst>
              <a:gd name="connsiteX0" fmla="*/ 0 w 6509766"/>
              <a:gd name="connsiteY0" fmla="*/ 0 h 36576"/>
              <a:gd name="connsiteX1" fmla="*/ 650977 w 6509766"/>
              <a:gd name="connsiteY1" fmla="*/ 0 h 36576"/>
              <a:gd name="connsiteX2" fmla="*/ 1301953 w 6509766"/>
              <a:gd name="connsiteY2" fmla="*/ 0 h 36576"/>
              <a:gd name="connsiteX3" fmla="*/ 1952930 w 6509766"/>
              <a:gd name="connsiteY3" fmla="*/ 0 h 36576"/>
              <a:gd name="connsiteX4" fmla="*/ 2734102 w 6509766"/>
              <a:gd name="connsiteY4" fmla="*/ 0 h 36576"/>
              <a:gd name="connsiteX5" fmla="*/ 3450176 w 6509766"/>
              <a:gd name="connsiteY5" fmla="*/ 0 h 36576"/>
              <a:gd name="connsiteX6" fmla="*/ 3905860 w 6509766"/>
              <a:gd name="connsiteY6" fmla="*/ 0 h 36576"/>
              <a:gd name="connsiteX7" fmla="*/ 4491739 w 6509766"/>
              <a:gd name="connsiteY7" fmla="*/ 0 h 36576"/>
              <a:gd name="connsiteX8" fmla="*/ 5272910 w 6509766"/>
              <a:gd name="connsiteY8" fmla="*/ 0 h 36576"/>
              <a:gd name="connsiteX9" fmla="*/ 5923887 w 6509766"/>
              <a:gd name="connsiteY9" fmla="*/ 0 h 36576"/>
              <a:gd name="connsiteX10" fmla="*/ 6509766 w 6509766"/>
              <a:gd name="connsiteY10" fmla="*/ 0 h 36576"/>
              <a:gd name="connsiteX11" fmla="*/ 6509766 w 6509766"/>
              <a:gd name="connsiteY11" fmla="*/ 36576 h 36576"/>
              <a:gd name="connsiteX12" fmla="*/ 5988985 w 6509766"/>
              <a:gd name="connsiteY12" fmla="*/ 36576 h 36576"/>
              <a:gd name="connsiteX13" fmla="*/ 5207813 w 6509766"/>
              <a:gd name="connsiteY13" fmla="*/ 36576 h 36576"/>
              <a:gd name="connsiteX14" fmla="*/ 4687032 w 6509766"/>
              <a:gd name="connsiteY14" fmla="*/ 36576 h 36576"/>
              <a:gd name="connsiteX15" fmla="*/ 4231348 w 6509766"/>
              <a:gd name="connsiteY15" fmla="*/ 36576 h 36576"/>
              <a:gd name="connsiteX16" fmla="*/ 3775664 w 6509766"/>
              <a:gd name="connsiteY16" fmla="*/ 36576 h 36576"/>
              <a:gd name="connsiteX17" fmla="*/ 3059590 w 6509766"/>
              <a:gd name="connsiteY17" fmla="*/ 36576 h 36576"/>
              <a:gd name="connsiteX18" fmla="*/ 2603906 w 6509766"/>
              <a:gd name="connsiteY18" fmla="*/ 36576 h 36576"/>
              <a:gd name="connsiteX19" fmla="*/ 1952930 w 6509766"/>
              <a:gd name="connsiteY19" fmla="*/ 36576 h 36576"/>
              <a:gd name="connsiteX20" fmla="*/ 1432149 w 6509766"/>
              <a:gd name="connsiteY20" fmla="*/ 36576 h 36576"/>
              <a:gd name="connsiteX21" fmla="*/ 781172 w 6509766"/>
              <a:gd name="connsiteY21" fmla="*/ 36576 h 36576"/>
              <a:gd name="connsiteX22" fmla="*/ 0 w 6509766"/>
              <a:gd name="connsiteY22" fmla="*/ 36576 h 36576"/>
              <a:gd name="connsiteX23" fmla="*/ 0 w 6509766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09766" h="36576" fill="none" extrusionOk="0">
                <a:moveTo>
                  <a:pt x="0" y="0"/>
                </a:moveTo>
                <a:cubicBezTo>
                  <a:pt x="210822" y="-16726"/>
                  <a:pt x="374511" y="-20439"/>
                  <a:pt x="650977" y="0"/>
                </a:cubicBezTo>
                <a:cubicBezTo>
                  <a:pt x="927443" y="20439"/>
                  <a:pt x="1034189" y="-3420"/>
                  <a:pt x="1301953" y="0"/>
                </a:cubicBezTo>
                <a:cubicBezTo>
                  <a:pt x="1569717" y="3420"/>
                  <a:pt x="1763585" y="-32340"/>
                  <a:pt x="1952930" y="0"/>
                </a:cubicBezTo>
                <a:cubicBezTo>
                  <a:pt x="2142275" y="32340"/>
                  <a:pt x="2506898" y="14142"/>
                  <a:pt x="2734102" y="0"/>
                </a:cubicBezTo>
                <a:cubicBezTo>
                  <a:pt x="2961306" y="-14142"/>
                  <a:pt x="3180489" y="3651"/>
                  <a:pt x="3450176" y="0"/>
                </a:cubicBezTo>
                <a:cubicBezTo>
                  <a:pt x="3719863" y="-3651"/>
                  <a:pt x="3778080" y="-11896"/>
                  <a:pt x="3905860" y="0"/>
                </a:cubicBezTo>
                <a:cubicBezTo>
                  <a:pt x="4033640" y="11896"/>
                  <a:pt x="4271041" y="14603"/>
                  <a:pt x="4491739" y="0"/>
                </a:cubicBezTo>
                <a:cubicBezTo>
                  <a:pt x="4712437" y="-14603"/>
                  <a:pt x="4953402" y="2397"/>
                  <a:pt x="5272910" y="0"/>
                </a:cubicBezTo>
                <a:cubicBezTo>
                  <a:pt x="5592418" y="-2397"/>
                  <a:pt x="5600932" y="5019"/>
                  <a:pt x="5923887" y="0"/>
                </a:cubicBezTo>
                <a:cubicBezTo>
                  <a:pt x="6246842" y="-5019"/>
                  <a:pt x="6349617" y="-26598"/>
                  <a:pt x="6509766" y="0"/>
                </a:cubicBezTo>
                <a:cubicBezTo>
                  <a:pt x="6509051" y="15537"/>
                  <a:pt x="6511131" y="22375"/>
                  <a:pt x="6509766" y="36576"/>
                </a:cubicBezTo>
                <a:cubicBezTo>
                  <a:pt x="6299066" y="54926"/>
                  <a:pt x="6240011" y="16725"/>
                  <a:pt x="5988985" y="36576"/>
                </a:cubicBezTo>
                <a:cubicBezTo>
                  <a:pt x="5737959" y="56427"/>
                  <a:pt x="5550964" y="37346"/>
                  <a:pt x="5207813" y="36576"/>
                </a:cubicBezTo>
                <a:cubicBezTo>
                  <a:pt x="4864662" y="35806"/>
                  <a:pt x="4918045" y="20356"/>
                  <a:pt x="4687032" y="36576"/>
                </a:cubicBezTo>
                <a:cubicBezTo>
                  <a:pt x="4456019" y="52796"/>
                  <a:pt x="4427993" y="34104"/>
                  <a:pt x="4231348" y="36576"/>
                </a:cubicBezTo>
                <a:cubicBezTo>
                  <a:pt x="4034703" y="39048"/>
                  <a:pt x="3873736" y="28070"/>
                  <a:pt x="3775664" y="36576"/>
                </a:cubicBezTo>
                <a:cubicBezTo>
                  <a:pt x="3677592" y="45082"/>
                  <a:pt x="3307000" y="49089"/>
                  <a:pt x="3059590" y="36576"/>
                </a:cubicBezTo>
                <a:cubicBezTo>
                  <a:pt x="2812180" y="24063"/>
                  <a:pt x="2782379" y="39447"/>
                  <a:pt x="2603906" y="36576"/>
                </a:cubicBezTo>
                <a:cubicBezTo>
                  <a:pt x="2425433" y="33705"/>
                  <a:pt x="2187559" y="50387"/>
                  <a:pt x="1952930" y="36576"/>
                </a:cubicBezTo>
                <a:cubicBezTo>
                  <a:pt x="1718301" y="22765"/>
                  <a:pt x="1668250" y="41212"/>
                  <a:pt x="1432149" y="36576"/>
                </a:cubicBezTo>
                <a:cubicBezTo>
                  <a:pt x="1196048" y="31940"/>
                  <a:pt x="941453" y="15219"/>
                  <a:pt x="781172" y="36576"/>
                </a:cubicBezTo>
                <a:cubicBezTo>
                  <a:pt x="620891" y="57933"/>
                  <a:pt x="320011" y="19814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09766" h="36576" stroke="0" extrusionOk="0">
                <a:moveTo>
                  <a:pt x="0" y="0"/>
                </a:moveTo>
                <a:cubicBezTo>
                  <a:pt x="287980" y="22709"/>
                  <a:pt x="373359" y="-18407"/>
                  <a:pt x="585879" y="0"/>
                </a:cubicBezTo>
                <a:cubicBezTo>
                  <a:pt x="798399" y="18407"/>
                  <a:pt x="838297" y="8692"/>
                  <a:pt x="1041563" y="0"/>
                </a:cubicBezTo>
                <a:cubicBezTo>
                  <a:pt x="1244829" y="-8692"/>
                  <a:pt x="1592677" y="30314"/>
                  <a:pt x="1822734" y="0"/>
                </a:cubicBezTo>
                <a:cubicBezTo>
                  <a:pt x="2052791" y="-30314"/>
                  <a:pt x="2152605" y="-2479"/>
                  <a:pt x="2408613" y="0"/>
                </a:cubicBezTo>
                <a:cubicBezTo>
                  <a:pt x="2664621" y="2479"/>
                  <a:pt x="2710401" y="22630"/>
                  <a:pt x="2994492" y="0"/>
                </a:cubicBezTo>
                <a:cubicBezTo>
                  <a:pt x="3278583" y="-22630"/>
                  <a:pt x="3525986" y="-4055"/>
                  <a:pt x="3775664" y="0"/>
                </a:cubicBezTo>
                <a:cubicBezTo>
                  <a:pt x="4025342" y="4055"/>
                  <a:pt x="4049893" y="-21378"/>
                  <a:pt x="4296446" y="0"/>
                </a:cubicBezTo>
                <a:cubicBezTo>
                  <a:pt x="4542999" y="21378"/>
                  <a:pt x="4805884" y="-22684"/>
                  <a:pt x="5077617" y="0"/>
                </a:cubicBezTo>
                <a:cubicBezTo>
                  <a:pt x="5349350" y="22684"/>
                  <a:pt x="5592604" y="1984"/>
                  <a:pt x="5858789" y="0"/>
                </a:cubicBezTo>
                <a:cubicBezTo>
                  <a:pt x="6124974" y="-1984"/>
                  <a:pt x="6252804" y="24369"/>
                  <a:pt x="6509766" y="0"/>
                </a:cubicBezTo>
                <a:cubicBezTo>
                  <a:pt x="6510307" y="12097"/>
                  <a:pt x="6510627" y="29008"/>
                  <a:pt x="6509766" y="36576"/>
                </a:cubicBezTo>
                <a:cubicBezTo>
                  <a:pt x="6270790" y="26599"/>
                  <a:pt x="5999571" y="11191"/>
                  <a:pt x="5793692" y="36576"/>
                </a:cubicBezTo>
                <a:cubicBezTo>
                  <a:pt x="5587813" y="61961"/>
                  <a:pt x="5238359" y="21839"/>
                  <a:pt x="5012520" y="36576"/>
                </a:cubicBezTo>
                <a:cubicBezTo>
                  <a:pt x="4786681" y="51313"/>
                  <a:pt x="4388644" y="-745"/>
                  <a:pt x="4231348" y="36576"/>
                </a:cubicBezTo>
                <a:cubicBezTo>
                  <a:pt x="4074052" y="73897"/>
                  <a:pt x="3859613" y="42618"/>
                  <a:pt x="3710567" y="36576"/>
                </a:cubicBezTo>
                <a:cubicBezTo>
                  <a:pt x="3561521" y="30534"/>
                  <a:pt x="3309290" y="5006"/>
                  <a:pt x="3059590" y="36576"/>
                </a:cubicBezTo>
                <a:cubicBezTo>
                  <a:pt x="2809890" y="68146"/>
                  <a:pt x="2523839" y="35909"/>
                  <a:pt x="2278418" y="36576"/>
                </a:cubicBezTo>
                <a:cubicBezTo>
                  <a:pt x="2032997" y="37243"/>
                  <a:pt x="1935122" y="40307"/>
                  <a:pt x="1627442" y="36576"/>
                </a:cubicBezTo>
                <a:cubicBezTo>
                  <a:pt x="1319762" y="32845"/>
                  <a:pt x="1288776" y="43414"/>
                  <a:pt x="1171758" y="36576"/>
                </a:cubicBezTo>
                <a:cubicBezTo>
                  <a:pt x="1054740" y="29738"/>
                  <a:pt x="788946" y="31119"/>
                  <a:pt x="650977" y="36576"/>
                </a:cubicBezTo>
                <a:cubicBezTo>
                  <a:pt x="513008" y="42033"/>
                  <a:pt x="249076" y="25006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5EB46-0424-7530-6DAB-79C780885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788" y="5614416"/>
            <a:ext cx="12617498" cy="68214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buNone/>
            </a:pPr>
            <a:r>
              <a:rPr lang="en-US" sz="4400" dirty="0">
                <a:latin typeface="+mn-lt"/>
                <a:cs typeface="+mn-cs"/>
              </a:rPr>
              <a:t>Welcome to Day 12! Today we’re going to: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Learn about </a:t>
            </a:r>
            <a:r>
              <a:rPr lang="en-US" sz="4400" b="1" dirty="0">
                <a:latin typeface="+mn-lt"/>
                <a:cs typeface="+mn-cs"/>
              </a:rPr>
              <a:t>CSS Box Model </a:t>
            </a:r>
            <a:r>
              <a:rPr lang="en-US" sz="4400" dirty="0">
                <a:latin typeface="+mn-lt"/>
                <a:cs typeface="+mn-cs"/>
              </a:rPr>
              <a:t>works and how it affects layout.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Explore how to use </a:t>
            </a:r>
            <a:r>
              <a:rPr lang="en-US" sz="4400" b="1" dirty="0">
                <a:latin typeface="+mn-lt"/>
                <a:cs typeface="+mn-cs"/>
              </a:rPr>
              <a:t>padding, borders, and margins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Learn how to center content using </a:t>
            </a:r>
            <a:r>
              <a:rPr lang="en-US" sz="4400" b="1" dirty="0">
                <a:latin typeface="+mn-lt"/>
                <a:cs typeface="+mn-cs"/>
              </a:rPr>
              <a:t>max-width and margin 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Understand why we use </a:t>
            </a:r>
            <a:r>
              <a:rPr lang="en-US" sz="4400" b="1" dirty="0">
                <a:latin typeface="+mn-lt"/>
                <a:cs typeface="+mn-cs"/>
              </a:rPr>
              <a:t>reset files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Start thinking about </a:t>
            </a:r>
            <a:r>
              <a:rPr lang="en-US" sz="4400" b="1" dirty="0">
                <a:latin typeface="+mn-lt"/>
                <a:cs typeface="+mn-cs"/>
              </a:rPr>
              <a:t>responsive design</a:t>
            </a:r>
          </a:p>
        </p:txBody>
      </p:sp>
      <p:pic>
        <p:nvPicPr>
          <p:cNvPr id="7" name="Graphic 6" descr="File HTML">
            <a:extLst>
              <a:ext uri="{FF2B5EF4-FFF2-40B4-BE49-F238E27FC236}">
                <a16:creationId xmlns:a16="http://schemas.microsoft.com/office/drawing/2014/main" id="{2EA2697C-E1FA-F8D9-E0D5-3CF390BA9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6733" y="1279040"/>
            <a:ext cx="11155680" cy="1115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4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B8C9-2FF7-FCED-2C37-CEF28C88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FB1355-DA71-BCAD-EB00-DDB3478E0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Box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28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A5E9-D521-33B3-BD04-97A4E8DE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D40A-52DD-46CB-5E8A-A31E3901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CSS Cascade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D3C86-77A8-239B-65F0-2CE1B93DD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20522785" cy="70605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 CSS, </a:t>
            </a:r>
            <a:r>
              <a:rPr lang="en-US" b="1" dirty="0"/>
              <a:t>every element on a page </a:t>
            </a:r>
            <a:r>
              <a:rPr lang="en-US" dirty="0"/>
              <a:t>is treated like a rectangular box—even if it doesn’t look like one.</a:t>
            </a:r>
          </a:p>
          <a:p>
            <a:pPr marL="0" indent="0">
              <a:buNone/>
            </a:pPr>
            <a:r>
              <a:rPr lang="en-US" dirty="0"/>
              <a:t>This box is made up of </a:t>
            </a:r>
            <a:r>
              <a:rPr lang="en-US" b="1" dirty="0"/>
              <a:t>four layers</a:t>
            </a:r>
            <a:r>
              <a:rPr lang="en-US" dirty="0"/>
              <a:t>, from the inside out:</a:t>
            </a:r>
          </a:p>
          <a:p>
            <a:pPr fontAlgn="base"/>
            <a:r>
              <a:rPr lang="en-US" b="1" dirty="0"/>
              <a:t>Content</a:t>
            </a:r>
          </a:p>
          <a:p>
            <a:pPr fontAlgn="base"/>
            <a:r>
              <a:rPr lang="en-US" b="1" dirty="0"/>
              <a:t>Padding</a:t>
            </a:r>
          </a:p>
          <a:p>
            <a:pPr fontAlgn="base"/>
            <a:r>
              <a:rPr lang="en-US" b="1" dirty="0"/>
              <a:t>Border</a:t>
            </a:r>
          </a:p>
          <a:p>
            <a:pPr fontAlgn="base"/>
            <a:r>
              <a:rPr lang="en-US" b="1" dirty="0"/>
              <a:t>Margin (space between boxes)</a:t>
            </a:r>
          </a:p>
          <a:p>
            <a:pPr marL="0" indent="0">
              <a:buNone/>
            </a:pP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4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1E75F-F4D4-3891-486F-EC5BB763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241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5926E-D522-0F20-4B4F-7D917EDB5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789" y="495269"/>
            <a:ext cx="15687268" cy="34381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7500" kern="1200" dirty="0">
                <a:latin typeface="+mj-lt"/>
                <a:ea typeface="+mj-ea"/>
                <a:cs typeface="+mj-cs"/>
              </a:rPr>
              <a:t>The 4 Parts of the Box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472" y="5147512"/>
            <a:ext cx="6509766" cy="36576"/>
          </a:xfrm>
          <a:custGeom>
            <a:avLst/>
            <a:gdLst>
              <a:gd name="connsiteX0" fmla="*/ 0 w 6509766"/>
              <a:gd name="connsiteY0" fmla="*/ 0 h 36576"/>
              <a:gd name="connsiteX1" fmla="*/ 650977 w 6509766"/>
              <a:gd name="connsiteY1" fmla="*/ 0 h 36576"/>
              <a:gd name="connsiteX2" fmla="*/ 1301953 w 6509766"/>
              <a:gd name="connsiteY2" fmla="*/ 0 h 36576"/>
              <a:gd name="connsiteX3" fmla="*/ 1952930 w 6509766"/>
              <a:gd name="connsiteY3" fmla="*/ 0 h 36576"/>
              <a:gd name="connsiteX4" fmla="*/ 2734102 w 6509766"/>
              <a:gd name="connsiteY4" fmla="*/ 0 h 36576"/>
              <a:gd name="connsiteX5" fmla="*/ 3450176 w 6509766"/>
              <a:gd name="connsiteY5" fmla="*/ 0 h 36576"/>
              <a:gd name="connsiteX6" fmla="*/ 3905860 w 6509766"/>
              <a:gd name="connsiteY6" fmla="*/ 0 h 36576"/>
              <a:gd name="connsiteX7" fmla="*/ 4491739 w 6509766"/>
              <a:gd name="connsiteY7" fmla="*/ 0 h 36576"/>
              <a:gd name="connsiteX8" fmla="*/ 5272910 w 6509766"/>
              <a:gd name="connsiteY8" fmla="*/ 0 h 36576"/>
              <a:gd name="connsiteX9" fmla="*/ 5923887 w 6509766"/>
              <a:gd name="connsiteY9" fmla="*/ 0 h 36576"/>
              <a:gd name="connsiteX10" fmla="*/ 6509766 w 6509766"/>
              <a:gd name="connsiteY10" fmla="*/ 0 h 36576"/>
              <a:gd name="connsiteX11" fmla="*/ 6509766 w 6509766"/>
              <a:gd name="connsiteY11" fmla="*/ 36576 h 36576"/>
              <a:gd name="connsiteX12" fmla="*/ 5988985 w 6509766"/>
              <a:gd name="connsiteY12" fmla="*/ 36576 h 36576"/>
              <a:gd name="connsiteX13" fmla="*/ 5207813 w 6509766"/>
              <a:gd name="connsiteY13" fmla="*/ 36576 h 36576"/>
              <a:gd name="connsiteX14" fmla="*/ 4687032 w 6509766"/>
              <a:gd name="connsiteY14" fmla="*/ 36576 h 36576"/>
              <a:gd name="connsiteX15" fmla="*/ 4231348 w 6509766"/>
              <a:gd name="connsiteY15" fmla="*/ 36576 h 36576"/>
              <a:gd name="connsiteX16" fmla="*/ 3775664 w 6509766"/>
              <a:gd name="connsiteY16" fmla="*/ 36576 h 36576"/>
              <a:gd name="connsiteX17" fmla="*/ 3059590 w 6509766"/>
              <a:gd name="connsiteY17" fmla="*/ 36576 h 36576"/>
              <a:gd name="connsiteX18" fmla="*/ 2603906 w 6509766"/>
              <a:gd name="connsiteY18" fmla="*/ 36576 h 36576"/>
              <a:gd name="connsiteX19" fmla="*/ 1952930 w 6509766"/>
              <a:gd name="connsiteY19" fmla="*/ 36576 h 36576"/>
              <a:gd name="connsiteX20" fmla="*/ 1432149 w 6509766"/>
              <a:gd name="connsiteY20" fmla="*/ 36576 h 36576"/>
              <a:gd name="connsiteX21" fmla="*/ 781172 w 6509766"/>
              <a:gd name="connsiteY21" fmla="*/ 36576 h 36576"/>
              <a:gd name="connsiteX22" fmla="*/ 0 w 6509766"/>
              <a:gd name="connsiteY22" fmla="*/ 36576 h 36576"/>
              <a:gd name="connsiteX23" fmla="*/ 0 w 6509766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09766" h="36576" fill="none" extrusionOk="0">
                <a:moveTo>
                  <a:pt x="0" y="0"/>
                </a:moveTo>
                <a:cubicBezTo>
                  <a:pt x="210822" y="-16726"/>
                  <a:pt x="374511" y="-20439"/>
                  <a:pt x="650977" y="0"/>
                </a:cubicBezTo>
                <a:cubicBezTo>
                  <a:pt x="927443" y="20439"/>
                  <a:pt x="1034189" y="-3420"/>
                  <a:pt x="1301953" y="0"/>
                </a:cubicBezTo>
                <a:cubicBezTo>
                  <a:pt x="1569717" y="3420"/>
                  <a:pt x="1763585" y="-32340"/>
                  <a:pt x="1952930" y="0"/>
                </a:cubicBezTo>
                <a:cubicBezTo>
                  <a:pt x="2142275" y="32340"/>
                  <a:pt x="2506898" y="14142"/>
                  <a:pt x="2734102" y="0"/>
                </a:cubicBezTo>
                <a:cubicBezTo>
                  <a:pt x="2961306" y="-14142"/>
                  <a:pt x="3180489" y="3651"/>
                  <a:pt x="3450176" y="0"/>
                </a:cubicBezTo>
                <a:cubicBezTo>
                  <a:pt x="3719863" y="-3651"/>
                  <a:pt x="3778080" y="-11896"/>
                  <a:pt x="3905860" y="0"/>
                </a:cubicBezTo>
                <a:cubicBezTo>
                  <a:pt x="4033640" y="11896"/>
                  <a:pt x="4271041" y="14603"/>
                  <a:pt x="4491739" y="0"/>
                </a:cubicBezTo>
                <a:cubicBezTo>
                  <a:pt x="4712437" y="-14603"/>
                  <a:pt x="4953402" y="2397"/>
                  <a:pt x="5272910" y="0"/>
                </a:cubicBezTo>
                <a:cubicBezTo>
                  <a:pt x="5592418" y="-2397"/>
                  <a:pt x="5600932" y="5019"/>
                  <a:pt x="5923887" y="0"/>
                </a:cubicBezTo>
                <a:cubicBezTo>
                  <a:pt x="6246842" y="-5019"/>
                  <a:pt x="6349617" y="-26598"/>
                  <a:pt x="6509766" y="0"/>
                </a:cubicBezTo>
                <a:cubicBezTo>
                  <a:pt x="6509051" y="15537"/>
                  <a:pt x="6511131" y="22375"/>
                  <a:pt x="6509766" y="36576"/>
                </a:cubicBezTo>
                <a:cubicBezTo>
                  <a:pt x="6299066" y="54926"/>
                  <a:pt x="6240011" y="16725"/>
                  <a:pt x="5988985" y="36576"/>
                </a:cubicBezTo>
                <a:cubicBezTo>
                  <a:pt x="5737959" y="56427"/>
                  <a:pt x="5550964" y="37346"/>
                  <a:pt x="5207813" y="36576"/>
                </a:cubicBezTo>
                <a:cubicBezTo>
                  <a:pt x="4864662" y="35806"/>
                  <a:pt x="4918045" y="20356"/>
                  <a:pt x="4687032" y="36576"/>
                </a:cubicBezTo>
                <a:cubicBezTo>
                  <a:pt x="4456019" y="52796"/>
                  <a:pt x="4427993" y="34104"/>
                  <a:pt x="4231348" y="36576"/>
                </a:cubicBezTo>
                <a:cubicBezTo>
                  <a:pt x="4034703" y="39048"/>
                  <a:pt x="3873736" y="28070"/>
                  <a:pt x="3775664" y="36576"/>
                </a:cubicBezTo>
                <a:cubicBezTo>
                  <a:pt x="3677592" y="45082"/>
                  <a:pt x="3307000" y="49089"/>
                  <a:pt x="3059590" y="36576"/>
                </a:cubicBezTo>
                <a:cubicBezTo>
                  <a:pt x="2812180" y="24063"/>
                  <a:pt x="2782379" y="39447"/>
                  <a:pt x="2603906" y="36576"/>
                </a:cubicBezTo>
                <a:cubicBezTo>
                  <a:pt x="2425433" y="33705"/>
                  <a:pt x="2187559" y="50387"/>
                  <a:pt x="1952930" y="36576"/>
                </a:cubicBezTo>
                <a:cubicBezTo>
                  <a:pt x="1718301" y="22765"/>
                  <a:pt x="1668250" y="41212"/>
                  <a:pt x="1432149" y="36576"/>
                </a:cubicBezTo>
                <a:cubicBezTo>
                  <a:pt x="1196048" y="31940"/>
                  <a:pt x="941453" y="15219"/>
                  <a:pt x="781172" y="36576"/>
                </a:cubicBezTo>
                <a:cubicBezTo>
                  <a:pt x="620891" y="57933"/>
                  <a:pt x="320011" y="19814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09766" h="36576" stroke="0" extrusionOk="0">
                <a:moveTo>
                  <a:pt x="0" y="0"/>
                </a:moveTo>
                <a:cubicBezTo>
                  <a:pt x="287980" y="22709"/>
                  <a:pt x="373359" y="-18407"/>
                  <a:pt x="585879" y="0"/>
                </a:cubicBezTo>
                <a:cubicBezTo>
                  <a:pt x="798399" y="18407"/>
                  <a:pt x="838297" y="8692"/>
                  <a:pt x="1041563" y="0"/>
                </a:cubicBezTo>
                <a:cubicBezTo>
                  <a:pt x="1244829" y="-8692"/>
                  <a:pt x="1592677" y="30314"/>
                  <a:pt x="1822734" y="0"/>
                </a:cubicBezTo>
                <a:cubicBezTo>
                  <a:pt x="2052791" y="-30314"/>
                  <a:pt x="2152605" y="-2479"/>
                  <a:pt x="2408613" y="0"/>
                </a:cubicBezTo>
                <a:cubicBezTo>
                  <a:pt x="2664621" y="2479"/>
                  <a:pt x="2710401" y="22630"/>
                  <a:pt x="2994492" y="0"/>
                </a:cubicBezTo>
                <a:cubicBezTo>
                  <a:pt x="3278583" y="-22630"/>
                  <a:pt x="3525986" y="-4055"/>
                  <a:pt x="3775664" y="0"/>
                </a:cubicBezTo>
                <a:cubicBezTo>
                  <a:pt x="4025342" y="4055"/>
                  <a:pt x="4049893" y="-21378"/>
                  <a:pt x="4296446" y="0"/>
                </a:cubicBezTo>
                <a:cubicBezTo>
                  <a:pt x="4542999" y="21378"/>
                  <a:pt x="4805884" y="-22684"/>
                  <a:pt x="5077617" y="0"/>
                </a:cubicBezTo>
                <a:cubicBezTo>
                  <a:pt x="5349350" y="22684"/>
                  <a:pt x="5592604" y="1984"/>
                  <a:pt x="5858789" y="0"/>
                </a:cubicBezTo>
                <a:cubicBezTo>
                  <a:pt x="6124974" y="-1984"/>
                  <a:pt x="6252804" y="24369"/>
                  <a:pt x="6509766" y="0"/>
                </a:cubicBezTo>
                <a:cubicBezTo>
                  <a:pt x="6510307" y="12097"/>
                  <a:pt x="6510627" y="29008"/>
                  <a:pt x="6509766" y="36576"/>
                </a:cubicBezTo>
                <a:cubicBezTo>
                  <a:pt x="6270790" y="26599"/>
                  <a:pt x="5999571" y="11191"/>
                  <a:pt x="5793692" y="36576"/>
                </a:cubicBezTo>
                <a:cubicBezTo>
                  <a:pt x="5587813" y="61961"/>
                  <a:pt x="5238359" y="21839"/>
                  <a:pt x="5012520" y="36576"/>
                </a:cubicBezTo>
                <a:cubicBezTo>
                  <a:pt x="4786681" y="51313"/>
                  <a:pt x="4388644" y="-745"/>
                  <a:pt x="4231348" y="36576"/>
                </a:cubicBezTo>
                <a:cubicBezTo>
                  <a:pt x="4074052" y="73897"/>
                  <a:pt x="3859613" y="42618"/>
                  <a:pt x="3710567" y="36576"/>
                </a:cubicBezTo>
                <a:cubicBezTo>
                  <a:pt x="3561521" y="30534"/>
                  <a:pt x="3309290" y="5006"/>
                  <a:pt x="3059590" y="36576"/>
                </a:cubicBezTo>
                <a:cubicBezTo>
                  <a:pt x="2809890" y="68146"/>
                  <a:pt x="2523839" y="35909"/>
                  <a:pt x="2278418" y="36576"/>
                </a:cubicBezTo>
                <a:cubicBezTo>
                  <a:pt x="2032997" y="37243"/>
                  <a:pt x="1935122" y="40307"/>
                  <a:pt x="1627442" y="36576"/>
                </a:cubicBezTo>
                <a:cubicBezTo>
                  <a:pt x="1319762" y="32845"/>
                  <a:pt x="1288776" y="43414"/>
                  <a:pt x="1171758" y="36576"/>
                </a:cubicBezTo>
                <a:cubicBezTo>
                  <a:pt x="1054740" y="29738"/>
                  <a:pt x="788946" y="31119"/>
                  <a:pt x="650977" y="36576"/>
                </a:cubicBezTo>
                <a:cubicBezTo>
                  <a:pt x="513008" y="42033"/>
                  <a:pt x="249076" y="25006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02FD1A-61D9-0407-DA08-53B4FE9813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10565" y="4929513"/>
            <a:ext cx="17774456" cy="7790386"/>
          </a:xfrm>
        </p:spPr>
      </p:pic>
    </p:spTree>
    <p:extLst>
      <p:ext uri="{BB962C8B-B14F-4D97-AF65-F5344CB8AC3E}">
        <p14:creationId xmlns:p14="http://schemas.microsoft.com/office/powerpoint/2010/main" val="31444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2DCD4-12C1-81E4-40DC-2BF47E0C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4C03177-2E7A-DF22-E11D-F365C7EC9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241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007CC-39F1-7685-3290-A12F7B43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789" y="495269"/>
            <a:ext cx="15687268" cy="34381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7500" kern="1200" dirty="0">
                <a:latin typeface="+mj-lt"/>
                <a:ea typeface="+mj-ea"/>
                <a:cs typeface="+mj-cs"/>
              </a:rPr>
              <a:t>The 4 Parts of the Box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F3C65430-66E9-958A-5F60-3F0B9BB2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472" y="5147512"/>
            <a:ext cx="6509766" cy="36576"/>
          </a:xfrm>
          <a:custGeom>
            <a:avLst/>
            <a:gdLst>
              <a:gd name="connsiteX0" fmla="*/ 0 w 6509766"/>
              <a:gd name="connsiteY0" fmla="*/ 0 h 36576"/>
              <a:gd name="connsiteX1" fmla="*/ 650977 w 6509766"/>
              <a:gd name="connsiteY1" fmla="*/ 0 h 36576"/>
              <a:gd name="connsiteX2" fmla="*/ 1301953 w 6509766"/>
              <a:gd name="connsiteY2" fmla="*/ 0 h 36576"/>
              <a:gd name="connsiteX3" fmla="*/ 1952930 w 6509766"/>
              <a:gd name="connsiteY3" fmla="*/ 0 h 36576"/>
              <a:gd name="connsiteX4" fmla="*/ 2734102 w 6509766"/>
              <a:gd name="connsiteY4" fmla="*/ 0 h 36576"/>
              <a:gd name="connsiteX5" fmla="*/ 3450176 w 6509766"/>
              <a:gd name="connsiteY5" fmla="*/ 0 h 36576"/>
              <a:gd name="connsiteX6" fmla="*/ 3905860 w 6509766"/>
              <a:gd name="connsiteY6" fmla="*/ 0 h 36576"/>
              <a:gd name="connsiteX7" fmla="*/ 4491739 w 6509766"/>
              <a:gd name="connsiteY7" fmla="*/ 0 h 36576"/>
              <a:gd name="connsiteX8" fmla="*/ 5272910 w 6509766"/>
              <a:gd name="connsiteY8" fmla="*/ 0 h 36576"/>
              <a:gd name="connsiteX9" fmla="*/ 5923887 w 6509766"/>
              <a:gd name="connsiteY9" fmla="*/ 0 h 36576"/>
              <a:gd name="connsiteX10" fmla="*/ 6509766 w 6509766"/>
              <a:gd name="connsiteY10" fmla="*/ 0 h 36576"/>
              <a:gd name="connsiteX11" fmla="*/ 6509766 w 6509766"/>
              <a:gd name="connsiteY11" fmla="*/ 36576 h 36576"/>
              <a:gd name="connsiteX12" fmla="*/ 5988985 w 6509766"/>
              <a:gd name="connsiteY12" fmla="*/ 36576 h 36576"/>
              <a:gd name="connsiteX13" fmla="*/ 5207813 w 6509766"/>
              <a:gd name="connsiteY13" fmla="*/ 36576 h 36576"/>
              <a:gd name="connsiteX14" fmla="*/ 4687032 w 6509766"/>
              <a:gd name="connsiteY14" fmla="*/ 36576 h 36576"/>
              <a:gd name="connsiteX15" fmla="*/ 4231348 w 6509766"/>
              <a:gd name="connsiteY15" fmla="*/ 36576 h 36576"/>
              <a:gd name="connsiteX16" fmla="*/ 3775664 w 6509766"/>
              <a:gd name="connsiteY16" fmla="*/ 36576 h 36576"/>
              <a:gd name="connsiteX17" fmla="*/ 3059590 w 6509766"/>
              <a:gd name="connsiteY17" fmla="*/ 36576 h 36576"/>
              <a:gd name="connsiteX18" fmla="*/ 2603906 w 6509766"/>
              <a:gd name="connsiteY18" fmla="*/ 36576 h 36576"/>
              <a:gd name="connsiteX19" fmla="*/ 1952930 w 6509766"/>
              <a:gd name="connsiteY19" fmla="*/ 36576 h 36576"/>
              <a:gd name="connsiteX20" fmla="*/ 1432149 w 6509766"/>
              <a:gd name="connsiteY20" fmla="*/ 36576 h 36576"/>
              <a:gd name="connsiteX21" fmla="*/ 781172 w 6509766"/>
              <a:gd name="connsiteY21" fmla="*/ 36576 h 36576"/>
              <a:gd name="connsiteX22" fmla="*/ 0 w 6509766"/>
              <a:gd name="connsiteY22" fmla="*/ 36576 h 36576"/>
              <a:gd name="connsiteX23" fmla="*/ 0 w 6509766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09766" h="36576" fill="none" extrusionOk="0">
                <a:moveTo>
                  <a:pt x="0" y="0"/>
                </a:moveTo>
                <a:cubicBezTo>
                  <a:pt x="210822" y="-16726"/>
                  <a:pt x="374511" y="-20439"/>
                  <a:pt x="650977" y="0"/>
                </a:cubicBezTo>
                <a:cubicBezTo>
                  <a:pt x="927443" y="20439"/>
                  <a:pt x="1034189" y="-3420"/>
                  <a:pt x="1301953" y="0"/>
                </a:cubicBezTo>
                <a:cubicBezTo>
                  <a:pt x="1569717" y="3420"/>
                  <a:pt x="1763585" y="-32340"/>
                  <a:pt x="1952930" y="0"/>
                </a:cubicBezTo>
                <a:cubicBezTo>
                  <a:pt x="2142275" y="32340"/>
                  <a:pt x="2506898" y="14142"/>
                  <a:pt x="2734102" y="0"/>
                </a:cubicBezTo>
                <a:cubicBezTo>
                  <a:pt x="2961306" y="-14142"/>
                  <a:pt x="3180489" y="3651"/>
                  <a:pt x="3450176" y="0"/>
                </a:cubicBezTo>
                <a:cubicBezTo>
                  <a:pt x="3719863" y="-3651"/>
                  <a:pt x="3778080" y="-11896"/>
                  <a:pt x="3905860" y="0"/>
                </a:cubicBezTo>
                <a:cubicBezTo>
                  <a:pt x="4033640" y="11896"/>
                  <a:pt x="4271041" y="14603"/>
                  <a:pt x="4491739" y="0"/>
                </a:cubicBezTo>
                <a:cubicBezTo>
                  <a:pt x="4712437" y="-14603"/>
                  <a:pt x="4953402" y="2397"/>
                  <a:pt x="5272910" y="0"/>
                </a:cubicBezTo>
                <a:cubicBezTo>
                  <a:pt x="5592418" y="-2397"/>
                  <a:pt x="5600932" y="5019"/>
                  <a:pt x="5923887" y="0"/>
                </a:cubicBezTo>
                <a:cubicBezTo>
                  <a:pt x="6246842" y="-5019"/>
                  <a:pt x="6349617" y="-26598"/>
                  <a:pt x="6509766" y="0"/>
                </a:cubicBezTo>
                <a:cubicBezTo>
                  <a:pt x="6509051" y="15537"/>
                  <a:pt x="6511131" y="22375"/>
                  <a:pt x="6509766" y="36576"/>
                </a:cubicBezTo>
                <a:cubicBezTo>
                  <a:pt x="6299066" y="54926"/>
                  <a:pt x="6240011" y="16725"/>
                  <a:pt x="5988985" y="36576"/>
                </a:cubicBezTo>
                <a:cubicBezTo>
                  <a:pt x="5737959" y="56427"/>
                  <a:pt x="5550964" y="37346"/>
                  <a:pt x="5207813" y="36576"/>
                </a:cubicBezTo>
                <a:cubicBezTo>
                  <a:pt x="4864662" y="35806"/>
                  <a:pt x="4918045" y="20356"/>
                  <a:pt x="4687032" y="36576"/>
                </a:cubicBezTo>
                <a:cubicBezTo>
                  <a:pt x="4456019" y="52796"/>
                  <a:pt x="4427993" y="34104"/>
                  <a:pt x="4231348" y="36576"/>
                </a:cubicBezTo>
                <a:cubicBezTo>
                  <a:pt x="4034703" y="39048"/>
                  <a:pt x="3873736" y="28070"/>
                  <a:pt x="3775664" y="36576"/>
                </a:cubicBezTo>
                <a:cubicBezTo>
                  <a:pt x="3677592" y="45082"/>
                  <a:pt x="3307000" y="49089"/>
                  <a:pt x="3059590" y="36576"/>
                </a:cubicBezTo>
                <a:cubicBezTo>
                  <a:pt x="2812180" y="24063"/>
                  <a:pt x="2782379" y="39447"/>
                  <a:pt x="2603906" y="36576"/>
                </a:cubicBezTo>
                <a:cubicBezTo>
                  <a:pt x="2425433" y="33705"/>
                  <a:pt x="2187559" y="50387"/>
                  <a:pt x="1952930" y="36576"/>
                </a:cubicBezTo>
                <a:cubicBezTo>
                  <a:pt x="1718301" y="22765"/>
                  <a:pt x="1668250" y="41212"/>
                  <a:pt x="1432149" y="36576"/>
                </a:cubicBezTo>
                <a:cubicBezTo>
                  <a:pt x="1196048" y="31940"/>
                  <a:pt x="941453" y="15219"/>
                  <a:pt x="781172" y="36576"/>
                </a:cubicBezTo>
                <a:cubicBezTo>
                  <a:pt x="620891" y="57933"/>
                  <a:pt x="320011" y="19814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09766" h="36576" stroke="0" extrusionOk="0">
                <a:moveTo>
                  <a:pt x="0" y="0"/>
                </a:moveTo>
                <a:cubicBezTo>
                  <a:pt x="287980" y="22709"/>
                  <a:pt x="373359" y="-18407"/>
                  <a:pt x="585879" y="0"/>
                </a:cubicBezTo>
                <a:cubicBezTo>
                  <a:pt x="798399" y="18407"/>
                  <a:pt x="838297" y="8692"/>
                  <a:pt x="1041563" y="0"/>
                </a:cubicBezTo>
                <a:cubicBezTo>
                  <a:pt x="1244829" y="-8692"/>
                  <a:pt x="1592677" y="30314"/>
                  <a:pt x="1822734" y="0"/>
                </a:cubicBezTo>
                <a:cubicBezTo>
                  <a:pt x="2052791" y="-30314"/>
                  <a:pt x="2152605" y="-2479"/>
                  <a:pt x="2408613" y="0"/>
                </a:cubicBezTo>
                <a:cubicBezTo>
                  <a:pt x="2664621" y="2479"/>
                  <a:pt x="2710401" y="22630"/>
                  <a:pt x="2994492" y="0"/>
                </a:cubicBezTo>
                <a:cubicBezTo>
                  <a:pt x="3278583" y="-22630"/>
                  <a:pt x="3525986" y="-4055"/>
                  <a:pt x="3775664" y="0"/>
                </a:cubicBezTo>
                <a:cubicBezTo>
                  <a:pt x="4025342" y="4055"/>
                  <a:pt x="4049893" y="-21378"/>
                  <a:pt x="4296446" y="0"/>
                </a:cubicBezTo>
                <a:cubicBezTo>
                  <a:pt x="4542999" y="21378"/>
                  <a:pt x="4805884" y="-22684"/>
                  <a:pt x="5077617" y="0"/>
                </a:cubicBezTo>
                <a:cubicBezTo>
                  <a:pt x="5349350" y="22684"/>
                  <a:pt x="5592604" y="1984"/>
                  <a:pt x="5858789" y="0"/>
                </a:cubicBezTo>
                <a:cubicBezTo>
                  <a:pt x="6124974" y="-1984"/>
                  <a:pt x="6252804" y="24369"/>
                  <a:pt x="6509766" y="0"/>
                </a:cubicBezTo>
                <a:cubicBezTo>
                  <a:pt x="6510307" y="12097"/>
                  <a:pt x="6510627" y="29008"/>
                  <a:pt x="6509766" y="36576"/>
                </a:cubicBezTo>
                <a:cubicBezTo>
                  <a:pt x="6270790" y="26599"/>
                  <a:pt x="5999571" y="11191"/>
                  <a:pt x="5793692" y="36576"/>
                </a:cubicBezTo>
                <a:cubicBezTo>
                  <a:pt x="5587813" y="61961"/>
                  <a:pt x="5238359" y="21839"/>
                  <a:pt x="5012520" y="36576"/>
                </a:cubicBezTo>
                <a:cubicBezTo>
                  <a:pt x="4786681" y="51313"/>
                  <a:pt x="4388644" y="-745"/>
                  <a:pt x="4231348" y="36576"/>
                </a:cubicBezTo>
                <a:cubicBezTo>
                  <a:pt x="4074052" y="73897"/>
                  <a:pt x="3859613" y="42618"/>
                  <a:pt x="3710567" y="36576"/>
                </a:cubicBezTo>
                <a:cubicBezTo>
                  <a:pt x="3561521" y="30534"/>
                  <a:pt x="3309290" y="5006"/>
                  <a:pt x="3059590" y="36576"/>
                </a:cubicBezTo>
                <a:cubicBezTo>
                  <a:pt x="2809890" y="68146"/>
                  <a:pt x="2523839" y="35909"/>
                  <a:pt x="2278418" y="36576"/>
                </a:cubicBezTo>
                <a:cubicBezTo>
                  <a:pt x="2032997" y="37243"/>
                  <a:pt x="1935122" y="40307"/>
                  <a:pt x="1627442" y="36576"/>
                </a:cubicBezTo>
                <a:cubicBezTo>
                  <a:pt x="1319762" y="32845"/>
                  <a:pt x="1288776" y="43414"/>
                  <a:pt x="1171758" y="36576"/>
                </a:cubicBezTo>
                <a:cubicBezTo>
                  <a:pt x="1054740" y="29738"/>
                  <a:pt x="788946" y="31119"/>
                  <a:pt x="650977" y="36576"/>
                </a:cubicBezTo>
                <a:cubicBezTo>
                  <a:pt x="513008" y="42033"/>
                  <a:pt x="249076" y="25006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DAFC8-3019-67C2-FD80-EB6E98981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789" y="5773678"/>
            <a:ext cx="17041477" cy="7447053"/>
          </a:xfrm>
        </p:spPr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sz="6200" b="1" dirty="0"/>
              <a:t>Content Box</a:t>
            </a:r>
            <a:br>
              <a:rPr lang="en-US" sz="6200" b="1" dirty="0"/>
            </a:br>
            <a:r>
              <a:rPr lang="en-US" sz="6200" dirty="0"/>
              <a:t>The area where your content is displayed.</a:t>
            </a:r>
            <a:br>
              <a:rPr lang="en-US" sz="6200" dirty="0"/>
            </a:br>
            <a:r>
              <a:rPr lang="en-US" sz="6200" dirty="0"/>
              <a:t>Size it using properties like width, height, inline-size, block-size.</a:t>
            </a:r>
            <a:endParaRPr lang="en-US" sz="6200" b="1" dirty="0"/>
          </a:p>
          <a:p>
            <a:pPr marL="0" indent="0" fontAlgn="base">
              <a:buNone/>
            </a:pPr>
            <a:r>
              <a:rPr lang="en-US" sz="6200" b="1" dirty="0"/>
              <a:t>Padding Box</a:t>
            </a:r>
            <a:br>
              <a:rPr lang="en-US" sz="6200" b="1" dirty="0"/>
            </a:br>
            <a:r>
              <a:rPr lang="en-US" sz="6200" dirty="0"/>
              <a:t>White space around the content.</a:t>
            </a:r>
            <a:br>
              <a:rPr lang="en-US" sz="6200" dirty="0"/>
            </a:br>
            <a:r>
              <a:rPr lang="en-US" sz="6200" dirty="0"/>
              <a:t>Size it using padding and related properties.</a:t>
            </a:r>
            <a:endParaRPr lang="en-US" sz="6200" b="1" dirty="0"/>
          </a:p>
          <a:p>
            <a:pPr marL="0" indent="0" fontAlgn="base">
              <a:buNone/>
            </a:pPr>
            <a:r>
              <a:rPr lang="en-US" sz="6200" b="1" dirty="0"/>
              <a:t>Border Box</a:t>
            </a:r>
            <a:br>
              <a:rPr lang="en-US" sz="6200" b="1" dirty="0"/>
            </a:br>
            <a:r>
              <a:rPr lang="en-US" sz="6200" dirty="0"/>
              <a:t>Wraps the content and any padding.</a:t>
            </a:r>
            <a:br>
              <a:rPr lang="en-US" sz="6200" dirty="0"/>
            </a:br>
            <a:r>
              <a:rPr lang="en-US" sz="6200" dirty="0"/>
              <a:t>Size it using border and related properties.</a:t>
            </a:r>
            <a:endParaRPr lang="en-US" sz="6200" b="1" dirty="0"/>
          </a:p>
          <a:p>
            <a:pPr marL="0" indent="0" fontAlgn="base">
              <a:buNone/>
            </a:pPr>
            <a:r>
              <a:rPr lang="en-US" sz="6200" b="1" dirty="0"/>
              <a:t>Margin Box</a:t>
            </a:r>
            <a:br>
              <a:rPr lang="en-US" sz="6200" b="1" dirty="0"/>
            </a:br>
            <a:r>
              <a:rPr lang="en-US" sz="6200" dirty="0"/>
              <a:t>Outermost layer, providing spacing between boxes.</a:t>
            </a:r>
            <a:br>
              <a:rPr lang="en-US" sz="6200" dirty="0"/>
            </a:br>
            <a:r>
              <a:rPr lang="en-US" sz="6200" dirty="0"/>
              <a:t>Size it using margin and related properties.</a:t>
            </a:r>
            <a:endParaRPr lang="en-US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075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A5C95-A24A-E757-9FF2-1E2BF651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6316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66C3C-1AF2-8565-E790-2E56390B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076" y="658368"/>
            <a:ext cx="1378825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CA" sz="9600" dirty="0"/>
              <a:t>Example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7805" y="4791456"/>
            <a:ext cx="8486625" cy="36576"/>
          </a:xfrm>
          <a:custGeom>
            <a:avLst/>
            <a:gdLst>
              <a:gd name="connsiteX0" fmla="*/ 0 w 8486625"/>
              <a:gd name="connsiteY0" fmla="*/ 0 h 36576"/>
              <a:gd name="connsiteX1" fmla="*/ 737684 w 8486625"/>
              <a:gd name="connsiteY1" fmla="*/ 0 h 36576"/>
              <a:gd name="connsiteX2" fmla="*/ 1560233 w 8486625"/>
              <a:gd name="connsiteY2" fmla="*/ 0 h 36576"/>
              <a:gd name="connsiteX3" fmla="*/ 1958452 w 8486625"/>
              <a:gd name="connsiteY3" fmla="*/ 0 h 36576"/>
              <a:gd name="connsiteX4" fmla="*/ 2526403 w 8486625"/>
              <a:gd name="connsiteY4" fmla="*/ 0 h 36576"/>
              <a:gd name="connsiteX5" fmla="*/ 2924622 w 8486625"/>
              <a:gd name="connsiteY5" fmla="*/ 0 h 36576"/>
              <a:gd name="connsiteX6" fmla="*/ 3577439 w 8486625"/>
              <a:gd name="connsiteY6" fmla="*/ 0 h 36576"/>
              <a:gd name="connsiteX7" fmla="*/ 4145390 w 8486625"/>
              <a:gd name="connsiteY7" fmla="*/ 0 h 36576"/>
              <a:gd name="connsiteX8" fmla="*/ 4883073 w 8486625"/>
              <a:gd name="connsiteY8" fmla="*/ 0 h 36576"/>
              <a:gd name="connsiteX9" fmla="*/ 5705623 w 8486625"/>
              <a:gd name="connsiteY9" fmla="*/ 0 h 36576"/>
              <a:gd name="connsiteX10" fmla="*/ 6358441 w 8486625"/>
              <a:gd name="connsiteY10" fmla="*/ 0 h 36576"/>
              <a:gd name="connsiteX11" fmla="*/ 7180990 w 8486625"/>
              <a:gd name="connsiteY11" fmla="*/ 0 h 36576"/>
              <a:gd name="connsiteX12" fmla="*/ 7833808 w 8486625"/>
              <a:gd name="connsiteY12" fmla="*/ 0 h 36576"/>
              <a:gd name="connsiteX13" fmla="*/ 8486625 w 8486625"/>
              <a:gd name="connsiteY13" fmla="*/ 0 h 36576"/>
              <a:gd name="connsiteX14" fmla="*/ 8486625 w 8486625"/>
              <a:gd name="connsiteY14" fmla="*/ 36576 h 36576"/>
              <a:gd name="connsiteX15" fmla="*/ 7833808 w 8486625"/>
              <a:gd name="connsiteY15" fmla="*/ 36576 h 36576"/>
              <a:gd name="connsiteX16" fmla="*/ 7350723 w 8486625"/>
              <a:gd name="connsiteY16" fmla="*/ 36576 h 36576"/>
              <a:gd name="connsiteX17" fmla="*/ 6952504 w 8486625"/>
              <a:gd name="connsiteY17" fmla="*/ 36576 h 36576"/>
              <a:gd name="connsiteX18" fmla="*/ 6384553 w 8486625"/>
              <a:gd name="connsiteY18" fmla="*/ 36576 h 36576"/>
              <a:gd name="connsiteX19" fmla="*/ 5731736 w 8486625"/>
              <a:gd name="connsiteY19" fmla="*/ 36576 h 36576"/>
              <a:gd name="connsiteX20" fmla="*/ 5163785 w 8486625"/>
              <a:gd name="connsiteY20" fmla="*/ 36576 h 36576"/>
              <a:gd name="connsiteX21" fmla="*/ 4680700 w 8486625"/>
              <a:gd name="connsiteY21" fmla="*/ 36576 h 36576"/>
              <a:gd name="connsiteX22" fmla="*/ 3858150 w 8486625"/>
              <a:gd name="connsiteY22" fmla="*/ 36576 h 36576"/>
              <a:gd name="connsiteX23" fmla="*/ 3205333 w 8486625"/>
              <a:gd name="connsiteY23" fmla="*/ 36576 h 36576"/>
              <a:gd name="connsiteX24" fmla="*/ 2467649 w 8486625"/>
              <a:gd name="connsiteY24" fmla="*/ 36576 h 36576"/>
              <a:gd name="connsiteX25" fmla="*/ 2069431 w 8486625"/>
              <a:gd name="connsiteY25" fmla="*/ 36576 h 36576"/>
              <a:gd name="connsiteX26" fmla="*/ 1586346 w 8486625"/>
              <a:gd name="connsiteY26" fmla="*/ 36576 h 36576"/>
              <a:gd name="connsiteX27" fmla="*/ 933529 w 8486625"/>
              <a:gd name="connsiteY27" fmla="*/ 36576 h 36576"/>
              <a:gd name="connsiteX28" fmla="*/ 0 w 8486625"/>
              <a:gd name="connsiteY28" fmla="*/ 36576 h 36576"/>
              <a:gd name="connsiteX29" fmla="*/ 0 w 8486625"/>
              <a:gd name="connsiteY29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486625" h="36576" fill="none" extrusionOk="0">
                <a:moveTo>
                  <a:pt x="0" y="0"/>
                </a:moveTo>
                <a:cubicBezTo>
                  <a:pt x="365883" y="26132"/>
                  <a:pt x="586978" y="21253"/>
                  <a:pt x="737684" y="0"/>
                </a:cubicBezTo>
                <a:cubicBezTo>
                  <a:pt x="888390" y="-21253"/>
                  <a:pt x="1392304" y="-26113"/>
                  <a:pt x="1560233" y="0"/>
                </a:cubicBezTo>
                <a:cubicBezTo>
                  <a:pt x="1728162" y="26113"/>
                  <a:pt x="1784587" y="-1592"/>
                  <a:pt x="1958452" y="0"/>
                </a:cubicBezTo>
                <a:cubicBezTo>
                  <a:pt x="2132317" y="1592"/>
                  <a:pt x="2396174" y="19"/>
                  <a:pt x="2526403" y="0"/>
                </a:cubicBezTo>
                <a:cubicBezTo>
                  <a:pt x="2656632" y="-19"/>
                  <a:pt x="2750166" y="4041"/>
                  <a:pt x="2924622" y="0"/>
                </a:cubicBezTo>
                <a:cubicBezTo>
                  <a:pt x="3099078" y="-4041"/>
                  <a:pt x="3354455" y="-1831"/>
                  <a:pt x="3577439" y="0"/>
                </a:cubicBezTo>
                <a:cubicBezTo>
                  <a:pt x="3800423" y="1831"/>
                  <a:pt x="4028177" y="-15911"/>
                  <a:pt x="4145390" y="0"/>
                </a:cubicBezTo>
                <a:cubicBezTo>
                  <a:pt x="4262603" y="15911"/>
                  <a:pt x="4540394" y="13871"/>
                  <a:pt x="4883073" y="0"/>
                </a:cubicBezTo>
                <a:cubicBezTo>
                  <a:pt x="5225752" y="-13871"/>
                  <a:pt x="5458488" y="34674"/>
                  <a:pt x="5705623" y="0"/>
                </a:cubicBezTo>
                <a:cubicBezTo>
                  <a:pt x="5952758" y="-34674"/>
                  <a:pt x="6048260" y="15357"/>
                  <a:pt x="6358441" y="0"/>
                </a:cubicBezTo>
                <a:cubicBezTo>
                  <a:pt x="6668622" y="-15357"/>
                  <a:pt x="6775702" y="11239"/>
                  <a:pt x="7180990" y="0"/>
                </a:cubicBezTo>
                <a:cubicBezTo>
                  <a:pt x="7586278" y="-11239"/>
                  <a:pt x="7597016" y="-4986"/>
                  <a:pt x="7833808" y="0"/>
                </a:cubicBezTo>
                <a:cubicBezTo>
                  <a:pt x="8070600" y="4986"/>
                  <a:pt x="8349612" y="12709"/>
                  <a:pt x="8486625" y="0"/>
                </a:cubicBezTo>
                <a:cubicBezTo>
                  <a:pt x="8487203" y="9299"/>
                  <a:pt x="8487225" y="26774"/>
                  <a:pt x="8486625" y="36576"/>
                </a:cubicBezTo>
                <a:cubicBezTo>
                  <a:pt x="8327056" y="13159"/>
                  <a:pt x="8097464" y="22289"/>
                  <a:pt x="7833808" y="36576"/>
                </a:cubicBezTo>
                <a:cubicBezTo>
                  <a:pt x="7570152" y="50863"/>
                  <a:pt x="7560423" y="40811"/>
                  <a:pt x="7350723" y="36576"/>
                </a:cubicBezTo>
                <a:cubicBezTo>
                  <a:pt x="7141023" y="32341"/>
                  <a:pt x="7108443" y="42159"/>
                  <a:pt x="6952504" y="36576"/>
                </a:cubicBezTo>
                <a:cubicBezTo>
                  <a:pt x="6796565" y="30993"/>
                  <a:pt x="6659719" y="19656"/>
                  <a:pt x="6384553" y="36576"/>
                </a:cubicBezTo>
                <a:cubicBezTo>
                  <a:pt x="6109387" y="53496"/>
                  <a:pt x="5935789" y="29794"/>
                  <a:pt x="5731736" y="36576"/>
                </a:cubicBezTo>
                <a:cubicBezTo>
                  <a:pt x="5527683" y="43358"/>
                  <a:pt x="5426252" y="61919"/>
                  <a:pt x="5163785" y="36576"/>
                </a:cubicBezTo>
                <a:cubicBezTo>
                  <a:pt x="4901318" y="11233"/>
                  <a:pt x="4911835" y="13095"/>
                  <a:pt x="4680700" y="36576"/>
                </a:cubicBezTo>
                <a:cubicBezTo>
                  <a:pt x="4449565" y="60057"/>
                  <a:pt x="4135712" y="-3176"/>
                  <a:pt x="3858150" y="36576"/>
                </a:cubicBezTo>
                <a:cubicBezTo>
                  <a:pt x="3580588" y="76328"/>
                  <a:pt x="3495054" y="22345"/>
                  <a:pt x="3205333" y="36576"/>
                </a:cubicBezTo>
                <a:cubicBezTo>
                  <a:pt x="2915612" y="50807"/>
                  <a:pt x="2731249" y="70438"/>
                  <a:pt x="2467649" y="36576"/>
                </a:cubicBezTo>
                <a:cubicBezTo>
                  <a:pt x="2204049" y="2714"/>
                  <a:pt x="2250955" y="44690"/>
                  <a:pt x="2069431" y="36576"/>
                </a:cubicBezTo>
                <a:cubicBezTo>
                  <a:pt x="1887907" y="28462"/>
                  <a:pt x="1778663" y="22938"/>
                  <a:pt x="1586346" y="36576"/>
                </a:cubicBezTo>
                <a:cubicBezTo>
                  <a:pt x="1394030" y="50214"/>
                  <a:pt x="1183390" y="12818"/>
                  <a:pt x="933529" y="36576"/>
                </a:cubicBezTo>
                <a:cubicBezTo>
                  <a:pt x="683668" y="60334"/>
                  <a:pt x="351446" y="47931"/>
                  <a:pt x="0" y="36576"/>
                </a:cubicBezTo>
                <a:cubicBezTo>
                  <a:pt x="-516" y="20544"/>
                  <a:pt x="1802" y="17140"/>
                  <a:pt x="0" y="0"/>
                </a:cubicBezTo>
                <a:close/>
              </a:path>
              <a:path w="8486625" h="36576" stroke="0" extrusionOk="0">
                <a:moveTo>
                  <a:pt x="0" y="0"/>
                </a:moveTo>
                <a:cubicBezTo>
                  <a:pt x="165589" y="-15829"/>
                  <a:pt x="346816" y="3885"/>
                  <a:pt x="483085" y="0"/>
                </a:cubicBezTo>
                <a:cubicBezTo>
                  <a:pt x="619355" y="-3885"/>
                  <a:pt x="765583" y="-15669"/>
                  <a:pt x="881303" y="0"/>
                </a:cubicBezTo>
                <a:cubicBezTo>
                  <a:pt x="997023" y="15669"/>
                  <a:pt x="1135246" y="-12898"/>
                  <a:pt x="1364388" y="0"/>
                </a:cubicBezTo>
                <a:cubicBezTo>
                  <a:pt x="1593530" y="12898"/>
                  <a:pt x="1736172" y="1905"/>
                  <a:pt x="2017205" y="0"/>
                </a:cubicBezTo>
                <a:cubicBezTo>
                  <a:pt x="2298238" y="-1905"/>
                  <a:pt x="2465101" y="-4115"/>
                  <a:pt x="2754889" y="0"/>
                </a:cubicBezTo>
                <a:cubicBezTo>
                  <a:pt x="3044677" y="4115"/>
                  <a:pt x="3407603" y="-6544"/>
                  <a:pt x="3577439" y="0"/>
                </a:cubicBezTo>
                <a:cubicBezTo>
                  <a:pt x="3747275" y="6544"/>
                  <a:pt x="4121411" y="1143"/>
                  <a:pt x="4399989" y="0"/>
                </a:cubicBezTo>
                <a:cubicBezTo>
                  <a:pt x="4678567" y="-1143"/>
                  <a:pt x="4765410" y="-23552"/>
                  <a:pt x="4967940" y="0"/>
                </a:cubicBezTo>
                <a:cubicBezTo>
                  <a:pt x="5170470" y="23552"/>
                  <a:pt x="5343651" y="-25002"/>
                  <a:pt x="5705623" y="0"/>
                </a:cubicBezTo>
                <a:cubicBezTo>
                  <a:pt x="6067595" y="25002"/>
                  <a:pt x="6059730" y="23494"/>
                  <a:pt x="6358441" y="0"/>
                </a:cubicBezTo>
                <a:cubicBezTo>
                  <a:pt x="6657152" y="-23494"/>
                  <a:pt x="6763789" y="8133"/>
                  <a:pt x="6926392" y="0"/>
                </a:cubicBezTo>
                <a:cubicBezTo>
                  <a:pt x="7088995" y="-8133"/>
                  <a:pt x="7482952" y="-26853"/>
                  <a:pt x="7664075" y="0"/>
                </a:cubicBezTo>
                <a:cubicBezTo>
                  <a:pt x="7845198" y="26853"/>
                  <a:pt x="8196912" y="38677"/>
                  <a:pt x="8486625" y="0"/>
                </a:cubicBezTo>
                <a:cubicBezTo>
                  <a:pt x="8486401" y="11559"/>
                  <a:pt x="8486017" y="21146"/>
                  <a:pt x="8486625" y="36576"/>
                </a:cubicBezTo>
                <a:cubicBezTo>
                  <a:pt x="8295001" y="31828"/>
                  <a:pt x="8167057" y="59535"/>
                  <a:pt x="8003540" y="36576"/>
                </a:cubicBezTo>
                <a:cubicBezTo>
                  <a:pt x="7840024" y="13617"/>
                  <a:pt x="7492476" y="12813"/>
                  <a:pt x="7180990" y="36576"/>
                </a:cubicBezTo>
                <a:cubicBezTo>
                  <a:pt x="6869504" y="60340"/>
                  <a:pt x="6908571" y="54964"/>
                  <a:pt x="6697906" y="36576"/>
                </a:cubicBezTo>
                <a:cubicBezTo>
                  <a:pt x="6487241" y="18188"/>
                  <a:pt x="6213317" y="33875"/>
                  <a:pt x="5960222" y="36576"/>
                </a:cubicBezTo>
                <a:cubicBezTo>
                  <a:pt x="5707127" y="39277"/>
                  <a:pt x="5649220" y="34021"/>
                  <a:pt x="5562003" y="36576"/>
                </a:cubicBezTo>
                <a:cubicBezTo>
                  <a:pt x="5474786" y="39131"/>
                  <a:pt x="5097031" y="62960"/>
                  <a:pt x="4909186" y="36576"/>
                </a:cubicBezTo>
                <a:cubicBezTo>
                  <a:pt x="4721341" y="10192"/>
                  <a:pt x="4537540" y="27937"/>
                  <a:pt x="4426101" y="36576"/>
                </a:cubicBezTo>
                <a:cubicBezTo>
                  <a:pt x="4314662" y="45215"/>
                  <a:pt x="4000349" y="27287"/>
                  <a:pt x="3603552" y="36576"/>
                </a:cubicBezTo>
                <a:cubicBezTo>
                  <a:pt x="3206755" y="45865"/>
                  <a:pt x="3293169" y="51190"/>
                  <a:pt x="3205333" y="36576"/>
                </a:cubicBezTo>
                <a:cubicBezTo>
                  <a:pt x="3117497" y="21962"/>
                  <a:pt x="2871914" y="36496"/>
                  <a:pt x="2552516" y="36576"/>
                </a:cubicBezTo>
                <a:cubicBezTo>
                  <a:pt x="2233118" y="36656"/>
                  <a:pt x="2301775" y="54106"/>
                  <a:pt x="2154297" y="36576"/>
                </a:cubicBezTo>
                <a:cubicBezTo>
                  <a:pt x="2006819" y="19046"/>
                  <a:pt x="1880132" y="26938"/>
                  <a:pt x="1671212" y="36576"/>
                </a:cubicBezTo>
                <a:cubicBezTo>
                  <a:pt x="1462293" y="46214"/>
                  <a:pt x="1178639" y="15762"/>
                  <a:pt x="933529" y="36576"/>
                </a:cubicBezTo>
                <a:cubicBezTo>
                  <a:pt x="688419" y="57390"/>
                  <a:pt x="340662" y="38752"/>
                  <a:pt x="0" y="36576"/>
                </a:cubicBezTo>
                <a:cubicBezTo>
                  <a:pt x="-299" y="20797"/>
                  <a:pt x="-1602" y="1003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846C0-48EC-BE6B-E920-35A9804B6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076" y="5413248"/>
            <a:ext cx="10911130" cy="696772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dirty="0"/>
              <a:t>That box will actually take up:</a:t>
            </a:r>
          </a:p>
          <a:p>
            <a:r>
              <a:rPr lang="en-US" sz="4400" b="1" dirty="0"/>
              <a:t>Content: </a:t>
            </a:r>
            <a:r>
              <a:rPr lang="en-US" sz="4400" dirty="0"/>
              <a:t>200px</a:t>
            </a:r>
          </a:p>
          <a:p>
            <a:r>
              <a:rPr lang="en-US" sz="4400" b="1" dirty="0"/>
              <a:t>Padding: </a:t>
            </a:r>
            <a:r>
              <a:rPr lang="en-US" sz="4400" dirty="0"/>
              <a:t>20px on each side (adds 40px total)</a:t>
            </a:r>
          </a:p>
          <a:p>
            <a:r>
              <a:rPr lang="en-US" sz="4400" b="1" dirty="0"/>
              <a:t>Border: </a:t>
            </a:r>
            <a:r>
              <a:rPr lang="en-US" sz="4400" dirty="0"/>
              <a:t>4px on each side (adds 8px total)</a:t>
            </a:r>
          </a:p>
          <a:p>
            <a:r>
              <a:rPr lang="en-US" sz="4400" b="1" dirty="0"/>
              <a:t>Margin: </a:t>
            </a:r>
            <a:r>
              <a:rPr lang="en-US" sz="4400" dirty="0"/>
              <a:t>30px outside the box (doesn’t count toward size, but creates space)</a:t>
            </a:r>
          </a:p>
          <a:p>
            <a:pPr marL="0" indent="0">
              <a:buNone/>
            </a:pPr>
            <a:r>
              <a:rPr lang="en-US" sz="4400" b="1" dirty="0"/>
              <a:t>Total visual space </a:t>
            </a:r>
            <a:r>
              <a:rPr lang="en-US" sz="4400" dirty="0"/>
              <a:t>= 200 + 40 + 8 = 248px wide box. Then it has 30px of extra space around it (the margin).</a:t>
            </a:r>
            <a:endParaRPr lang="en-US" sz="4400" dirty="0">
              <a:latin typeface="+mn-lt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BE609-7CDA-FCAA-A2E1-0D8EE357D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700" y="4604091"/>
            <a:ext cx="11126837" cy="647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6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53933-D198-8D08-155C-A93E8CD6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5E9C57-5F3C-A7DD-8A34-A23191F1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6316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B8B8F-C7A1-1686-3402-F5955467F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076" y="658368"/>
            <a:ext cx="1378825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CA" sz="9600" dirty="0"/>
              <a:t>Example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777B483-11F5-9CF1-7F82-D2CEEF8FF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7805" y="4791456"/>
            <a:ext cx="8486625" cy="36576"/>
          </a:xfrm>
          <a:custGeom>
            <a:avLst/>
            <a:gdLst>
              <a:gd name="connsiteX0" fmla="*/ 0 w 8486625"/>
              <a:gd name="connsiteY0" fmla="*/ 0 h 36576"/>
              <a:gd name="connsiteX1" fmla="*/ 737684 w 8486625"/>
              <a:gd name="connsiteY1" fmla="*/ 0 h 36576"/>
              <a:gd name="connsiteX2" fmla="*/ 1560233 w 8486625"/>
              <a:gd name="connsiteY2" fmla="*/ 0 h 36576"/>
              <a:gd name="connsiteX3" fmla="*/ 1958452 w 8486625"/>
              <a:gd name="connsiteY3" fmla="*/ 0 h 36576"/>
              <a:gd name="connsiteX4" fmla="*/ 2526403 w 8486625"/>
              <a:gd name="connsiteY4" fmla="*/ 0 h 36576"/>
              <a:gd name="connsiteX5" fmla="*/ 2924622 w 8486625"/>
              <a:gd name="connsiteY5" fmla="*/ 0 h 36576"/>
              <a:gd name="connsiteX6" fmla="*/ 3577439 w 8486625"/>
              <a:gd name="connsiteY6" fmla="*/ 0 h 36576"/>
              <a:gd name="connsiteX7" fmla="*/ 4145390 w 8486625"/>
              <a:gd name="connsiteY7" fmla="*/ 0 h 36576"/>
              <a:gd name="connsiteX8" fmla="*/ 4883073 w 8486625"/>
              <a:gd name="connsiteY8" fmla="*/ 0 h 36576"/>
              <a:gd name="connsiteX9" fmla="*/ 5705623 w 8486625"/>
              <a:gd name="connsiteY9" fmla="*/ 0 h 36576"/>
              <a:gd name="connsiteX10" fmla="*/ 6358441 w 8486625"/>
              <a:gd name="connsiteY10" fmla="*/ 0 h 36576"/>
              <a:gd name="connsiteX11" fmla="*/ 7180990 w 8486625"/>
              <a:gd name="connsiteY11" fmla="*/ 0 h 36576"/>
              <a:gd name="connsiteX12" fmla="*/ 7833808 w 8486625"/>
              <a:gd name="connsiteY12" fmla="*/ 0 h 36576"/>
              <a:gd name="connsiteX13" fmla="*/ 8486625 w 8486625"/>
              <a:gd name="connsiteY13" fmla="*/ 0 h 36576"/>
              <a:gd name="connsiteX14" fmla="*/ 8486625 w 8486625"/>
              <a:gd name="connsiteY14" fmla="*/ 36576 h 36576"/>
              <a:gd name="connsiteX15" fmla="*/ 7833808 w 8486625"/>
              <a:gd name="connsiteY15" fmla="*/ 36576 h 36576"/>
              <a:gd name="connsiteX16" fmla="*/ 7350723 w 8486625"/>
              <a:gd name="connsiteY16" fmla="*/ 36576 h 36576"/>
              <a:gd name="connsiteX17" fmla="*/ 6952504 w 8486625"/>
              <a:gd name="connsiteY17" fmla="*/ 36576 h 36576"/>
              <a:gd name="connsiteX18" fmla="*/ 6384553 w 8486625"/>
              <a:gd name="connsiteY18" fmla="*/ 36576 h 36576"/>
              <a:gd name="connsiteX19" fmla="*/ 5731736 w 8486625"/>
              <a:gd name="connsiteY19" fmla="*/ 36576 h 36576"/>
              <a:gd name="connsiteX20" fmla="*/ 5163785 w 8486625"/>
              <a:gd name="connsiteY20" fmla="*/ 36576 h 36576"/>
              <a:gd name="connsiteX21" fmla="*/ 4680700 w 8486625"/>
              <a:gd name="connsiteY21" fmla="*/ 36576 h 36576"/>
              <a:gd name="connsiteX22" fmla="*/ 3858150 w 8486625"/>
              <a:gd name="connsiteY22" fmla="*/ 36576 h 36576"/>
              <a:gd name="connsiteX23" fmla="*/ 3205333 w 8486625"/>
              <a:gd name="connsiteY23" fmla="*/ 36576 h 36576"/>
              <a:gd name="connsiteX24" fmla="*/ 2467649 w 8486625"/>
              <a:gd name="connsiteY24" fmla="*/ 36576 h 36576"/>
              <a:gd name="connsiteX25" fmla="*/ 2069431 w 8486625"/>
              <a:gd name="connsiteY25" fmla="*/ 36576 h 36576"/>
              <a:gd name="connsiteX26" fmla="*/ 1586346 w 8486625"/>
              <a:gd name="connsiteY26" fmla="*/ 36576 h 36576"/>
              <a:gd name="connsiteX27" fmla="*/ 933529 w 8486625"/>
              <a:gd name="connsiteY27" fmla="*/ 36576 h 36576"/>
              <a:gd name="connsiteX28" fmla="*/ 0 w 8486625"/>
              <a:gd name="connsiteY28" fmla="*/ 36576 h 36576"/>
              <a:gd name="connsiteX29" fmla="*/ 0 w 8486625"/>
              <a:gd name="connsiteY29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486625" h="36576" fill="none" extrusionOk="0">
                <a:moveTo>
                  <a:pt x="0" y="0"/>
                </a:moveTo>
                <a:cubicBezTo>
                  <a:pt x="365883" y="26132"/>
                  <a:pt x="586978" y="21253"/>
                  <a:pt x="737684" y="0"/>
                </a:cubicBezTo>
                <a:cubicBezTo>
                  <a:pt x="888390" y="-21253"/>
                  <a:pt x="1392304" y="-26113"/>
                  <a:pt x="1560233" y="0"/>
                </a:cubicBezTo>
                <a:cubicBezTo>
                  <a:pt x="1728162" y="26113"/>
                  <a:pt x="1784587" y="-1592"/>
                  <a:pt x="1958452" y="0"/>
                </a:cubicBezTo>
                <a:cubicBezTo>
                  <a:pt x="2132317" y="1592"/>
                  <a:pt x="2396174" y="19"/>
                  <a:pt x="2526403" y="0"/>
                </a:cubicBezTo>
                <a:cubicBezTo>
                  <a:pt x="2656632" y="-19"/>
                  <a:pt x="2750166" y="4041"/>
                  <a:pt x="2924622" y="0"/>
                </a:cubicBezTo>
                <a:cubicBezTo>
                  <a:pt x="3099078" y="-4041"/>
                  <a:pt x="3354455" y="-1831"/>
                  <a:pt x="3577439" y="0"/>
                </a:cubicBezTo>
                <a:cubicBezTo>
                  <a:pt x="3800423" y="1831"/>
                  <a:pt x="4028177" y="-15911"/>
                  <a:pt x="4145390" y="0"/>
                </a:cubicBezTo>
                <a:cubicBezTo>
                  <a:pt x="4262603" y="15911"/>
                  <a:pt x="4540394" y="13871"/>
                  <a:pt x="4883073" y="0"/>
                </a:cubicBezTo>
                <a:cubicBezTo>
                  <a:pt x="5225752" y="-13871"/>
                  <a:pt x="5458488" y="34674"/>
                  <a:pt x="5705623" y="0"/>
                </a:cubicBezTo>
                <a:cubicBezTo>
                  <a:pt x="5952758" y="-34674"/>
                  <a:pt x="6048260" y="15357"/>
                  <a:pt x="6358441" y="0"/>
                </a:cubicBezTo>
                <a:cubicBezTo>
                  <a:pt x="6668622" y="-15357"/>
                  <a:pt x="6775702" y="11239"/>
                  <a:pt x="7180990" y="0"/>
                </a:cubicBezTo>
                <a:cubicBezTo>
                  <a:pt x="7586278" y="-11239"/>
                  <a:pt x="7597016" y="-4986"/>
                  <a:pt x="7833808" y="0"/>
                </a:cubicBezTo>
                <a:cubicBezTo>
                  <a:pt x="8070600" y="4986"/>
                  <a:pt x="8349612" y="12709"/>
                  <a:pt x="8486625" y="0"/>
                </a:cubicBezTo>
                <a:cubicBezTo>
                  <a:pt x="8487203" y="9299"/>
                  <a:pt x="8487225" y="26774"/>
                  <a:pt x="8486625" y="36576"/>
                </a:cubicBezTo>
                <a:cubicBezTo>
                  <a:pt x="8327056" y="13159"/>
                  <a:pt x="8097464" y="22289"/>
                  <a:pt x="7833808" y="36576"/>
                </a:cubicBezTo>
                <a:cubicBezTo>
                  <a:pt x="7570152" y="50863"/>
                  <a:pt x="7560423" y="40811"/>
                  <a:pt x="7350723" y="36576"/>
                </a:cubicBezTo>
                <a:cubicBezTo>
                  <a:pt x="7141023" y="32341"/>
                  <a:pt x="7108443" y="42159"/>
                  <a:pt x="6952504" y="36576"/>
                </a:cubicBezTo>
                <a:cubicBezTo>
                  <a:pt x="6796565" y="30993"/>
                  <a:pt x="6659719" y="19656"/>
                  <a:pt x="6384553" y="36576"/>
                </a:cubicBezTo>
                <a:cubicBezTo>
                  <a:pt x="6109387" y="53496"/>
                  <a:pt x="5935789" y="29794"/>
                  <a:pt x="5731736" y="36576"/>
                </a:cubicBezTo>
                <a:cubicBezTo>
                  <a:pt x="5527683" y="43358"/>
                  <a:pt x="5426252" y="61919"/>
                  <a:pt x="5163785" y="36576"/>
                </a:cubicBezTo>
                <a:cubicBezTo>
                  <a:pt x="4901318" y="11233"/>
                  <a:pt x="4911835" y="13095"/>
                  <a:pt x="4680700" y="36576"/>
                </a:cubicBezTo>
                <a:cubicBezTo>
                  <a:pt x="4449565" y="60057"/>
                  <a:pt x="4135712" y="-3176"/>
                  <a:pt x="3858150" y="36576"/>
                </a:cubicBezTo>
                <a:cubicBezTo>
                  <a:pt x="3580588" y="76328"/>
                  <a:pt x="3495054" y="22345"/>
                  <a:pt x="3205333" y="36576"/>
                </a:cubicBezTo>
                <a:cubicBezTo>
                  <a:pt x="2915612" y="50807"/>
                  <a:pt x="2731249" y="70438"/>
                  <a:pt x="2467649" y="36576"/>
                </a:cubicBezTo>
                <a:cubicBezTo>
                  <a:pt x="2204049" y="2714"/>
                  <a:pt x="2250955" y="44690"/>
                  <a:pt x="2069431" y="36576"/>
                </a:cubicBezTo>
                <a:cubicBezTo>
                  <a:pt x="1887907" y="28462"/>
                  <a:pt x="1778663" y="22938"/>
                  <a:pt x="1586346" y="36576"/>
                </a:cubicBezTo>
                <a:cubicBezTo>
                  <a:pt x="1394030" y="50214"/>
                  <a:pt x="1183390" y="12818"/>
                  <a:pt x="933529" y="36576"/>
                </a:cubicBezTo>
                <a:cubicBezTo>
                  <a:pt x="683668" y="60334"/>
                  <a:pt x="351446" y="47931"/>
                  <a:pt x="0" y="36576"/>
                </a:cubicBezTo>
                <a:cubicBezTo>
                  <a:pt x="-516" y="20544"/>
                  <a:pt x="1802" y="17140"/>
                  <a:pt x="0" y="0"/>
                </a:cubicBezTo>
                <a:close/>
              </a:path>
              <a:path w="8486625" h="36576" stroke="0" extrusionOk="0">
                <a:moveTo>
                  <a:pt x="0" y="0"/>
                </a:moveTo>
                <a:cubicBezTo>
                  <a:pt x="165589" y="-15829"/>
                  <a:pt x="346816" y="3885"/>
                  <a:pt x="483085" y="0"/>
                </a:cubicBezTo>
                <a:cubicBezTo>
                  <a:pt x="619355" y="-3885"/>
                  <a:pt x="765583" y="-15669"/>
                  <a:pt x="881303" y="0"/>
                </a:cubicBezTo>
                <a:cubicBezTo>
                  <a:pt x="997023" y="15669"/>
                  <a:pt x="1135246" y="-12898"/>
                  <a:pt x="1364388" y="0"/>
                </a:cubicBezTo>
                <a:cubicBezTo>
                  <a:pt x="1593530" y="12898"/>
                  <a:pt x="1736172" y="1905"/>
                  <a:pt x="2017205" y="0"/>
                </a:cubicBezTo>
                <a:cubicBezTo>
                  <a:pt x="2298238" y="-1905"/>
                  <a:pt x="2465101" y="-4115"/>
                  <a:pt x="2754889" y="0"/>
                </a:cubicBezTo>
                <a:cubicBezTo>
                  <a:pt x="3044677" y="4115"/>
                  <a:pt x="3407603" y="-6544"/>
                  <a:pt x="3577439" y="0"/>
                </a:cubicBezTo>
                <a:cubicBezTo>
                  <a:pt x="3747275" y="6544"/>
                  <a:pt x="4121411" y="1143"/>
                  <a:pt x="4399989" y="0"/>
                </a:cubicBezTo>
                <a:cubicBezTo>
                  <a:pt x="4678567" y="-1143"/>
                  <a:pt x="4765410" y="-23552"/>
                  <a:pt x="4967940" y="0"/>
                </a:cubicBezTo>
                <a:cubicBezTo>
                  <a:pt x="5170470" y="23552"/>
                  <a:pt x="5343651" y="-25002"/>
                  <a:pt x="5705623" y="0"/>
                </a:cubicBezTo>
                <a:cubicBezTo>
                  <a:pt x="6067595" y="25002"/>
                  <a:pt x="6059730" y="23494"/>
                  <a:pt x="6358441" y="0"/>
                </a:cubicBezTo>
                <a:cubicBezTo>
                  <a:pt x="6657152" y="-23494"/>
                  <a:pt x="6763789" y="8133"/>
                  <a:pt x="6926392" y="0"/>
                </a:cubicBezTo>
                <a:cubicBezTo>
                  <a:pt x="7088995" y="-8133"/>
                  <a:pt x="7482952" y="-26853"/>
                  <a:pt x="7664075" y="0"/>
                </a:cubicBezTo>
                <a:cubicBezTo>
                  <a:pt x="7845198" y="26853"/>
                  <a:pt x="8196912" y="38677"/>
                  <a:pt x="8486625" y="0"/>
                </a:cubicBezTo>
                <a:cubicBezTo>
                  <a:pt x="8486401" y="11559"/>
                  <a:pt x="8486017" y="21146"/>
                  <a:pt x="8486625" y="36576"/>
                </a:cubicBezTo>
                <a:cubicBezTo>
                  <a:pt x="8295001" y="31828"/>
                  <a:pt x="8167057" y="59535"/>
                  <a:pt x="8003540" y="36576"/>
                </a:cubicBezTo>
                <a:cubicBezTo>
                  <a:pt x="7840024" y="13617"/>
                  <a:pt x="7492476" y="12813"/>
                  <a:pt x="7180990" y="36576"/>
                </a:cubicBezTo>
                <a:cubicBezTo>
                  <a:pt x="6869504" y="60340"/>
                  <a:pt x="6908571" y="54964"/>
                  <a:pt x="6697906" y="36576"/>
                </a:cubicBezTo>
                <a:cubicBezTo>
                  <a:pt x="6487241" y="18188"/>
                  <a:pt x="6213317" y="33875"/>
                  <a:pt x="5960222" y="36576"/>
                </a:cubicBezTo>
                <a:cubicBezTo>
                  <a:pt x="5707127" y="39277"/>
                  <a:pt x="5649220" y="34021"/>
                  <a:pt x="5562003" y="36576"/>
                </a:cubicBezTo>
                <a:cubicBezTo>
                  <a:pt x="5474786" y="39131"/>
                  <a:pt x="5097031" y="62960"/>
                  <a:pt x="4909186" y="36576"/>
                </a:cubicBezTo>
                <a:cubicBezTo>
                  <a:pt x="4721341" y="10192"/>
                  <a:pt x="4537540" y="27937"/>
                  <a:pt x="4426101" y="36576"/>
                </a:cubicBezTo>
                <a:cubicBezTo>
                  <a:pt x="4314662" y="45215"/>
                  <a:pt x="4000349" y="27287"/>
                  <a:pt x="3603552" y="36576"/>
                </a:cubicBezTo>
                <a:cubicBezTo>
                  <a:pt x="3206755" y="45865"/>
                  <a:pt x="3293169" y="51190"/>
                  <a:pt x="3205333" y="36576"/>
                </a:cubicBezTo>
                <a:cubicBezTo>
                  <a:pt x="3117497" y="21962"/>
                  <a:pt x="2871914" y="36496"/>
                  <a:pt x="2552516" y="36576"/>
                </a:cubicBezTo>
                <a:cubicBezTo>
                  <a:pt x="2233118" y="36656"/>
                  <a:pt x="2301775" y="54106"/>
                  <a:pt x="2154297" y="36576"/>
                </a:cubicBezTo>
                <a:cubicBezTo>
                  <a:pt x="2006819" y="19046"/>
                  <a:pt x="1880132" y="26938"/>
                  <a:pt x="1671212" y="36576"/>
                </a:cubicBezTo>
                <a:cubicBezTo>
                  <a:pt x="1462293" y="46214"/>
                  <a:pt x="1178639" y="15762"/>
                  <a:pt x="933529" y="36576"/>
                </a:cubicBezTo>
                <a:cubicBezTo>
                  <a:pt x="688419" y="57390"/>
                  <a:pt x="340662" y="38752"/>
                  <a:pt x="0" y="36576"/>
                </a:cubicBezTo>
                <a:cubicBezTo>
                  <a:pt x="-299" y="20797"/>
                  <a:pt x="-1602" y="1003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8B0B4A-5678-565C-F781-582A71462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681" y="1384142"/>
            <a:ext cx="14558656" cy="1094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3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DE32-DC29-FB73-7DCB-B78EB302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78D9-42B6-7819-52D9-5717B8CB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sv-SE" dirty="0"/>
              <a:t> </a:t>
            </a:r>
            <a:r>
              <a:rPr lang="en-US" dirty="0"/>
              <a:t>Why Does the Box Model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76F84-329C-BAF0-C7FA-D455D90A6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3946357"/>
            <a:ext cx="18823799" cy="7291137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It affects layout and alignment</a:t>
            </a:r>
          </a:p>
          <a:p>
            <a:pPr fontAlgn="base"/>
            <a:r>
              <a:rPr lang="en-US" dirty="0"/>
              <a:t>If you forget about padding, your content might overflow or appear off-center</a:t>
            </a:r>
          </a:p>
          <a:p>
            <a:pPr fontAlgn="base"/>
            <a:r>
              <a:rPr lang="en-US" dirty="0"/>
              <a:t>Borders and margins add space — but in different ways</a:t>
            </a:r>
          </a:p>
          <a:p>
            <a:pPr fontAlgn="base"/>
            <a:r>
              <a:rPr lang="en-US" dirty="0"/>
              <a:t>You need to calculate total size (width + padding + border)</a:t>
            </a:r>
            <a:br>
              <a:rPr lang="en-US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8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98D8-2DF8-CC35-8CE5-51AF3A48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3302-1222-2F2D-68D9-CC5F6852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Margin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2D272-66EE-1118-FC7C-43D4382BE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3946357"/>
            <a:ext cx="20522785" cy="729113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Shorthand Examples: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41AA7F93-EA7C-53D0-845C-E9BA0D31D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371" y="5527932"/>
            <a:ext cx="18660514" cy="570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28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2742-69A5-669C-CD9E-EC7F9C596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DE80-6C80-202D-8A69-AEA110A9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Padding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0859-B4B4-D86D-8CB3-1C0693EBE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3946357"/>
            <a:ext cx="20522785" cy="729113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Shorthand Examples: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A7EB019C-A8E0-08D8-DFDC-4F9D8966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77" y="5449565"/>
            <a:ext cx="20737760" cy="627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68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9BD1-306C-3961-F562-C2C8D6E2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104B-9123-0C0E-9E74-87EA1F6B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Border Properties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660F5-9B07-9983-3807-89BC61C8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3946357"/>
            <a:ext cx="20522785" cy="729113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Border Width </a:t>
            </a:r>
            <a:r>
              <a:rPr lang="en-US" dirty="0"/>
              <a:t>and </a:t>
            </a:r>
            <a:r>
              <a:rPr lang="en-CA" b="1" dirty="0"/>
              <a:t>Border Style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4DC9C73-D899-DF78-2213-FFB04D2C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7890" y="590891"/>
            <a:ext cx="8030451" cy="10900269"/>
          </a:xfrm>
          <a:prstGeom prst="rect">
            <a:avLst/>
          </a:prstGeom>
        </p:spPr>
      </p:pic>
      <p:pic>
        <p:nvPicPr>
          <p:cNvPr id="8" name="Picture 7" descr="A white background with green text&#10;&#10;AI-generated content may be incorrect.">
            <a:extLst>
              <a:ext uri="{FF2B5EF4-FFF2-40B4-BE49-F238E27FC236}">
                <a16:creationId xmlns:a16="http://schemas.microsoft.com/office/drawing/2014/main" id="{F544FA5D-E004-6AAA-716D-749AB461B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933" y="5469193"/>
            <a:ext cx="7740304" cy="701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87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3B5C-AE63-B255-3723-25B99CE7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992A-DC68-6307-9B9A-D5E68695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Introducing box-sizing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7C691-4890-1BB4-ACE2-31CE51986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3946357"/>
            <a:ext cx="20522785" cy="7291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box-sizing</a:t>
            </a:r>
            <a:r>
              <a:rPr lang="en-US" dirty="0"/>
              <a:t> allows you to:</a:t>
            </a:r>
          </a:p>
          <a:p>
            <a:pPr fontAlgn="base"/>
            <a:r>
              <a:rPr lang="en-US" dirty="0"/>
              <a:t>Set one overall width for an element</a:t>
            </a:r>
          </a:p>
          <a:p>
            <a:pPr fontAlgn="base"/>
            <a:r>
              <a:rPr lang="en-US" dirty="0"/>
              <a:t>The browser will subtract padding and border from the content space</a:t>
            </a:r>
          </a:p>
          <a:p>
            <a:pPr fontAlgn="base"/>
            <a:r>
              <a:rPr lang="en-US" dirty="0"/>
              <a:t>This keeps the element’s total size consistent</a:t>
            </a:r>
          </a:p>
          <a:p>
            <a:pPr marL="0" indent="0">
              <a:buNone/>
            </a:pPr>
            <a:r>
              <a:rPr lang="en-US" dirty="0"/>
              <a:t>⚠️ </a:t>
            </a:r>
            <a:r>
              <a:rPr lang="en-US" dirty="0">
                <a:solidFill>
                  <a:schemeClr val="accent2"/>
                </a:solidFill>
              </a:rPr>
              <a:t>Margins are still calculated separately — they are outside the box. That’s why if we add </a:t>
            </a:r>
            <a:r>
              <a:rPr lang="en-US" b="1" dirty="0">
                <a:solidFill>
                  <a:schemeClr val="accent2"/>
                </a:solidFill>
              </a:rPr>
              <a:t>left and right margin </a:t>
            </a:r>
            <a:r>
              <a:rPr lang="en-US" dirty="0">
                <a:solidFill>
                  <a:schemeClr val="accent2"/>
                </a:solidFill>
              </a:rPr>
              <a:t>it can break centering margin we add in </a:t>
            </a:r>
            <a:r>
              <a:rPr lang="en-US" b="1" dirty="0">
                <a:solidFill>
                  <a:schemeClr val="accent2"/>
                </a:solidFill>
              </a:rPr>
              <a:t>inner-container</a:t>
            </a:r>
            <a:endParaRPr lang="en-US" b="1" i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704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5CEA1-60DD-D700-ADE3-9156161E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8B54-B981-289A-2E8E-36E1E828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Universal Box-Sizing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3C791-85DD-A4B2-A404-317899841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1" y="3946357"/>
            <a:ext cx="11410628" cy="7291137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dirty="0"/>
              <a:t>Applies box-sizing to all elements</a:t>
            </a:r>
          </a:p>
          <a:p>
            <a:pPr marL="0" indent="0" fontAlgn="base">
              <a:buNone/>
            </a:pPr>
            <a:r>
              <a:rPr lang="en-US" dirty="0"/>
              <a:t>Ensures pseudo-elements (like ::before, ::after) are included</a:t>
            </a:r>
          </a:p>
          <a:p>
            <a:pPr marL="0" indent="0" fontAlgn="base">
              <a:buNone/>
            </a:pPr>
            <a:r>
              <a:rPr lang="en-US" dirty="0"/>
              <a:t> (they do not inherit box-sizing by default) and will be added to our reset file.</a:t>
            </a:r>
          </a:p>
          <a:p>
            <a:pPr marL="0" indent="0" fontAlgn="base">
              <a:buNone/>
            </a:pPr>
            <a:r>
              <a:rPr lang="en-US" dirty="0"/>
              <a:t>This is the modern standard and is usually added in CSS resets.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6CB20B1-3E62-8ADA-2616-58D95E584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006" y="3452977"/>
            <a:ext cx="7739743" cy="681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16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598B-203E-B186-D0F4-31D64C87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4880-9691-6C78-2E84-C0D235F7D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742433"/>
            <a:ext cx="21370149" cy="7059168"/>
          </a:xfrm>
        </p:spPr>
        <p:txBody>
          <a:bodyPr/>
          <a:lstStyle/>
          <a:p>
            <a:r>
              <a:rPr lang="en-US" dirty="0"/>
              <a:t>CSS RESET </a:t>
            </a:r>
            <a:br>
              <a:rPr lang="en-US" dirty="0"/>
            </a:br>
            <a:br>
              <a:rPr lang="en-US" b="1" i="1" dirty="0"/>
            </a:br>
            <a:endParaRPr lang="LID4096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305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3A873-0859-6778-5057-85C31AA0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9D6B-7D5C-F852-55DA-709B8CC9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What is a CSS Reset?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CD8CF-DF66-C32C-4A52-6F838DB3E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1" y="3946357"/>
            <a:ext cx="20293370" cy="7291137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A </a:t>
            </a:r>
            <a:r>
              <a:rPr lang="en-US" b="1" dirty="0"/>
              <a:t>CSS reset </a:t>
            </a:r>
            <a:r>
              <a:rPr lang="en-US" dirty="0"/>
              <a:t>is a stylesheet (usually a separate .</a:t>
            </a:r>
            <a:r>
              <a:rPr lang="en-US" dirty="0" err="1"/>
              <a:t>css</a:t>
            </a:r>
            <a:r>
              <a:rPr lang="en-US" dirty="0"/>
              <a:t> file) that removes default browser styles from all elements.</a:t>
            </a:r>
          </a:p>
          <a:p>
            <a:pPr fontAlgn="base"/>
            <a:r>
              <a:rPr lang="en-US" dirty="0"/>
              <a:t>Every browser (Chrome, Firefox, Safari, etc.) comes with its own built-in styles for headings, margins, padding, etc. (Remember on our first day our text looked different depending on browser we used?)</a:t>
            </a:r>
          </a:p>
          <a:p>
            <a:pPr marL="0" indent="0" fontAlgn="base">
              <a:buNone/>
            </a:pPr>
            <a:r>
              <a:rPr lang="en-US" dirty="0"/>
              <a:t>This means:</a:t>
            </a:r>
          </a:p>
          <a:p>
            <a:pPr fontAlgn="base"/>
            <a:r>
              <a:rPr lang="en-US" b="1" dirty="0"/>
              <a:t>The same HTML looks slightly different in each browser.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255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89B0-83A6-4AC1-AB98-F65EC8CE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9DBE0-7F8D-42C0-AB84-C0D92DFE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Why Do We Need a Reset File?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BDA27-1955-B1E7-D020-0F980F551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3946357"/>
            <a:ext cx="20293370" cy="8659300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Because we want:</a:t>
            </a:r>
          </a:p>
          <a:p>
            <a:pPr fontAlgn="base"/>
            <a:r>
              <a:rPr lang="en-US" dirty="0"/>
              <a:t>Consistency across browsers</a:t>
            </a:r>
          </a:p>
          <a:p>
            <a:pPr fontAlgn="base"/>
            <a:r>
              <a:rPr lang="en-US" dirty="0"/>
              <a:t>A clean starting point</a:t>
            </a:r>
          </a:p>
          <a:p>
            <a:pPr fontAlgn="base"/>
            <a:r>
              <a:rPr lang="en-US" dirty="0"/>
              <a:t>Full control over layout, spacing, fonts, etc.</a:t>
            </a:r>
          </a:p>
          <a:p>
            <a:pPr marL="0" indent="0" fontAlgn="base">
              <a:buNone/>
            </a:pPr>
            <a:r>
              <a:rPr lang="en-US" b="1" dirty="0"/>
              <a:t>Without a reset:</a:t>
            </a:r>
          </a:p>
          <a:p>
            <a:pPr fontAlgn="base"/>
            <a:r>
              <a:rPr lang="en-US" dirty="0"/>
              <a:t>&lt;h1&gt; might have 32px top margin in one browser and 40px in another.</a:t>
            </a:r>
          </a:p>
          <a:p>
            <a:pPr fontAlgn="base"/>
            <a:r>
              <a:rPr lang="en-US" dirty="0"/>
              <a:t>&lt;ul&gt; might have bullet styles or padding by default.</a:t>
            </a:r>
          </a:p>
          <a:p>
            <a:pPr fontAlgn="base"/>
            <a:r>
              <a:rPr lang="en-US" dirty="0"/>
              <a:t>&lt;button&gt; might look different on Mac vs. Windows.</a:t>
            </a:r>
          </a:p>
          <a:p>
            <a:pPr marL="0" indent="0" fontAlgn="base">
              <a:buNone/>
            </a:pP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i="1" dirty="0">
                <a:solidFill>
                  <a:schemeClr val="accent2"/>
                </a:solidFill>
              </a:rPr>
              <a:t>*A reset file makes everything neutral and predictable.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231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65C0-9847-2375-8807-DC436964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926C-6268-7441-F649-51A3D5F7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Types of resets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28410-BA4C-DBB1-10D7-EB41426EE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697472"/>
            <a:ext cx="19052400" cy="8659300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Modern Perspective:</a:t>
            </a:r>
          </a:p>
          <a:p>
            <a:pPr fontAlgn="base"/>
            <a:r>
              <a:rPr lang="en-CA" dirty="0"/>
              <a:t>Browser compatibility has improved.</a:t>
            </a:r>
          </a:p>
          <a:p>
            <a:pPr fontAlgn="base"/>
            <a:r>
              <a:rPr lang="en-CA" dirty="0"/>
              <a:t>Heavy-handed resets may no longer be necessary.</a:t>
            </a:r>
          </a:p>
          <a:p>
            <a:pPr fontAlgn="base"/>
            <a:r>
              <a:rPr lang="en-CA" dirty="0"/>
              <a:t>Instead, consider a modern CSS reset — lighter and more practical.</a:t>
            </a:r>
          </a:p>
          <a:p>
            <a:pPr marL="0" indent="0">
              <a:buNone/>
            </a:pPr>
            <a:r>
              <a:rPr lang="en-CA" b="1" dirty="0"/>
              <a:t>Piccalilli Modern CSS Reset</a:t>
            </a:r>
            <a:endParaRPr lang="en-CA" dirty="0"/>
          </a:p>
          <a:p>
            <a:pPr fontAlgn="base"/>
            <a:r>
              <a:rPr lang="en-CA" dirty="0"/>
              <a:t>Removes default margins from only some elements.</a:t>
            </a:r>
          </a:p>
          <a:p>
            <a:pPr fontAlgn="base"/>
            <a:r>
              <a:rPr lang="en-CA" dirty="0"/>
              <a:t>Adds box-sizing: border-box;</a:t>
            </a:r>
            <a:endParaRPr lang="en-CA" b="1" dirty="0"/>
          </a:p>
          <a:p>
            <a:r>
              <a:rPr lang="en-CA" dirty="0"/>
              <a:t>Lightweight and modern.</a:t>
            </a:r>
          </a:p>
          <a:p>
            <a:r>
              <a:rPr lang="en-CA" b="1" dirty="0"/>
              <a:t>We will be using modified version of it.</a:t>
            </a:r>
          </a:p>
          <a:p>
            <a:pPr marL="0" indent="0">
              <a:buNone/>
            </a:pPr>
            <a:br>
              <a:rPr lang="en-CA" b="1" dirty="0"/>
            </a:br>
            <a:r>
              <a:rPr lang="en-CA" b="1" dirty="0"/>
              <a:t>🔗</a:t>
            </a:r>
            <a:r>
              <a:rPr lang="en-CA" b="1" dirty="0">
                <a:hlinkClick r:id="rId3"/>
              </a:rPr>
              <a:t> </a:t>
            </a:r>
            <a:r>
              <a:rPr lang="en-CA" b="1" u="sng" dirty="0">
                <a:hlinkClick r:id="rId3"/>
              </a:rPr>
              <a:t>https://piccalil.li/blog/a-modern-css-reset</a:t>
            </a:r>
            <a:br>
              <a:rPr lang="en-CA" b="1" u="sng" dirty="0">
                <a:hlinkClick r:id="rId3"/>
              </a:rPr>
            </a:b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02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1819-E0D5-5DD2-25F1-AB485B39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F929-5EBB-A3F4-37D6-AC42FFFE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Types of resets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1F37-23F5-B189-CAE8-EFEE33894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697472"/>
            <a:ext cx="19052400" cy="865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Normalize:</a:t>
            </a:r>
            <a:endParaRPr lang="en-CA" dirty="0"/>
          </a:p>
          <a:p>
            <a:pPr fontAlgn="base"/>
            <a:r>
              <a:rPr lang="en-CA" dirty="0"/>
              <a:t>Maintains useful default styles like typographic structure.</a:t>
            </a:r>
          </a:p>
          <a:p>
            <a:pPr fontAlgn="base"/>
            <a:r>
              <a:rPr lang="en-CA" dirty="0"/>
              <a:t>Fixes browser-specific bugs (desktop and mobile).</a:t>
            </a:r>
          </a:p>
          <a:p>
            <a:r>
              <a:rPr lang="en-CA" dirty="0"/>
              <a:t>Uses vendor prefixes like -</a:t>
            </a:r>
            <a:r>
              <a:rPr lang="en-CA" dirty="0" err="1"/>
              <a:t>webkit</a:t>
            </a:r>
            <a:r>
              <a:rPr lang="en-CA" dirty="0"/>
              <a:t>-, -</a:t>
            </a:r>
            <a:r>
              <a:rPr lang="en-CA" dirty="0" err="1"/>
              <a:t>moz</a:t>
            </a:r>
            <a:r>
              <a:rPr lang="en-CA" dirty="0"/>
              <a:t>-, etc.</a:t>
            </a:r>
          </a:p>
          <a:p>
            <a:r>
              <a:rPr lang="en-CA" b="1" dirty="0"/>
              <a:t>🔗</a:t>
            </a:r>
            <a:r>
              <a:rPr lang="en-CA" b="1" dirty="0">
                <a:hlinkClick r:id="rId3"/>
              </a:rPr>
              <a:t> </a:t>
            </a:r>
            <a:r>
              <a:rPr lang="en-CA" b="1" u="sng" dirty="0">
                <a:hlinkClick r:id="rId3"/>
              </a:rPr>
              <a:t>https://necolas.github.io/normalize.css/</a:t>
            </a:r>
            <a:br>
              <a:rPr lang="en-CA" b="1" dirty="0"/>
            </a:br>
            <a:br>
              <a:rPr lang="en-CA" b="1" u="sng" dirty="0">
                <a:hlinkClick r:id="rId4"/>
              </a:rPr>
            </a:b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813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0906-C666-E165-55AA-E34958EE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D8172-A3D1-4350-07DC-3500FA40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Types of resets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A1A3A-12AD-3FF6-92E1-25E39A223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20882013" cy="95358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Bootstrap Reboot</a:t>
            </a:r>
          </a:p>
          <a:p>
            <a:pPr fontAlgn="base"/>
            <a:r>
              <a:rPr lang="en-US" dirty="0"/>
              <a:t>Built on top of Normalize.</a:t>
            </a:r>
          </a:p>
          <a:p>
            <a:pPr fontAlgn="base"/>
            <a:r>
              <a:rPr lang="en-US" dirty="0"/>
              <a:t>Adds its own styles to many elements.</a:t>
            </a:r>
          </a:p>
          <a:p>
            <a:pPr fontAlgn="base"/>
            <a:r>
              <a:rPr lang="en-US" dirty="0"/>
              <a:t>Helps your page look more modern from the start.</a:t>
            </a:r>
          </a:p>
          <a:p>
            <a:pPr fontAlgn="base"/>
            <a:endParaRPr lang="en-US" b="1" dirty="0"/>
          </a:p>
          <a:p>
            <a:pPr marL="0" indent="0">
              <a:buNone/>
            </a:pPr>
            <a:r>
              <a:rPr lang="en-US" b="1" dirty="0"/>
              <a:t>📌 </a:t>
            </a:r>
            <a:r>
              <a:rPr lang="en-US" dirty="0"/>
              <a:t>Part of the Bootstrap Framework. You’ll learn more about it later in the course.</a:t>
            </a:r>
          </a:p>
          <a:p>
            <a:r>
              <a:rPr lang="en-US" b="1" dirty="0"/>
              <a:t>🔗</a:t>
            </a:r>
            <a:r>
              <a:rPr lang="en-US" b="1" dirty="0">
                <a:hlinkClick r:id="rId3"/>
              </a:rPr>
              <a:t> </a:t>
            </a:r>
            <a:r>
              <a:rPr lang="en-US" b="1" u="sng" dirty="0">
                <a:hlinkClick r:id="rId3"/>
              </a:rPr>
              <a:t>https://getbootstrap.com/docs/5.2/getting-started/download/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CA" b="1" dirty="0"/>
            </a:br>
            <a:br>
              <a:rPr lang="en-CA" b="1" u="sng" dirty="0">
                <a:hlinkClick r:id="rId4"/>
              </a:rPr>
            </a:b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636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BC92-2A70-C141-4DAC-2A4239A9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6D61-175A-AD0F-52E3-682E3EC37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742433"/>
            <a:ext cx="21370149" cy="7059168"/>
          </a:xfrm>
        </p:spPr>
        <p:txBody>
          <a:bodyPr/>
          <a:lstStyle/>
          <a:p>
            <a:r>
              <a:rPr lang="en-US" dirty="0"/>
              <a:t>Responsiveness and max-width</a:t>
            </a:r>
            <a:br>
              <a:rPr lang="en-US" dirty="0"/>
            </a:br>
            <a:br>
              <a:rPr lang="en-US" b="1" i="1" dirty="0"/>
            </a:br>
            <a:endParaRPr lang="LID4096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715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4159-C51A-3EBC-654B-44F7C01D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279D-9AE5-8474-058A-278429E3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 What is max-width in 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869C-0CFA-0FC7-DEC1-025B85E78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3946357"/>
            <a:ext cx="20293370" cy="865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max-width </a:t>
            </a:r>
            <a:r>
              <a:rPr lang="en-US" dirty="0"/>
              <a:t>is a </a:t>
            </a:r>
            <a:r>
              <a:rPr lang="en-US" b="1" dirty="0"/>
              <a:t>CSS property </a:t>
            </a:r>
            <a:r>
              <a:rPr lang="en-US" dirty="0"/>
              <a:t>that sets the maximum width an element is allowed to be.</a:t>
            </a:r>
          </a:p>
          <a:p>
            <a:pPr marL="0" indent="0">
              <a:buNone/>
            </a:pPr>
            <a:r>
              <a:rPr lang="en-US" dirty="0"/>
              <a:t>It tells the browser:</a:t>
            </a:r>
            <a:br>
              <a:rPr lang="en-US" dirty="0"/>
            </a:br>
            <a:r>
              <a:rPr lang="en-US" b="1" dirty="0"/>
              <a:t>"This element can shrink and grow, but never get wider than this value."</a:t>
            </a:r>
            <a:br>
              <a:rPr lang="en-US" b="1" dirty="0"/>
            </a:br>
            <a:endParaRPr lang="en-US" b="1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99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ADC3-0B57-4C3B-F3EA-05BA5483F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2CEE-FE8A-05AB-1D4B-1C45F97F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 </a:t>
            </a:r>
            <a:r>
              <a:rPr lang="en-CA" dirty="0"/>
              <a:t>Why use max-width?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BA0BA-7E5B-ECF8-4C76-0C40D33A7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1" y="3946357"/>
            <a:ext cx="11671886" cy="8659300"/>
          </a:xfrm>
        </p:spPr>
        <p:txBody>
          <a:bodyPr>
            <a:normAutofit/>
          </a:bodyPr>
          <a:lstStyle/>
          <a:p>
            <a:r>
              <a:rPr lang="en-US" dirty="0"/>
              <a:t>Because it helps your layout be responsive and fluid—it adjusts to different screen sizes without breaking the layout.</a:t>
            </a:r>
          </a:p>
          <a:p>
            <a:r>
              <a:rPr lang="en-US" dirty="0"/>
              <a:t>This centers content inside a container and prevents it from stretching too wide on large monitors.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A4B2477C-4783-E27A-B2CB-DBC3401A0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2087" y="3946357"/>
            <a:ext cx="10631320" cy="639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52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62D6B-DEF0-DD7A-373C-1F35EE0A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E2D9-E4FE-2522-3059-65530656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936" y="103689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How is it different from width?</a:t>
            </a:r>
          </a:p>
        </p:txBody>
      </p:sp>
      <p:pic>
        <p:nvPicPr>
          <p:cNvPr id="8" name="Content Placeholder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7DCB116-CD6C-0F9A-4556-09C435084A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69936" y="3688023"/>
            <a:ext cx="12376691" cy="9550722"/>
          </a:xfrm>
        </p:spPr>
      </p:pic>
    </p:spTree>
    <p:extLst>
      <p:ext uri="{BB962C8B-B14F-4D97-AF65-F5344CB8AC3E}">
        <p14:creationId xmlns:p14="http://schemas.microsoft.com/office/powerpoint/2010/main" val="2007479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6571-1510-3C2A-04EA-4CDF32A9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C0B1-D23A-79CB-1CD4-8CD17028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 </a:t>
            </a:r>
            <a:r>
              <a:rPr lang="en-CA" dirty="0"/>
              <a:t>What Is the Viewport?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84845-00CB-796E-4E0D-60B82FD25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1" y="3946357"/>
            <a:ext cx="20228056" cy="865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viewport </a:t>
            </a:r>
            <a:r>
              <a:rPr lang="en-US" dirty="0"/>
              <a:t>is the visible area of the browser window—in other words, what you can see on your screen </a:t>
            </a:r>
            <a:r>
              <a:rPr lang="en-US" i="1" dirty="0"/>
              <a:t>without scrolling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b="1" dirty="0"/>
              <a:t>It changes based on:</a:t>
            </a:r>
            <a:endParaRPr lang="en-US" dirty="0"/>
          </a:p>
          <a:p>
            <a:pPr fontAlgn="base"/>
            <a:r>
              <a:rPr lang="en-US" b="1" dirty="0"/>
              <a:t>Device (desktop, tablet, phone)</a:t>
            </a:r>
          </a:p>
          <a:p>
            <a:pPr fontAlgn="base"/>
            <a:r>
              <a:rPr lang="en-US" b="1" dirty="0"/>
              <a:t>Window size (if resized)</a:t>
            </a:r>
          </a:p>
          <a:p>
            <a:pPr fontAlgn="base"/>
            <a:r>
              <a:rPr lang="en-US" b="1" dirty="0"/>
              <a:t>Zoom level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chemeClr val="accent2"/>
                </a:solidFill>
              </a:rPr>
              <a:t>So when we say </a:t>
            </a:r>
            <a:r>
              <a:rPr lang="en-US" b="1" i="1" dirty="0">
                <a:solidFill>
                  <a:schemeClr val="accent2"/>
                </a:solidFill>
              </a:rPr>
              <a:t>"full viewport width," </a:t>
            </a:r>
            <a:r>
              <a:rPr lang="en-US" i="1" dirty="0">
                <a:solidFill>
                  <a:schemeClr val="accent2"/>
                </a:solidFill>
              </a:rPr>
              <a:t>we mean: </a:t>
            </a:r>
            <a:r>
              <a:rPr lang="en-US" b="1" i="1" dirty="0">
                <a:solidFill>
                  <a:schemeClr val="accent2"/>
                </a:solidFill>
              </a:rPr>
              <a:t>stretching across the entire screen, edge to edge.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58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FC6C-A812-E023-0A78-8169E79A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F459-2BE0-A525-F439-38327D420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What Is .inner-container?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77EE-1900-69E2-0E74-68B2BB1F7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1" y="3946357"/>
            <a:ext cx="20228056" cy="865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.inner-container is a common class we use to center and constrain content inside a full-width section.</a:t>
            </a:r>
          </a:p>
          <a:p>
            <a:pPr marL="0" indent="0">
              <a:buNone/>
            </a:pPr>
            <a:r>
              <a:rPr lang="en-US" dirty="0"/>
              <a:t>Instead of having all your content pushed to the sides or stretched across a giant screen, we do this: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omputer code with green text&#10;&#10;AI-generated content may be incorrect.">
            <a:extLst>
              <a:ext uri="{FF2B5EF4-FFF2-40B4-BE49-F238E27FC236}">
                <a16:creationId xmlns:a16="http://schemas.microsoft.com/office/drawing/2014/main" id="{39B989B5-9C21-AED9-61EA-85EE4B550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98" y="7923178"/>
            <a:ext cx="14573274" cy="468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46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6118-C37D-7B66-7DC6-6295457D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B910-ED8A-494E-671E-2AD3345B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8366600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 What this does: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C843F-89AF-9187-9BB8-9883E3346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1" y="3946357"/>
            <a:ext cx="20228056" cy="865930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max-width: 960px → </a:t>
            </a:r>
            <a:r>
              <a:rPr lang="en-US" dirty="0"/>
              <a:t>The content will not get wider than 960px, even on a huge screen.</a:t>
            </a:r>
          </a:p>
          <a:p>
            <a:r>
              <a:rPr lang="en-US" b="1" dirty="0"/>
              <a:t>margin: 0 auto → </a:t>
            </a:r>
            <a:r>
              <a:rPr lang="en-US" dirty="0"/>
              <a:t>This horizontally centers the container inside the full-width element.</a:t>
            </a:r>
          </a:p>
        </p:txBody>
      </p:sp>
      <p:pic>
        <p:nvPicPr>
          <p:cNvPr id="5" name="Picture 4" descr="A computer code with green text&#10;&#10;AI-generated content may be incorrect.">
            <a:extLst>
              <a:ext uri="{FF2B5EF4-FFF2-40B4-BE49-F238E27FC236}">
                <a16:creationId xmlns:a16="http://schemas.microsoft.com/office/drawing/2014/main" id="{C87F578E-6DAC-FE9F-02D7-DCB4FA51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98" y="7923178"/>
            <a:ext cx="14573274" cy="468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86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C94E-F98A-98F9-4932-A7684796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CA51-CBAE-2A99-E7D7-F5996520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3860878" cy="265112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Why Do We Use .inner-container Inside a Full-Width Section?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614C-2C9A-CEA9-A8FA-C634017BB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599500"/>
            <a:ext cx="11149371" cy="86593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Let’s say you want your background color to stretch full screen, but keep your text centered and readable. You would do this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r>
              <a:rPr lang="en-US" b="1" dirty="0"/>
              <a:t>Result:</a:t>
            </a:r>
          </a:p>
          <a:p>
            <a:pPr fontAlgn="base"/>
            <a:r>
              <a:rPr lang="en-US" dirty="0"/>
              <a:t>The header has a full-viewport green background.</a:t>
            </a:r>
          </a:p>
          <a:p>
            <a:r>
              <a:rPr lang="en-US" dirty="0"/>
              <a:t>The </a:t>
            </a:r>
            <a:r>
              <a:rPr lang="en-US" b="1" dirty="0"/>
              <a:t>.inner-container </a:t>
            </a:r>
            <a:r>
              <a:rPr lang="en-US" dirty="0"/>
              <a:t>keeps your content neatly centered and readable.</a:t>
            </a:r>
            <a:br>
              <a:rPr lang="en-US" b="1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20D03F-B7B5-CB19-A04C-D1497227A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0141" y="642625"/>
            <a:ext cx="8312072" cy="4671890"/>
          </a:xfrm>
          <a:prstGeom prst="rect">
            <a:avLst/>
          </a:prstGeom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86EC38B-7024-5D0D-79D6-386A7AE4D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0141" y="6089209"/>
            <a:ext cx="6175129" cy="5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20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4231-BB60-7F0C-16B5-5450A2EC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28E3-3CF2-5815-F2F5-DA852C86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3860878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Where You Place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7A3B7-D1E4-EC48-3F3F-84F9B5B52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599500"/>
            <a:ext cx="11149371" cy="8659300"/>
          </a:xfrm>
        </p:spPr>
        <p:txBody>
          <a:bodyPr>
            <a:normAutofit/>
          </a:bodyPr>
          <a:lstStyle/>
          <a:p>
            <a:r>
              <a:rPr lang="en-US" dirty="0"/>
              <a:t>Always place the </a:t>
            </a:r>
            <a:r>
              <a:rPr lang="en-US" b="1" dirty="0"/>
              <a:t>.inner-container </a:t>
            </a:r>
            <a:r>
              <a:rPr lang="en-US" dirty="0"/>
              <a:t>inside the section </a:t>
            </a:r>
            <a:r>
              <a:rPr lang="en-US" b="1" dirty="0"/>
              <a:t>(&lt;header&gt;, &lt;main&gt;, &lt;footer&gt;, etc.), </a:t>
            </a:r>
            <a:r>
              <a:rPr lang="en-US" dirty="0"/>
              <a:t>like this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r>
              <a:rPr lang="en-US" b="1" dirty="0"/>
              <a:t>Avoid wrapping header in inner-container</a:t>
            </a:r>
            <a:r>
              <a:rPr lang="en-US" dirty="0"/>
              <a:t> (or you’ll lose the full-width background).</a:t>
            </a:r>
            <a:br>
              <a:rPr lang="en-US" b="1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28D149F-A9B2-FF25-4C50-63840DD15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9212" y="3478839"/>
            <a:ext cx="10575188" cy="593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38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4A99-006E-700D-AC37-A1E23441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0A26-4B04-2E0B-6E1A-024CF7F81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742433"/>
            <a:ext cx="21370149" cy="7059168"/>
          </a:xfrm>
        </p:spPr>
        <p:txBody>
          <a:bodyPr/>
          <a:lstStyle/>
          <a:p>
            <a:r>
              <a:rPr lang="en-US" dirty="0"/>
              <a:t>Summary and Reflection</a:t>
            </a:r>
            <a:br>
              <a:rPr lang="en-US" dirty="0"/>
            </a:br>
            <a:br>
              <a:rPr lang="en-US" b="1" i="1" dirty="0"/>
            </a:br>
            <a:endParaRPr lang="LID4096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417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6870-CB0A-A8DC-A888-D432F47C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D47B-9900-B131-1545-D3FC5E70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Reflection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F43A9-41E0-9697-0E37-E882460F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805501" cy="7373801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What is one key takeaway about the Box Model?</a:t>
            </a:r>
          </a:p>
          <a:p>
            <a:pPr fontAlgn="base"/>
            <a:r>
              <a:rPr lang="en-US" dirty="0"/>
              <a:t>How does max-width improve responsive layouts?"</a:t>
            </a:r>
          </a:p>
        </p:txBody>
      </p:sp>
    </p:spTree>
    <p:extLst>
      <p:ext uri="{BB962C8B-B14F-4D97-AF65-F5344CB8AC3E}">
        <p14:creationId xmlns:p14="http://schemas.microsoft.com/office/powerpoint/2010/main" val="1643158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7A60-E6E2-DAFB-1239-C238E026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8EC0-53EF-C245-E5B1-8A3488CB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9002-5BDD-5896-CBBA-4E31FEE40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2" y="3651250"/>
            <a:ext cx="18248004" cy="7373801"/>
          </a:xfrm>
        </p:spPr>
        <p:txBody>
          <a:bodyPr>
            <a:normAutofit/>
          </a:bodyPr>
          <a:lstStyle/>
          <a:p>
            <a:r>
              <a:rPr lang="en-US" dirty="0"/>
              <a:t>Exercise: Hands-on CSS Box Model Implementation</a:t>
            </a:r>
          </a:p>
          <a:p>
            <a:r>
              <a:rPr lang="en-US" dirty="0"/>
              <a:t>Practice with Diner Game </a:t>
            </a:r>
          </a:p>
        </p:txBody>
      </p:sp>
    </p:spTree>
    <p:extLst>
      <p:ext uri="{BB962C8B-B14F-4D97-AF65-F5344CB8AC3E}">
        <p14:creationId xmlns:p14="http://schemas.microsoft.com/office/powerpoint/2010/main" val="1035419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175f85-aaa6-450f-8e62-bb2d8657c111" xsi:nil="true"/>
    <lcf76f155ced4ddcb4097134ff3c332f xmlns="c0636a0e-6a5d-4f3a-8cec-2ed9d7e96064">
      <Terms xmlns="http://schemas.microsoft.com/office/infopath/2007/PartnerControls"/>
    </lcf76f155ced4ddcb4097134ff3c332f>
    <DocumentType xmlns="c0636a0e-6a5d-4f3a-8cec-2ed9d7e9606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9C05CB-D0A8-4602-A191-AC271B210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6E63F-A8C0-4586-AFCD-69964B5AAAEB}">
  <ds:schemaRefs>
    <ds:schemaRef ds:uri="http://purl.org/dc/elements/1.1/"/>
    <ds:schemaRef ds:uri="52bb52fc-fb4a-47ec-96af-1ca16eda334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82b3bded-9174-49ad-922b-f495aa64e0c3"/>
    <ds:schemaRef ds:uri="a1931c98-6bbb-40b1-967f-8cf7447a3553"/>
    <ds:schemaRef ds:uri="http://schemas.microsoft.com/sharepoint/v3"/>
    <ds:schemaRef ds:uri="http://schemas.microsoft.com/office/2006/metadata/properties"/>
    <ds:schemaRef ds:uri="http://www.w3.org/XML/1998/namespace"/>
    <ds:schemaRef ds:uri="http://purl.org/dc/terms/"/>
    <ds:schemaRef ds:uri="28175f85-aaa6-450f-8e62-bb2d8657c111"/>
    <ds:schemaRef ds:uri="c0636a0e-6a5d-4f3a-8cec-2ed9d7e96064"/>
  </ds:schemaRefs>
</ds:datastoreItem>
</file>

<file path=customXml/itemProps3.xml><?xml version="1.0" encoding="utf-8"?>
<ds:datastoreItem xmlns:ds="http://schemas.openxmlformats.org/officeDocument/2006/customXml" ds:itemID="{177E4845-7472-4B0C-A0C7-BE9A32CE6D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Digital_Design-PPT_TEMPLATE_2025</Template>
  <TotalTime>3724</TotalTime>
  <Words>1255</Words>
  <Application>Microsoft Office PowerPoint</Application>
  <PresentationFormat>Custom</PresentationFormat>
  <Paragraphs>160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Wingdings</vt:lpstr>
      <vt:lpstr>Office Theme</vt:lpstr>
      <vt:lpstr>SDEV1701</vt:lpstr>
      <vt:lpstr>Today’s focus</vt:lpstr>
      <vt:lpstr>PowerPoint Presentation</vt:lpstr>
      <vt:lpstr>CSS Cascade Refresher</vt:lpstr>
      <vt:lpstr>The 4 Parts of the Box</vt:lpstr>
      <vt:lpstr>The 4 Parts of the Box</vt:lpstr>
      <vt:lpstr>Example</vt:lpstr>
      <vt:lpstr>Example</vt:lpstr>
      <vt:lpstr> Why Does the Box Model Matter?</vt:lpstr>
      <vt:lpstr>Margin</vt:lpstr>
      <vt:lpstr>Padding</vt:lpstr>
      <vt:lpstr>Border Properties</vt:lpstr>
      <vt:lpstr>Introducing box-sizing</vt:lpstr>
      <vt:lpstr>Universal Box-Sizing</vt:lpstr>
      <vt:lpstr>CSS RESET   </vt:lpstr>
      <vt:lpstr>What is a CSS Reset?</vt:lpstr>
      <vt:lpstr>Why Do We Need a Reset File?</vt:lpstr>
      <vt:lpstr>Types of resets</vt:lpstr>
      <vt:lpstr>Types of resets</vt:lpstr>
      <vt:lpstr>Types of resets</vt:lpstr>
      <vt:lpstr>Responsiveness and max-width  </vt:lpstr>
      <vt:lpstr> What is max-width in CSS?</vt:lpstr>
      <vt:lpstr> Why use max-width?</vt:lpstr>
      <vt:lpstr>How is it different from width?</vt:lpstr>
      <vt:lpstr> What Is the Viewport?</vt:lpstr>
      <vt:lpstr>What Is .inner-container?</vt:lpstr>
      <vt:lpstr> What this does:</vt:lpstr>
      <vt:lpstr>Why Do We Use .inner-container Inside a Full-Width Section?</vt:lpstr>
      <vt:lpstr>Where You Place It Matters</vt:lpstr>
      <vt:lpstr>Summary and Reflection  </vt:lpstr>
      <vt:lpstr>Reflection Prompt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Dorian Bibbey</dc:creator>
  <cp:lastModifiedBy>Larisa Pitchko</cp:lastModifiedBy>
  <cp:revision>35</cp:revision>
  <cp:lastPrinted>2019-08-01T00:13:24Z</cp:lastPrinted>
  <dcterms:created xsi:type="dcterms:W3CDTF">2025-01-22T14:53:54Z</dcterms:created>
  <dcterms:modified xsi:type="dcterms:W3CDTF">2025-06-29T22:45:53Z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/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a4d56298-c866-45f0-a3db-be918181ebef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SIP_Label_10877899-02b0-462c-b2a9-b7d15c4f96fe_Enabled">
    <vt:lpwstr>true</vt:lpwstr>
  </property>
  <property fmtid="{D5CDD505-2E9C-101B-9397-08002B2CF9AE}" pid="11" name="MSIP_Label_10877899-02b0-462c-b2a9-b7d15c4f96fe_SetDate">
    <vt:lpwstr>2025-04-25T04:03:37Z</vt:lpwstr>
  </property>
  <property fmtid="{D5CDD505-2E9C-101B-9397-08002B2CF9AE}" pid="12" name="MSIP_Label_10877899-02b0-462c-b2a9-b7d15c4f96fe_Method">
    <vt:lpwstr>Standard</vt:lpwstr>
  </property>
  <property fmtid="{D5CDD505-2E9C-101B-9397-08002B2CF9AE}" pid="13" name="MSIP_Label_10877899-02b0-462c-b2a9-b7d15c4f96fe_Name">
    <vt:lpwstr>Protected [Protected A]</vt:lpwstr>
  </property>
  <property fmtid="{D5CDD505-2E9C-101B-9397-08002B2CF9AE}" pid="14" name="MSIP_Label_10877899-02b0-462c-b2a9-b7d15c4f96fe_SiteId">
    <vt:lpwstr>5c98fb47-d3b9-4649-9d94-f88cbdd9729c</vt:lpwstr>
  </property>
  <property fmtid="{D5CDD505-2E9C-101B-9397-08002B2CF9AE}" pid="15" name="MSIP_Label_10877899-02b0-462c-b2a9-b7d15c4f96fe_ActionId">
    <vt:lpwstr>a9b82927-b51c-4c6d-b3ff-061f8f651531</vt:lpwstr>
  </property>
  <property fmtid="{D5CDD505-2E9C-101B-9397-08002B2CF9AE}" pid="16" name="MSIP_Label_10877899-02b0-462c-b2a9-b7d15c4f96fe_ContentBits">
    <vt:lpwstr>0</vt:lpwstr>
  </property>
  <property fmtid="{D5CDD505-2E9C-101B-9397-08002B2CF9AE}" pid="17" name="MSIP_Label_10877899-02b0-462c-b2a9-b7d15c4f96fe_Tag">
    <vt:lpwstr>10, 3, 0, 1</vt:lpwstr>
  </property>
  <property fmtid="{D5CDD505-2E9C-101B-9397-08002B2CF9AE}" pid="18" name="MediaServiceImageTags">
    <vt:lpwstr/>
  </property>
</Properties>
</file>