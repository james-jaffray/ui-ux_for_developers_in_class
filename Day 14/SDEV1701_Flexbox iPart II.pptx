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21"/>
  </p:notesMasterIdLst>
  <p:handoutMasterIdLst>
    <p:handoutMasterId r:id="rId22"/>
  </p:handoutMasterIdLst>
  <p:sldIdLst>
    <p:sldId id="271" r:id="rId5"/>
    <p:sldId id="301" r:id="rId6"/>
    <p:sldId id="632" r:id="rId7"/>
    <p:sldId id="630" r:id="rId8"/>
    <p:sldId id="690" r:id="rId9"/>
    <p:sldId id="692" r:id="rId10"/>
    <p:sldId id="699" r:id="rId11"/>
    <p:sldId id="694" r:id="rId12"/>
    <p:sldId id="700" r:id="rId13"/>
    <p:sldId id="701" r:id="rId14"/>
    <p:sldId id="702" r:id="rId15"/>
    <p:sldId id="703" r:id="rId16"/>
    <p:sldId id="704" r:id="rId17"/>
    <p:sldId id="675" r:id="rId18"/>
    <p:sldId id="572" r:id="rId19"/>
    <p:sldId id="574" r:id="rId20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/>
    <p:restoredTop sz="94694"/>
  </p:normalViewPr>
  <p:slideViewPr>
    <p:cSldViewPr snapToGrid="0" snapToObjects="1" showGuides="1">
      <p:cViewPr varScale="1">
        <p:scale>
          <a:sx n="24" d="100"/>
          <a:sy n="24" d="100"/>
        </p:scale>
        <p:origin x="106" y="73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B3F030-25FA-A543-BFBF-761F02F6E6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2FF95-1FB2-5A4B-9A6E-D20FD3F889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85D7A-CA92-5443-B821-58789E6DAB76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767D0-AB74-6C43-A583-F67E29C687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F816A-9129-4E41-8433-93B18C20AF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43503-5B3B-BC4A-B035-E280D65815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40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E2952A-E45C-4CFD-B19C-8BAB0D92CAF5}" type="datetimeFigureOut">
              <a:rPr lang="LID4096" smtClean="0"/>
              <a:t>06/28/2025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9B0BC-D092-4379-8AA3-497AF585871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5006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8550D-D130-9635-92BE-8B6E117A0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04504-2D30-8E0F-FD53-74757D210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FDDAD-1F28-6070-FFF7-00BF58484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56DFE-27C7-DC51-3C5A-B388C1981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4125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10049-31C9-FF6B-8918-B44882898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F4BE9-A283-C584-9C69-B180B8ECA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439D5-A608-C460-34ED-EA69B20A9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err="1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AA44C-88BE-671A-DD4F-9455E6CD7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80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94177-0646-0E41-56FA-BDAE30ADE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60F34-B0A1-1D01-EBAB-A26460099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CB26C-75C2-CF3E-F31F-F03AC4323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87569-9EA9-808F-AACD-E1745774A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17407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E1081-5AD3-C81B-3E84-435779FA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C3DC7-F400-DD60-F564-8FA33838D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4B882-51C1-A264-092C-991D420A1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279C9-B5EE-D038-3C32-E853FE577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4978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AB52A-ED0C-D278-2A53-260CC1978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D0549-3C3B-0351-D022-24695E3E7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D34B0-7254-0988-41FD-C255ED883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747F0-DD43-4497-3199-709F1228B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4437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7E7A9-23B3-01CA-C49C-D3023C613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416D6-F484-B96A-F12A-330A76E54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47A81-ED36-61AA-4708-945A75456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42230-B038-958F-5E1F-1A26C193F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7081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5E42F-29BD-274A-9F99-020256913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CC001-3A4D-36F1-4BD3-0D506F5B5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A1FAD-0F92-8348-E74C-1AF8C8909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5A617-0181-16A2-D04D-CD82FCF7C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0927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F4895-9439-6ED9-7EAC-817A5C3FA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A2489-1B34-87EE-B499-9A896ABF2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727B44-2EF2-7C52-D1AB-649249ECF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B2B75-CACF-6DF2-AA34-FCD5A215C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9927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DBFD9-07FA-D439-C46F-3130683B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7E364C-78C4-BC7C-CA87-A4CCF1A99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BB90B-B515-3982-15BB-ACE364483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36310-A3EB-5C7E-0647-2D5928B2E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19309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94042-FD1A-A07B-D1EF-B6B96FA9D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85FF9-077B-3641-2344-69F4FF4E1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92054E-03E8-A95C-11E2-A725A47E1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37E38-857F-5B7A-8678-A39DC7F9D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49738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6887E-6872-31CB-D0C8-2AF451386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F4740-72D4-3AC4-A3CE-5D508F9FA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CF484-E1A4-6215-C7A8-C8AD06642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CDA9F-43DD-6EA8-FAC3-7D6D1D1A2D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81418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CF196-8493-87A4-EADB-B308B96DD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DF60C-0C40-788E-C0E2-CBFBAA121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ED1B0E-48B8-1AF0-7CEB-3AF8DCC10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6C6D5-6451-C6B8-CCE6-6A298DA71A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3433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442B4-6A27-DBF3-5F58-EA4A776D1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A7A40-E279-00A9-954A-7710F22C4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25EA2-3C10-E3A7-AB8C-87D6C5BD4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2325F-9DD1-B928-DEE1-5762E2283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35100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A361B-C519-ADA2-D44A-C92A78DC8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1CF4D-138C-5100-4E21-33B66AA80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7632C-630C-34C7-062B-14B767BA9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C6E28-B8D9-4C2B-7874-40539B194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9B0BC-D092-4379-8AA3-497AF5858718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69652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5799" y="5078186"/>
            <a:ext cx="21210814" cy="293778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9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5799" y="8752114"/>
            <a:ext cx="21210814" cy="2269673"/>
          </a:xfrm>
        </p:spPr>
        <p:txBody>
          <a:bodyPr/>
          <a:lstStyle>
            <a:lvl1pPr marL="0" indent="0" algn="ctr">
              <a:buNone/>
              <a:defRPr sz="4800">
                <a:solidFill>
                  <a:schemeClr val="bg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50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73738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 userDrawn="1"/>
        </p:nvSpPr>
        <p:spPr>
          <a:xfrm>
            <a:off x="3962400" y="13598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97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291" y="3651249"/>
            <a:ext cx="10362526" cy="91013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3596" y="3651250"/>
            <a:ext cx="10362526" cy="7566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97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291" y="3651250"/>
            <a:ext cx="21029831" cy="696232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45748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5799" y="5570555"/>
            <a:ext cx="21210814" cy="293778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8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353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87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87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934B5-63C9-2842-AB2D-E575537010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39495" y="6091583"/>
            <a:ext cx="12730921" cy="1857374"/>
          </a:xfrm>
        </p:spPr>
        <p:txBody>
          <a:bodyPr>
            <a:normAutofit/>
          </a:bodyPr>
          <a:lstStyle>
            <a:lvl1pPr marL="0" indent="0" algn="ctr">
              <a:buNone/>
              <a:defRPr sz="8800">
                <a:solidFill>
                  <a:schemeClr val="bg1"/>
                </a:solidFill>
              </a:defRPr>
            </a:lvl1pPr>
            <a:lvl2pPr marL="914354" indent="0">
              <a:buNone/>
              <a:defRPr/>
            </a:lvl2pPr>
            <a:lvl3pPr marL="1828709" indent="0">
              <a:buNone/>
              <a:defRPr/>
            </a:lvl3pPr>
            <a:lvl4pPr marL="2743063" indent="0">
              <a:buNone/>
              <a:defRPr/>
            </a:lvl4pPr>
            <a:lvl5pPr marL="3657417" indent="0">
              <a:buNone/>
              <a:defRPr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10277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D4256BD-EBF6-F04C-B88C-52582AC3F228}" type="datetimeFigureOut">
              <a:rPr lang="en-US" smtClean="0"/>
              <a:pPr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3E0FCCE-2EC3-1049-A592-35D9C66527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4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98" r:id="rId2"/>
    <p:sldLayoutId id="2147483695" r:id="rId3"/>
    <p:sldLayoutId id="2147483676" r:id="rId4"/>
    <p:sldLayoutId id="2147483703" r:id="rId5"/>
    <p:sldLayoutId id="2147483704" r:id="rId6"/>
    <p:sldLayoutId id="2147483705" r:id="rId7"/>
    <p:sldLayoutId id="2147483706" r:id="rId8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72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4F75-93C1-9D40-86A3-4C13A50E20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SDEV1701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672B5-6320-EE4E-B160-EE8483FDF1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Day 14 Flexbox Part II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597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96BA01-6A29-8B1C-C3B2-9D02106EF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2412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85D90-7B0E-6517-2F0D-836812C21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789" y="1279040"/>
            <a:ext cx="6857554" cy="34381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10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Today’s focus</a:t>
            </a:r>
            <a:endParaRPr lang="en-US" sz="10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6472" y="5147512"/>
            <a:ext cx="6509766" cy="36576"/>
          </a:xfrm>
          <a:custGeom>
            <a:avLst/>
            <a:gdLst>
              <a:gd name="connsiteX0" fmla="*/ 0 w 6509766"/>
              <a:gd name="connsiteY0" fmla="*/ 0 h 36576"/>
              <a:gd name="connsiteX1" fmla="*/ 650977 w 6509766"/>
              <a:gd name="connsiteY1" fmla="*/ 0 h 36576"/>
              <a:gd name="connsiteX2" fmla="*/ 1301953 w 6509766"/>
              <a:gd name="connsiteY2" fmla="*/ 0 h 36576"/>
              <a:gd name="connsiteX3" fmla="*/ 1952930 w 6509766"/>
              <a:gd name="connsiteY3" fmla="*/ 0 h 36576"/>
              <a:gd name="connsiteX4" fmla="*/ 2734102 w 6509766"/>
              <a:gd name="connsiteY4" fmla="*/ 0 h 36576"/>
              <a:gd name="connsiteX5" fmla="*/ 3450176 w 6509766"/>
              <a:gd name="connsiteY5" fmla="*/ 0 h 36576"/>
              <a:gd name="connsiteX6" fmla="*/ 3905860 w 6509766"/>
              <a:gd name="connsiteY6" fmla="*/ 0 h 36576"/>
              <a:gd name="connsiteX7" fmla="*/ 4491739 w 6509766"/>
              <a:gd name="connsiteY7" fmla="*/ 0 h 36576"/>
              <a:gd name="connsiteX8" fmla="*/ 5272910 w 6509766"/>
              <a:gd name="connsiteY8" fmla="*/ 0 h 36576"/>
              <a:gd name="connsiteX9" fmla="*/ 5923887 w 6509766"/>
              <a:gd name="connsiteY9" fmla="*/ 0 h 36576"/>
              <a:gd name="connsiteX10" fmla="*/ 6509766 w 6509766"/>
              <a:gd name="connsiteY10" fmla="*/ 0 h 36576"/>
              <a:gd name="connsiteX11" fmla="*/ 6509766 w 6509766"/>
              <a:gd name="connsiteY11" fmla="*/ 36576 h 36576"/>
              <a:gd name="connsiteX12" fmla="*/ 5988985 w 6509766"/>
              <a:gd name="connsiteY12" fmla="*/ 36576 h 36576"/>
              <a:gd name="connsiteX13" fmla="*/ 5207813 w 6509766"/>
              <a:gd name="connsiteY13" fmla="*/ 36576 h 36576"/>
              <a:gd name="connsiteX14" fmla="*/ 4687032 w 6509766"/>
              <a:gd name="connsiteY14" fmla="*/ 36576 h 36576"/>
              <a:gd name="connsiteX15" fmla="*/ 4231348 w 6509766"/>
              <a:gd name="connsiteY15" fmla="*/ 36576 h 36576"/>
              <a:gd name="connsiteX16" fmla="*/ 3775664 w 6509766"/>
              <a:gd name="connsiteY16" fmla="*/ 36576 h 36576"/>
              <a:gd name="connsiteX17" fmla="*/ 3059590 w 6509766"/>
              <a:gd name="connsiteY17" fmla="*/ 36576 h 36576"/>
              <a:gd name="connsiteX18" fmla="*/ 2603906 w 6509766"/>
              <a:gd name="connsiteY18" fmla="*/ 36576 h 36576"/>
              <a:gd name="connsiteX19" fmla="*/ 1952930 w 6509766"/>
              <a:gd name="connsiteY19" fmla="*/ 36576 h 36576"/>
              <a:gd name="connsiteX20" fmla="*/ 1432149 w 6509766"/>
              <a:gd name="connsiteY20" fmla="*/ 36576 h 36576"/>
              <a:gd name="connsiteX21" fmla="*/ 781172 w 6509766"/>
              <a:gd name="connsiteY21" fmla="*/ 36576 h 36576"/>
              <a:gd name="connsiteX22" fmla="*/ 0 w 6509766"/>
              <a:gd name="connsiteY22" fmla="*/ 36576 h 36576"/>
              <a:gd name="connsiteX23" fmla="*/ 0 w 6509766"/>
              <a:gd name="connsiteY23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509766" h="36576" fill="none" extrusionOk="0">
                <a:moveTo>
                  <a:pt x="0" y="0"/>
                </a:moveTo>
                <a:cubicBezTo>
                  <a:pt x="210822" y="-16726"/>
                  <a:pt x="374511" y="-20439"/>
                  <a:pt x="650977" y="0"/>
                </a:cubicBezTo>
                <a:cubicBezTo>
                  <a:pt x="927443" y="20439"/>
                  <a:pt x="1034189" y="-3420"/>
                  <a:pt x="1301953" y="0"/>
                </a:cubicBezTo>
                <a:cubicBezTo>
                  <a:pt x="1569717" y="3420"/>
                  <a:pt x="1763585" y="-32340"/>
                  <a:pt x="1952930" y="0"/>
                </a:cubicBezTo>
                <a:cubicBezTo>
                  <a:pt x="2142275" y="32340"/>
                  <a:pt x="2506898" y="14142"/>
                  <a:pt x="2734102" y="0"/>
                </a:cubicBezTo>
                <a:cubicBezTo>
                  <a:pt x="2961306" y="-14142"/>
                  <a:pt x="3180489" y="3651"/>
                  <a:pt x="3450176" y="0"/>
                </a:cubicBezTo>
                <a:cubicBezTo>
                  <a:pt x="3719863" y="-3651"/>
                  <a:pt x="3778080" y="-11896"/>
                  <a:pt x="3905860" y="0"/>
                </a:cubicBezTo>
                <a:cubicBezTo>
                  <a:pt x="4033640" y="11896"/>
                  <a:pt x="4271041" y="14603"/>
                  <a:pt x="4491739" y="0"/>
                </a:cubicBezTo>
                <a:cubicBezTo>
                  <a:pt x="4712437" y="-14603"/>
                  <a:pt x="4953402" y="2397"/>
                  <a:pt x="5272910" y="0"/>
                </a:cubicBezTo>
                <a:cubicBezTo>
                  <a:pt x="5592418" y="-2397"/>
                  <a:pt x="5600932" y="5019"/>
                  <a:pt x="5923887" y="0"/>
                </a:cubicBezTo>
                <a:cubicBezTo>
                  <a:pt x="6246842" y="-5019"/>
                  <a:pt x="6349617" y="-26598"/>
                  <a:pt x="6509766" y="0"/>
                </a:cubicBezTo>
                <a:cubicBezTo>
                  <a:pt x="6509051" y="15537"/>
                  <a:pt x="6511131" y="22375"/>
                  <a:pt x="6509766" y="36576"/>
                </a:cubicBezTo>
                <a:cubicBezTo>
                  <a:pt x="6299066" y="54926"/>
                  <a:pt x="6240011" y="16725"/>
                  <a:pt x="5988985" y="36576"/>
                </a:cubicBezTo>
                <a:cubicBezTo>
                  <a:pt x="5737959" y="56427"/>
                  <a:pt x="5550964" y="37346"/>
                  <a:pt x="5207813" y="36576"/>
                </a:cubicBezTo>
                <a:cubicBezTo>
                  <a:pt x="4864662" y="35806"/>
                  <a:pt x="4918045" y="20356"/>
                  <a:pt x="4687032" y="36576"/>
                </a:cubicBezTo>
                <a:cubicBezTo>
                  <a:pt x="4456019" y="52796"/>
                  <a:pt x="4427993" y="34104"/>
                  <a:pt x="4231348" y="36576"/>
                </a:cubicBezTo>
                <a:cubicBezTo>
                  <a:pt x="4034703" y="39048"/>
                  <a:pt x="3873736" y="28070"/>
                  <a:pt x="3775664" y="36576"/>
                </a:cubicBezTo>
                <a:cubicBezTo>
                  <a:pt x="3677592" y="45082"/>
                  <a:pt x="3307000" y="49089"/>
                  <a:pt x="3059590" y="36576"/>
                </a:cubicBezTo>
                <a:cubicBezTo>
                  <a:pt x="2812180" y="24063"/>
                  <a:pt x="2782379" y="39447"/>
                  <a:pt x="2603906" y="36576"/>
                </a:cubicBezTo>
                <a:cubicBezTo>
                  <a:pt x="2425433" y="33705"/>
                  <a:pt x="2187559" y="50387"/>
                  <a:pt x="1952930" y="36576"/>
                </a:cubicBezTo>
                <a:cubicBezTo>
                  <a:pt x="1718301" y="22765"/>
                  <a:pt x="1668250" y="41212"/>
                  <a:pt x="1432149" y="36576"/>
                </a:cubicBezTo>
                <a:cubicBezTo>
                  <a:pt x="1196048" y="31940"/>
                  <a:pt x="941453" y="15219"/>
                  <a:pt x="781172" y="36576"/>
                </a:cubicBezTo>
                <a:cubicBezTo>
                  <a:pt x="620891" y="57933"/>
                  <a:pt x="320011" y="19814"/>
                  <a:pt x="0" y="36576"/>
                </a:cubicBezTo>
                <a:cubicBezTo>
                  <a:pt x="-1386" y="23779"/>
                  <a:pt x="1769" y="8239"/>
                  <a:pt x="0" y="0"/>
                </a:cubicBezTo>
                <a:close/>
              </a:path>
              <a:path w="6509766" h="36576" stroke="0" extrusionOk="0">
                <a:moveTo>
                  <a:pt x="0" y="0"/>
                </a:moveTo>
                <a:cubicBezTo>
                  <a:pt x="287980" y="22709"/>
                  <a:pt x="373359" y="-18407"/>
                  <a:pt x="585879" y="0"/>
                </a:cubicBezTo>
                <a:cubicBezTo>
                  <a:pt x="798399" y="18407"/>
                  <a:pt x="838297" y="8692"/>
                  <a:pt x="1041563" y="0"/>
                </a:cubicBezTo>
                <a:cubicBezTo>
                  <a:pt x="1244829" y="-8692"/>
                  <a:pt x="1592677" y="30314"/>
                  <a:pt x="1822734" y="0"/>
                </a:cubicBezTo>
                <a:cubicBezTo>
                  <a:pt x="2052791" y="-30314"/>
                  <a:pt x="2152605" y="-2479"/>
                  <a:pt x="2408613" y="0"/>
                </a:cubicBezTo>
                <a:cubicBezTo>
                  <a:pt x="2664621" y="2479"/>
                  <a:pt x="2710401" y="22630"/>
                  <a:pt x="2994492" y="0"/>
                </a:cubicBezTo>
                <a:cubicBezTo>
                  <a:pt x="3278583" y="-22630"/>
                  <a:pt x="3525986" y="-4055"/>
                  <a:pt x="3775664" y="0"/>
                </a:cubicBezTo>
                <a:cubicBezTo>
                  <a:pt x="4025342" y="4055"/>
                  <a:pt x="4049893" y="-21378"/>
                  <a:pt x="4296446" y="0"/>
                </a:cubicBezTo>
                <a:cubicBezTo>
                  <a:pt x="4542999" y="21378"/>
                  <a:pt x="4805884" y="-22684"/>
                  <a:pt x="5077617" y="0"/>
                </a:cubicBezTo>
                <a:cubicBezTo>
                  <a:pt x="5349350" y="22684"/>
                  <a:pt x="5592604" y="1984"/>
                  <a:pt x="5858789" y="0"/>
                </a:cubicBezTo>
                <a:cubicBezTo>
                  <a:pt x="6124974" y="-1984"/>
                  <a:pt x="6252804" y="24369"/>
                  <a:pt x="6509766" y="0"/>
                </a:cubicBezTo>
                <a:cubicBezTo>
                  <a:pt x="6510307" y="12097"/>
                  <a:pt x="6510627" y="29008"/>
                  <a:pt x="6509766" y="36576"/>
                </a:cubicBezTo>
                <a:cubicBezTo>
                  <a:pt x="6270790" y="26599"/>
                  <a:pt x="5999571" y="11191"/>
                  <a:pt x="5793692" y="36576"/>
                </a:cubicBezTo>
                <a:cubicBezTo>
                  <a:pt x="5587813" y="61961"/>
                  <a:pt x="5238359" y="21839"/>
                  <a:pt x="5012520" y="36576"/>
                </a:cubicBezTo>
                <a:cubicBezTo>
                  <a:pt x="4786681" y="51313"/>
                  <a:pt x="4388644" y="-745"/>
                  <a:pt x="4231348" y="36576"/>
                </a:cubicBezTo>
                <a:cubicBezTo>
                  <a:pt x="4074052" y="73897"/>
                  <a:pt x="3859613" y="42618"/>
                  <a:pt x="3710567" y="36576"/>
                </a:cubicBezTo>
                <a:cubicBezTo>
                  <a:pt x="3561521" y="30534"/>
                  <a:pt x="3309290" y="5006"/>
                  <a:pt x="3059590" y="36576"/>
                </a:cubicBezTo>
                <a:cubicBezTo>
                  <a:pt x="2809890" y="68146"/>
                  <a:pt x="2523839" y="35909"/>
                  <a:pt x="2278418" y="36576"/>
                </a:cubicBezTo>
                <a:cubicBezTo>
                  <a:pt x="2032997" y="37243"/>
                  <a:pt x="1935122" y="40307"/>
                  <a:pt x="1627442" y="36576"/>
                </a:cubicBezTo>
                <a:cubicBezTo>
                  <a:pt x="1319762" y="32845"/>
                  <a:pt x="1288776" y="43414"/>
                  <a:pt x="1171758" y="36576"/>
                </a:cubicBezTo>
                <a:cubicBezTo>
                  <a:pt x="1054740" y="29738"/>
                  <a:pt x="788946" y="31119"/>
                  <a:pt x="650977" y="36576"/>
                </a:cubicBezTo>
                <a:cubicBezTo>
                  <a:pt x="513008" y="42033"/>
                  <a:pt x="249076" y="25006"/>
                  <a:pt x="0" y="36576"/>
                </a:cubicBezTo>
                <a:cubicBezTo>
                  <a:pt x="-1549" y="24953"/>
                  <a:pt x="-1602" y="881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5EB46-0424-7530-6DAB-79C780885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1788" y="5614416"/>
            <a:ext cx="10331498" cy="6821424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 defTabSz="914400">
              <a:buNone/>
            </a:pPr>
            <a:r>
              <a:rPr lang="en-US" sz="4400" dirty="0">
                <a:latin typeface="+mn-lt"/>
                <a:cs typeface="+mn-cs"/>
              </a:rPr>
              <a:t>Welcome to Day 14! Today we’re going to:</a:t>
            </a:r>
          </a:p>
          <a:p>
            <a:pPr defTabSz="914400"/>
            <a:r>
              <a:rPr lang="en-US" sz="4400" dirty="0">
                <a:latin typeface="+mn-lt"/>
                <a:cs typeface="+mn-cs"/>
              </a:rPr>
              <a:t>Explore advanced Flexbox properties: </a:t>
            </a:r>
            <a:r>
              <a:rPr lang="en-US" sz="4400" b="1" dirty="0">
                <a:latin typeface="+mn-lt"/>
                <a:cs typeface="+mn-cs"/>
              </a:rPr>
              <a:t>flex-direction</a:t>
            </a:r>
            <a:r>
              <a:rPr lang="en-US" sz="4400" dirty="0">
                <a:latin typeface="+mn-lt"/>
                <a:cs typeface="+mn-cs"/>
              </a:rPr>
              <a:t>, </a:t>
            </a:r>
            <a:r>
              <a:rPr lang="en-US" sz="4400" b="1" dirty="0">
                <a:latin typeface="+mn-lt"/>
                <a:cs typeface="+mn-cs"/>
              </a:rPr>
              <a:t>flex-wrap, </a:t>
            </a:r>
            <a:r>
              <a:rPr lang="en-US" sz="4400" dirty="0">
                <a:latin typeface="+mn-lt"/>
                <a:cs typeface="+mn-cs"/>
              </a:rPr>
              <a:t>and how to combine them</a:t>
            </a:r>
          </a:p>
          <a:p>
            <a:pPr defTabSz="914400"/>
            <a:r>
              <a:rPr lang="en-US" sz="4400" dirty="0">
                <a:latin typeface="+mn-lt"/>
                <a:cs typeface="+mn-cs"/>
              </a:rPr>
              <a:t>Learn how to build flexible, responsive </a:t>
            </a:r>
            <a:r>
              <a:rPr lang="en-US" sz="4400" b="1" dirty="0">
                <a:latin typeface="+mn-lt"/>
                <a:cs typeface="+mn-cs"/>
              </a:rPr>
              <a:t>rows and columns</a:t>
            </a:r>
          </a:p>
          <a:p>
            <a:pPr defTabSz="914400"/>
            <a:r>
              <a:rPr lang="en-US" sz="4400" dirty="0">
                <a:latin typeface="+mn-lt"/>
                <a:cs typeface="+mn-cs"/>
              </a:rPr>
              <a:t>Use the </a:t>
            </a:r>
            <a:r>
              <a:rPr lang="en-US" sz="4400" b="1" dirty="0">
                <a:latin typeface="+mn-lt"/>
                <a:cs typeface="+mn-cs"/>
              </a:rPr>
              <a:t>calc() </a:t>
            </a:r>
            <a:r>
              <a:rPr lang="en-US" sz="4400" dirty="0">
                <a:latin typeface="+mn-lt"/>
                <a:cs typeface="+mn-cs"/>
              </a:rPr>
              <a:t>function for layout math in CSS</a:t>
            </a:r>
          </a:p>
          <a:p>
            <a:pPr defTabSz="914400"/>
            <a:r>
              <a:rPr lang="en-US" sz="4400" dirty="0">
                <a:latin typeface="+mn-lt"/>
                <a:cs typeface="+mn-cs"/>
              </a:rPr>
              <a:t>Practice adapting layouts for different screen sizes using Flexbox</a:t>
            </a:r>
          </a:p>
        </p:txBody>
      </p:sp>
      <p:pic>
        <p:nvPicPr>
          <p:cNvPr id="7" name="Graphic 6" descr="File HTML">
            <a:extLst>
              <a:ext uri="{FF2B5EF4-FFF2-40B4-BE49-F238E27FC236}">
                <a16:creationId xmlns:a16="http://schemas.microsoft.com/office/drawing/2014/main" id="{2EA2697C-E1FA-F8D9-E0D5-3CF390BA9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26733" y="1279040"/>
            <a:ext cx="11155680" cy="1115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40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BB8C9-2FF7-FCED-2C37-CEF28C88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FB1355-DA71-BCAD-EB00-DDB3478E03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Flexbox Continued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280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CA5E9-D521-33B3-BD04-97A4E8DE5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3D40A-52DD-46CB-5E8A-A31E3901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5913101" cy="2651126"/>
          </a:xfrm>
        </p:spPr>
        <p:txBody>
          <a:bodyPr anchor="ctr">
            <a:normAutofit/>
          </a:bodyPr>
          <a:lstStyle/>
          <a:p>
            <a:r>
              <a:rPr lang="en-CA" dirty="0"/>
              <a:t>flex-direction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D3C86-77A8-239B-65F0-2CE1B93DD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4304133"/>
            <a:ext cx="9046029" cy="98364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property controls the direction of the main axis:</a:t>
            </a:r>
          </a:p>
          <a:p>
            <a:r>
              <a:rPr lang="en-US" b="1" dirty="0"/>
              <a:t>row (default): </a:t>
            </a:r>
            <a:r>
              <a:rPr lang="en-US" dirty="0"/>
              <a:t>left to right</a:t>
            </a:r>
          </a:p>
          <a:p>
            <a:r>
              <a:rPr lang="en-US" b="1" dirty="0"/>
              <a:t>row-reverse: </a:t>
            </a:r>
            <a:r>
              <a:rPr lang="en-US" dirty="0"/>
              <a:t>right to left</a:t>
            </a:r>
          </a:p>
          <a:p>
            <a:r>
              <a:rPr lang="en-US" b="1" dirty="0"/>
              <a:t>column: </a:t>
            </a:r>
            <a:r>
              <a:rPr lang="en-US" dirty="0"/>
              <a:t>top to bottom</a:t>
            </a:r>
          </a:p>
          <a:p>
            <a:r>
              <a:rPr lang="en-US" b="1" dirty="0"/>
              <a:t>column-reverse: </a:t>
            </a:r>
            <a:r>
              <a:rPr lang="en-US" dirty="0"/>
              <a:t>bottom to top</a:t>
            </a: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A blue and red squares&#10;&#10;AI-generated content may be incorrect.">
            <a:extLst>
              <a:ext uri="{FF2B5EF4-FFF2-40B4-BE49-F238E27FC236}">
                <a16:creationId xmlns:a16="http://schemas.microsoft.com/office/drawing/2014/main" id="{018ED82C-E83F-0547-8970-3836D6C72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6229" y="3610270"/>
            <a:ext cx="12488314" cy="668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48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8D5EC-E189-9F89-D1E2-E33CD3F88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16533-A591-ED28-2833-0D6769BD1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5913101" cy="2651126"/>
          </a:xfrm>
        </p:spPr>
        <p:txBody>
          <a:bodyPr anchor="ctr">
            <a:normAutofit/>
          </a:bodyPr>
          <a:lstStyle/>
          <a:p>
            <a:r>
              <a:rPr lang="en-CA" dirty="0"/>
              <a:t>What is flex-wrap?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2BBA6-2A73-DB3F-04F2-792B07723F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4304133"/>
            <a:ext cx="11247343" cy="7060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By default, Flexbox tries to fit all items in one line — even if they don’t fit and end up squishing!</a:t>
            </a:r>
          </a:p>
          <a:p>
            <a:pPr marL="0" indent="0">
              <a:buNone/>
            </a:pPr>
            <a:r>
              <a:rPr lang="en-US" dirty="0"/>
              <a:t>The</a:t>
            </a:r>
            <a:r>
              <a:rPr lang="en-US" b="1" dirty="0"/>
              <a:t> flex-wrap </a:t>
            </a:r>
            <a:r>
              <a:rPr lang="en-US" dirty="0"/>
              <a:t>property tells the browser what to do when items overflow the container:</a:t>
            </a: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9135DE8-EC7C-4C32-52C5-090E83132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3700" y="4304133"/>
            <a:ext cx="10945487" cy="585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297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E9EF-D5FC-AC10-8BAF-4ACB9626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7231F-EB45-D099-A812-CF6DF3D4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5913101" cy="2651126"/>
          </a:xfrm>
        </p:spPr>
        <p:txBody>
          <a:bodyPr anchor="ctr">
            <a:normAutofit/>
          </a:bodyPr>
          <a:lstStyle/>
          <a:p>
            <a:r>
              <a:rPr lang="en-CA" dirty="0"/>
              <a:t>What is flex-wrap?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3BF50-7BC2-DCE1-4058-D522180EC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4304133"/>
            <a:ext cx="21567000" cy="70605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Values:</a:t>
            </a:r>
          </a:p>
          <a:p>
            <a:pPr marL="0" indent="0">
              <a:buNone/>
            </a:pPr>
            <a:r>
              <a:rPr lang="en-US" b="1" dirty="0" err="1"/>
              <a:t>nowrap</a:t>
            </a:r>
            <a:r>
              <a:rPr lang="en-US" b="1" dirty="0"/>
              <a:t> (default): </a:t>
            </a:r>
            <a:r>
              <a:rPr lang="en-US" dirty="0"/>
              <a:t>All items stay on one line.</a:t>
            </a:r>
          </a:p>
          <a:p>
            <a:pPr marL="0" indent="0">
              <a:buNone/>
            </a:pPr>
            <a:r>
              <a:rPr lang="en-US" b="1" dirty="0"/>
              <a:t>wrap: </a:t>
            </a:r>
            <a:r>
              <a:rPr lang="en-US" dirty="0"/>
              <a:t>Items wrap onto multiple lines if needed.</a:t>
            </a:r>
          </a:p>
          <a:p>
            <a:pPr marL="0" indent="0">
              <a:buNone/>
            </a:pPr>
            <a:r>
              <a:rPr lang="en-US" b="1" dirty="0"/>
              <a:t>wrap-reverse: </a:t>
            </a:r>
            <a:r>
              <a:rPr lang="en-US" dirty="0"/>
              <a:t>Like wrap, but items wrap in the opposite direction.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✅ Use wrap when you want your flex items to behave responsively — especially useful on smaller screens.</a:t>
            </a: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8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5C3A6-0003-E34C-9C49-FECFEBCC5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CA7CC-6D82-C754-993A-5D0F3FBA8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5913101" cy="2651126"/>
          </a:xfrm>
        </p:spPr>
        <p:txBody>
          <a:bodyPr anchor="ctr">
            <a:normAutofit/>
          </a:bodyPr>
          <a:lstStyle/>
          <a:p>
            <a:r>
              <a:rPr lang="en-CA" dirty="0"/>
              <a:t>What is gap?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A013F-3764-CEC5-B177-B26036D28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4304133"/>
            <a:ext cx="11182029" cy="7060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 gap </a:t>
            </a:r>
            <a:r>
              <a:rPr lang="en-US" dirty="0"/>
              <a:t>property adds even spacing between items inside a flex container.</a:t>
            </a:r>
          </a:p>
          <a:p>
            <a:pPr marL="0" indent="0">
              <a:buNone/>
            </a:pPr>
            <a:r>
              <a:rPr lang="en-US" dirty="0"/>
              <a:t>This creates equal space between all items, both horizontally and vertically (if wrapped).</a:t>
            </a:r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0BE5F4C-3B10-0808-9598-2C3CEF2F7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363" y="4304133"/>
            <a:ext cx="9954822" cy="506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4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9EDF5-03F3-719B-E485-71571C3E0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6E558-6E03-9B9D-34A6-BE1F0FEB1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21567000" cy="2651126"/>
          </a:xfrm>
        </p:spPr>
        <p:txBody>
          <a:bodyPr anchor="ctr">
            <a:normAutofit/>
          </a:bodyPr>
          <a:lstStyle/>
          <a:p>
            <a:r>
              <a:rPr lang="en-US" dirty="0"/>
              <a:t>What about column-gap and row-gap?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709AC-119B-4E22-7BFC-705E6D719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4304133"/>
            <a:ext cx="21567000" cy="7060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You can also control gaps individually:</a:t>
            </a: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0DE6850-8ECF-1FEB-626D-B1A61316E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200" y="6189690"/>
            <a:ext cx="18038640" cy="456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09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301B8-410F-CF4D-A6D3-402D29361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64FE4-A601-F409-0B12-BB25030BE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21567000" cy="2651126"/>
          </a:xfrm>
        </p:spPr>
        <p:txBody>
          <a:bodyPr anchor="ctr">
            <a:normAutofit/>
          </a:bodyPr>
          <a:lstStyle/>
          <a:p>
            <a:r>
              <a:rPr lang="en-US" dirty="0"/>
              <a:t>What about column-gap and row-gap?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C4BBB-83AD-16E1-C2A9-8F96A34D8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4304133"/>
            <a:ext cx="21567000" cy="7060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Or use shorthand. </a:t>
            </a:r>
          </a:p>
          <a:p>
            <a:pPr marL="0" indent="0">
              <a:buNone/>
            </a:pPr>
            <a:r>
              <a:rPr lang="en-US" b="1" dirty="0"/>
              <a:t>This gives you more control over layout spacing — no need for margin hacks.</a:t>
            </a: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close-up of a word&#10;&#10;AI-generated content may be incorrect.">
            <a:extLst>
              <a:ext uri="{FF2B5EF4-FFF2-40B4-BE49-F238E27FC236}">
                <a16:creationId xmlns:a16="http://schemas.microsoft.com/office/drawing/2014/main" id="{6B5000F3-AE53-078A-AA00-091C10E80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822" y="7834409"/>
            <a:ext cx="21105391" cy="303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627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EE567-54B6-66F8-9227-61456B819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4978E-EE3C-344E-DB57-D1959F98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1653007"/>
            <a:ext cx="15913101" cy="2651126"/>
          </a:xfrm>
        </p:spPr>
        <p:txBody>
          <a:bodyPr anchor="ctr">
            <a:normAutofit/>
          </a:bodyPr>
          <a:lstStyle/>
          <a:p>
            <a:r>
              <a:rPr lang="en-US" dirty="0"/>
              <a:t>What is the calc() function?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8A78D-FCAA-A40A-B604-D3308B8FF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4304133"/>
            <a:ext cx="21567000" cy="7060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 calc()</a:t>
            </a:r>
            <a:r>
              <a:rPr lang="en-US" dirty="0"/>
              <a:t> function in CSS lets you perform math right inside your styles. This is useful when you want to create layouts that are both flexible and consistent.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number with numbers and symbols&#10;&#10;AI-generated content may be incorrect.">
            <a:extLst>
              <a:ext uri="{FF2B5EF4-FFF2-40B4-BE49-F238E27FC236}">
                <a16:creationId xmlns:a16="http://schemas.microsoft.com/office/drawing/2014/main" id="{A909CEA7-F578-5D23-36A4-A7BF35264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200" y="8164286"/>
            <a:ext cx="15392241" cy="415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36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1AB3A-4B3E-CB3A-02E7-12F841AA0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99B37-BA0A-72DF-1D67-23588A5CC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00" y="327444"/>
            <a:ext cx="15913101" cy="2651126"/>
          </a:xfrm>
        </p:spPr>
        <p:txBody>
          <a:bodyPr anchor="ctr">
            <a:normAutofit/>
          </a:bodyPr>
          <a:lstStyle/>
          <a:p>
            <a:r>
              <a:rPr lang="en-US" dirty="0"/>
              <a:t>What is the calc() function?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63D00-C785-BF30-EC82-EEA9278D1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0200" y="2978570"/>
            <a:ext cx="21567000" cy="98690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What’s going on here?</a:t>
            </a:r>
          </a:p>
          <a:p>
            <a:pPr marL="0" indent="0">
              <a:buNone/>
            </a:pPr>
            <a:r>
              <a:rPr lang="en-US" dirty="0"/>
              <a:t>You have a container that’s 100% wide.</a:t>
            </a:r>
          </a:p>
          <a:p>
            <a:pPr marL="0" indent="0">
              <a:buNone/>
            </a:pPr>
            <a:r>
              <a:rPr lang="en-US" dirty="0"/>
              <a:t>There are 4 cards per row.</a:t>
            </a:r>
          </a:p>
          <a:p>
            <a:pPr marL="0" indent="0">
              <a:buNone/>
            </a:pPr>
            <a:r>
              <a:rPr lang="en-US" dirty="0"/>
              <a:t>There are 3 gaps between the 4 cards, each 1rem wide (so total 3rem gap space).</a:t>
            </a:r>
          </a:p>
          <a:p>
            <a:pPr marL="0" indent="0">
              <a:buNone/>
            </a:pPr>
            <a:r>
              <a:rPr lang="en-US" dirty="0"/>
              <a:t>calc((100% - 3rem) / 4) means:</a:t>
            </a:r>
          </a:p>
          <a:p>
            <a:pPr marL="0" indent="0">
              <a:buNone/>
            </a:pPr>
            <a:r>
              <a:rPr lang="en-US" dirty="0"/>
              <a:t>➤ Subtract the space used by the gaps from the full width,</a:t>
            </a:r>
          </a:p>
          <a:p>
            <a:pPr marL="0" indent="0">
              <a:buNone/>
            </a:pPr>
            <a:r>
              <a:rPr lang="en-US" dirty="0"/>
              <a:t>➤ Then divide the remaining space equally among the 4 cards.</a:t>
            </a:r>
          </a:p>
          <a:p>
            <a:pPr marL="0" indent="0">
              <a:buNone/>
            </a:pPr>
            <a:r>
              <a:rPr lang="en-US" dirty="0"/>
              <a:t>This makes your layout fluid and responsive, without needing to hardcode pixel sizes.</a:t>
            </a: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717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4E8CF-2B97-E7EF-4F0F-961FC858E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5EF31-7E61-C6CD-BCBE-DAD8FFD92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6286" y="1246365"/>
            <a:ext cx="15913101" cy="2651126"/>
          </a:xfrm>
        </p:spPr>
        <p:txBody>
          <a:bodyPr anchor="ctr">
            <a:normAutofit/>
          </a:bodyPr>
          <a:lstStyle/>
          <a:p>
            <a:r>
              <a:rPr lang="en-US" dirty="0"/>
              <a:t>Making Images Responsive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25359-1B31-7B76-8357-803F1CD98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6286" y="4060777"/>
            <a:ext cx="11671886" cy="9869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make images </a:t>
            </a:r>
            <a:r>
              <a:rPr lang="en-US" b="1" dirty="0"/>
              <a:t>shrink and grow </a:t>
            </a:r>
            <a:r>
              <a:rPr lang="en-US" dirty="0"/>
              <a:t>with their container, use this combo:</a:t>
            </a:r>
          </a:p>
          <a:p>
            <a:r>
              <a:rPr lang="en-US" dirty="0"/>
              <a:t>This tells the image to fill the width of its parent (the .card)</a:t>
            </a:r>
          </a:p>
          <a:p>
            <a:r>
              <a:rPr lang="en-US" b="1" dirty="0"/>
              <a:t>The height: </a:t>
            </a:r>
            <a:r>
              <a:rPr lang="en-US" dirty="0"/>
              <a:t>auto keeps the image from stretching or squishing</a:t>
            </a: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computer code with text&#10;&#10;AI-generated content may be incorrect.">
            <a:extLst>
              <a:ext uri="{FF2B5EF4-FFF2-40B4-BE49-F238E27FC236}">
                <a16:creationId xmlns:a16="http://schemas.microsoft.com/office/drawing/2014/main" id="{9CD93E84-D5F7-B48E-A64A-C01AEDC39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7030" y="4060777"/>
            <a:ext cx="9420056" cy="559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41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A99E9-136F-E74A-93D1-E0A297F7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1526A-5DAF-565B-030D-192BF966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6286" y="1246365"/>
            <a:ext cx="15913101" cy="2651126"/>
          </a:xfrm>
        </p:spPr>
        <p:txBody>
          <a:bodyPr anchor="ctr">
            <a:normAutofit/>
          </a:bodyPr>
          <a:lstStyle/>
          <a:p>
            <a:r>
              <a:rPr lang="en-US" dirty="0"/>
              <a:t>Important Note: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4431B-9676-C75A-989D-B0BEB4972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6285" y="4060777"/>
            <a:ext cx="20685257" cy="9869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Don’t set image width and height in your HTML (like this):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 not?</a:t>
            </a:r>
          </a:p>
          <a:p>
            <a:r>
              <a:rPr lang="en-US" dirty="0"/>
              <a:t>Those numbers are in pixels and will override your CSS styles, preventing the image from resizing correctly.</a:t>
            </a:r>
          </a:p>
          <a:p>
            <a:r>
              <a:rPr lang="en-US" dirty="0"/>
              <a:t>Instead, leave the size out in HTML, and use only CSS to control the dimensions.</a:t>
            </a:r>
            <a:br>
              <a:rPr lang="en-US" dirty="0"/>
            </a:b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lack and white image of a mathematical equation&#10;&#10;AI-generated content may be incorrect.">
            <a:extLst>
              <a:ext uri="{FF2B5EF4-FFF2-40B4-BE49-F238E27FC236}">
                <a16:creationId xmlns:a16="http://schemas.microsoft.com/office/drawing/2014/main" id="{1FC00A97-B4BD-C05F-715D-8F4D9F9F8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030" y="5079794"/>
            <a:ext cx="16537799" cy="205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203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4A99-006E-700D-AC37-A1E234411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0A26-4B04-2E0B-6E1A-024CF7F81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742433"/>
            <a:ext cx="21370149" cy="7059168"/>
          </a:xfrm>
        </p:spPr>
        <p:txBody>
          <a:bodyPr/>
          <a:lstStyle/>
          <a:p>
            <a:r>
              <a:rPr lang="en-US" dirty="0"/>
              <a:t>Summary and Reflection</a:t>
            </a:r>
            <a:br>
              <a:rPr lang="en-US" dirty="0"/>
            </a:br>
            <a:br>
              <a:rPr lang="en-US" b="1" i="1" dirty="0"/>
            </a:br>
            <a:endParaRPr lang="LID4096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417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76870-CB0A-A8DC-A888-D432F47C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D47B-9900-B131-1545-D3FC5E70C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Reflection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F43A9-41E0-9697-0E37-E882460F8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1" y="3651250"/>
            <a:ext cx="21805501" cy="7373801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What is one key takeaway about advanced Flexbox properties?</a:t>
            </a:r>
          </a:p>
          <a:p>
            <a:pPr fontAlgn="base"/>
            <a:r>
              <a:rPr lang="en-US" dirty="0"/>
              <a:t>How will you use Flexbox in responsive design?</a:t>
            </a:r>
          </a:p>
        </p:txBody>
      </p:sp>
    </p:spTree>
    <p:extLst>
      <p:ext uri="{BB962C8B-B14F-4D97-AF65-F5344CB8AC3E}">
        <p14:creationId xmlns:p14="http://schemas.microsoft.com/office/powerpoint/2010/main" val="1643158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D7A60-E6E2-DAFB-1239-C238E026C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08EC0-53EF-C245-E5B1-8A3488CB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C9002-5BDD-5896-CBBA-4E31FEE40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2" y="3651250"/>
            <a:ext cx="21029830" cy="7373801"/>
          </a:xfrm>
        </p:spPr>
        <p:txBody>
          <a:bodyPr>
            <a:normAutofit/>
          </a:bodyPr>
          <a:lstStyle/>
          <a:p>
            <a:r>
              <a:rPr lang="en-US" b="1" dirty="0"/>
              <a:t>Coding Exercise: </a:t>
            </a:r>
            <a:r>
              <a:rPr lang="en-US" dirty="0"/>
              <a:t>Create a fully responsive layout using Flexbox.</a:t>
            </a:r>
          </a:p>
          <a:p>
            <a:r>
              <a:rPr lang="en-US" dirty="0"/>
              <a:t>Practice with </a:t>
            </a:r>
            <a:r>
              <a:rPr lang="en-US" b="1" dirty="0"/>
              <a:t>Flexbox Games</a:t>
            </a:r>
          </a:p>
        </p:txBody>
      </p:sp>
    </p:spTree>
    <p:extLst>
      <p:ext uri="{BB962C8B-B14F-4D97-AF65-F5344CB8AC3E}">
        <p14:creationId xmlns:p14="http://schemas.microsoft.com/office/powerpoint/2010/main" val="1035419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B085E912FEB648B2192060B32B0D81" ma:contentTypeVersion="13" ma:contentTypeDescription="Create a new document." ma:contentTypeScope="" ma:versionID="86d586ee750db57df4bf82dbbd148a8d">
  <xsd:schema xmlns:xsd="http://www.w3.org/2001/XMLSchema" xmlns:xs="http://www.w3.org/2001/XMLSchema" xmlns:p="http://schemas.microsoft.com/office/2006/metadata/properties" xmlns:ns2="c0636a0e-6a5d-4f3a-8cec-2ed9d7e96064" xmlns:ns3="28175f85-aaa6-450f-8e62-bb2d8657c111" targetNamespace="http://schemas.microsoft.com/office/2006/metadata/properties" ma:root="true" ma:fieldsID="b83bdf18099a32914c9c196890c95f2f" ns2:_="" ns3:_="">
    <xsd:import namespace="c0636a0e-6a5d-4f3a-8cec-2ed9d7e96064"/>
    <xsd:import namespace="28175f85-aaa6-450f-8e62-bb2d8657c1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Document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636a0e-6a5d-4f3a-8cec-2ed9d7e960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ce3a7a1-84a7-46f6-b9ea-52be05fcf1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ocumentType" ma:index="20" nillable="true" ma:displayName="Document Type" ma:format="Dropdown" ma:internalName="DocumentType">
      <xsd:simpleType>
        <xsd:union memberTypes="dms:Text">
          <xsd:simpleType>
            <xsd:restriction base="dms:Choice">
              <xsd:enumeration value="Source of truth"/>
              <xsd:enumeration value="Archive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175f85-aaa6-450f-8e62-bb2d8657c11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1229875-1db7-498c-8d13-35c205bc76f3}" ma:internalName="TaxCatchAll" ma:showField="CatchAllData" ma:web="28175f85-aaa6-450f-8e62-bb2d8657c1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175f85-aaa6-450f-8e62-bb2d8657c111" xsi:nil="true"/>
    <lcf76f155ced4ddcb4097134ff3c332f xmlns="c0636a0e-6a5d-4f3a-8cec-2ed9d7e96064">
      <Terms xmlns="http://schemas.microsoft.com/office/infopath/2007/PartnerControls"/>
    </lcf76f155ced4ddcb4097134ff3c332f>
    <DocumentType xmlns="c0636a0e-6a5d-4f3a-8cec-2ed9d7e9606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9C05CB-D0A8-4602-A191-AC271B2103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636a0e-6a5d-4f3a-8cec-2ed9d7e96064"/>
    <ds:schemaRef ds:uri="28175f85-aaa6-450f-8e62-bb2d8657c1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856E63F-A8C0-4586-AFCD-69964B5AAAEB}">
  <ds:schemaRefs>
    <ds:schemaRef ds:uri="http://purl.org/dc/elements/1.1/"/>
    <ds:schemaRef ds:uri="52bb52fc-fb4a-47ec-96af-1ca16eda3341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82b3bded-9174-49ad-922b-f495aa64e0c3"/>
    <ds:schemaRef ds:uri="a1931c98-6bbb-40b1-967f-8cf7447a3553"/>
    <ds:schemaRef ds:uri="http://schemas.microsoft.com/sharepoint/v3"/>
    <ds:schemaRef ds:uri="http://schemas.microsoft.com/office/2006/metadata/properties"/>
    <ds:schemaRef ds:uri="http://www.w3.org/XML/1998/namespace"/>
    <ds:schemaRef ds:uri="http://purl.org/dc/terms/"/>
    <ds:schemaRef ds:uri="28175f85-aaa6-450f-8e62-bb2d8657c111"/>
    <ds:schemaRef ds:uri="c0636a0e-6a5d-4f3a-8cec-2ed9d7e96064"/>
  </ds:schemaRefs>
</ds:datastoreItem>
</file>

<file path=customXml/itemProps3.xml><?xml version="1.0" encoding="utf-8"?>
<ds:datastoreItem xmlns:ds="http://schemas.openxmlformats.org/officeDocument/2006/customXml" ds:itemID="{177E4845-7472-4B0C-A0C7-BE9A32CE6D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Digital_Design-PPT_TEMPLATE_2025</Template>
  <TotalTime>4990</TotalTime>
  <Words>572</Words>
  <Application>Microsoft Office PowerPoint</Application>
  <PresentationFormat>Custom</PresentationFormat>
  <Paragraphs>77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SDEV1701</vt:lpstr>
      <vt:lpstr>Today’s focus</vt:lpstr>
      <vt:lpstr>PowerPoint Presentation</vt:lpstr>
      <vt:lpstr>flex-direction</vt:lpstr>
      <vt:lpstr>What is flex-wrap?</vt:lpstr>
      <vt:lpstr>What is flex-wrap?</vt:lpstr>
      <vt:lpstr>What is gap?</vt:lpstr>
      <vt:lpstr>What about column-gap and row-gap?</vt:lpstr>
      <vt:lpstr>What about column-gap and row-gap?</vt:lpstr>
      <vt:lpstr>What is the calc() function?</vt:lpstr>
      <vt:lpstr>What is the calc() function?</vt:lpstr>
      <vt:lpstr>Making Images Responsive</vt:lpstr>
      <vt:lpstr>Important Note:</vt:lpstr>
      <vt:lpstr>Summary and Reflection  </vt:lpstr>
      <vt:lpstr>Reflection Prompt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Dorian Bibbey</dc:creator>
  <cp:lastModifiedBy>Larisa Pitchko</cp:lastModifiedBy>
  <cp:revision>39</cp:revision>
  <cp:lastPrinted>2019-08-01T00:13:24Z</cp:lastPrinted>
  <dcterms:created xsi:type="dcterms:W3CDTF">2025-01-22T14:53:54Z</dcterms:created>
  <dcterms:modified xsi:type="dcterms:W3CDTF">2025-06-30T19:51:55Z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 - Department">
    <vt:lpwstr>197;#Brand|943f07b5-0abf-4eba-9a92-bb911ec4797c</vt:lpwstr>
  </property>
  <property fmtid="{D5CDD505-2E9C-101B-9397-08002B2CF9AE}" pid="3" name="Topic">
    <vt:lpwstr/>
  </property>
  <property fmtid="{D5CDD505-2E9C-101B-9397-08002B2CF9AE}" pid="4" name="Building">
    <vt:lpwstr/>
  </property>
  <property fmtid="{D5CDD505-2E9C-101B-9397-08002B2CF9AE}" pid="5" name="ContentTypeId">
    <vt:lpwstr>0x0101007BB085E912FEB648B2192060B32B0D81</vt:lpwstr>
  </property>
  <property fmtid="{D5CDD505-2E9C-101B-9397-08002B2CF9AE}" pid="6" name="Target Audience">
    <vt:lpwstr/>
  </property>
  <property fmtid="{D5CDD505-2E9C-101B-9397-08002B2CF9AE}" pid="7" name="_dlc_DocIdItemGuid">
    <vt:lpwstr>a4d56298-c866-45f0-a3db-be918181ebef</vt:lpwstr>
  </property>
  <property fmtid="{D5CDD505-2E9C-101B-9397-08002B2CF9AE}" pid="8" name="PublishedDocument.Location">
    <vt:lpwstr/>
  </property>
  <property fmtid="{D5CDD505-2E9C-101B-9397-08002B2CF9AE}" pid="9" name="Program">
    <vt:lpwstr/>
  </property>
  <property fmtid="{D5CDD505-2E9C-101B-9397-08002B2CF9AE}" pid="10" name="MSIP_Label_10877899-02b0-462c-b2a9-b7d15c4f96fe_Enabled">
    <vt:lpwstr>true</vt:lpwstr>
  </property>
  <property fmtid="{D5CDD505-2E9C-101B-9397-08002B2CF9AE}" pid="11" name="MSIP_Label_10877899-02b0-462c-b2a9-b7d15c4f96fe_SetDate">
    <vt:lpwstr>2025-04-25T04:03:37Z</vt:lpwstr>
  </property>
  <property fmtid="{D5CDD505-2E9C-101B-9397-08002B2CF9AE}" pid="12" name="MSIP_Label_10877899-02b0-462c-b2a9-b7d15c4f96fe_Method">
    <vt:lpwstr>Standard</vt:lpwstr>
  </property>
  <property fmtid="{D5CDD505-2E9C-101B-9397-08002B2CF9AE}" pid="13" name="MSIP_Label_10877899-02b0-462c-b2a9-b7d15c4f96fe_Name">
    <vt:lpwstr>Protected [Protected A]</vt:lpwstr>
  </property>
  <property fmtid="{D5CDD505-2E9C-101B-9397-08002B2CF9AE}" pid="14" name="MSIP_Label_10877899-02b0-462c-b2a9-b7d15c4f96fe_SiteId">
    <vt:lpwstr>5c98fb47-d3b9-4649-9d94-f88cbdd9729c</vt:lpwstr>
  </property>
  <property fmtid="{D5CDD505-2E9C-101B-9397-08002B2CF9AE}" pid="15" name="MSIP_Label_10877899-02b0-462c-b2a9-b7d15c4f96fe_ActionId">
    <vt:lpwstr>a9b82927-b51c-4c6d-b3ff-061f8f651531</vt:lpwstr>
  </property>
  <property fmtid="{D5CDD505-2E9C-101B-9397-08002B2CF9AE}" pid="16" name="MSIP_Label_10877899-02b0-462c-b2a9-b7d15c4f96fe_ContentBits">
    <vt:lpwstr>0</vt:lpwstr>
  </property>
  <property fmtid="{D5CDD505-2E9C-101B-9397-08002B2CF9AE}" pid="17" name="MSIP_Label_10877899-02b0-462c-b2a9-b7d15c4f96fe_Tag">
    <vt:lpwstr>10, 3, 0, 1</vt:lpwstr>
  </property>
  <property fmtid="{D5CDD505-2E9C-101B-9397-08002B2CF9AE}" pid="18" name="MediaServiceImageTags">
    <vt:lpwstr/>
  </property>
</Properties>
</file>